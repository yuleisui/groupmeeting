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62" r:id="rId2"/>
    <p:sldId id="320" r:id="rId3"/>
    <p:sldId id="261" r:id="rId4"/>
    <p:sldId id="263" r:id="rId5"/>
    <p:sldId id="264" r:id="rId6"/>
    <p:sldId id="265" r:id="rId7"/>
    <p:sldId id="267" r:id="rId8"/>
    <p:sldId id="276" r:id="rId9"/>
    <p:sldId id="275" r:id="rId10"/>
    <p:sldId id="258" r:id="rId11"/>
    <p:sldId id="260" r:id="rId12"/>
    <p:sldId id="259" r:id="rId13"/>
    <p:sldId id="273" r:id="rId14"/>
    <p:sldId id="274" r:id="rId15"/>
    <p:sldId id="319" r:id="rId16"/>
    <p:sldId id="268" r:id="rId17"/>
    <p:sldId id="269" r:id="rId18"/>
    <p:sldId id="270" r:id="rId19"/>
    <p:sldId id="271" r:id="rId20"/>
    <p:sldId id="318" r:id="rId21"/>
    <p:sldId id="277" r:id="rId22"/>
    <p:sldId id="278" r:id="rId23"/>
    <p:sldId id="279" r:id="rId24"/>
    <p:sldId id="286" r:id="rId25"/>
    <p:sldId id="281" r:id="rId26"/>
    <p:sldId id="283" r:id="rId27"/>
    <p:sldId id="285" r:id="rId28"/>
    <p:sldId id="284" r:id="rId29"/>
    <p:sldId id="280" r:id="rId30"/>
    <p:sldId id="282" r:id="rId31"/>
    <p:sldId id="289" r:id="rId32"/>
    <p:sldId id="296" r:id="rId33"/>
    <p:sldId id="287" r:id="rId34"/>
    <p:sldId id="288" r:id="rId35"/>
    <p:sldId id="290" r:id="rId36"/>
    <p:sldId id="291" r:id="rId37"/>
    <p:sldId id="292" r:id="rId38"/>
    <p:sldId id="293" r:id="rId39"/>
    <p:sldId id="294" r:id="rId40"/>
    <p:sldId id="297" r:id="rId41"/>
    <p:sldId id="295" r:id="rId42"/>
    <p:sldId id="298" r:id="rId43"/>
    <p:sldId id="299" r:id="rId44"/>
    <p:sldId id="301" r:id="rId45"/>
    <p:sldId id="300" r:id="rId46"/>
    <p:sldId id="302" r:id="rId47"/>
    <p:sldId id="304" r:id="rId48"/>
    <p:sldId id="303" r:id="rId49"/>
    <p:sldId id="309" r:id="rId50"/>
    <p:sldId id="310" r:id="rId51"/>
    <p:sldId id="307" r:id="rId52"/>
    <p:sldId id="308" r:id="rId53"/>
    <p:sldId id="311" r:id="rId54"/>
    <p:sldId id="313" r:id="rId55"/>
    <p:sldId id="314" r:id="rId56"/>
    <p:sldId id="315" r:id="rId57"/>
    <p:sldId id="316" r:id="rId58"/>
    <p:sldId id="323" r:id="rId59"/>
    <p:sldId id="321" r:id="rId60"/>
    <p:sldId id="322" r:id="rId61"/>
    <p:sldId id="256" r:id="rId62"/>
    <p:sldId id="257" r:id="rId63"/>
    <p:sldId id="306" r:id="rId6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1" clrIdx="0">
    <p:extLst>
      <p:ext uri="{19B8F6BF-5375-455C-9EA6-DF929625EA0E}">
        <p15:presenceInfo xmlns:p15="http://schemas.microsoft.com/office/powerpoint/2012/main" userId="Windows 用户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CC0066"/>
    <a:srgbClr val="3333FF"/>
    <a:srgbClr val="FF9900"/>
    <a:srgbClr val="CC9900"/>
    <a:srgbClr val="FF3300"/>
    <a:srgbClr val="00CC00"/>
    <a:srgbClr val="CC0000"/>
    <a:srgbClr val="FF66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81" autoAdjust="0"/>
    <p:restoredTop sz="94660"/>
  </p:normalViewPr>
  <p:slideViewPr>
    <p:cSldViewPr snapToGrid="0">
      <p:cViewPr varScale="1">
        <p:scale>
          <a:sx n="55" d="100"/>
          <a:sy n="55" d="100"/>
        </p:scale>
        <p:origin x="6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Disguisable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Virus</c:v>
                </c:pt>
                <c:pt idx="1">
                  <c:v>Ransomeware</c:v>
                </c:pt>
                <c:pt idx="2">
                  <c:v>Botnet</c:v>
                </c:pt>
                <c:pt idx="3">
                  <c:v>Trojan</c:v>
                </c:pt>
                <c:pt idx="4">
                  <c:v>Rootkit</c:v>
                </c:pt>
                <c:pt idx="5">
                  <c:v>Backdoor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Spreading speed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Virus</c:v>
                </c:pt>
                <c:pt idx="1">
                  <c:v>Ransomeware</c:v>
                </c:pt>
                <c:pt idx="2">
                  <c:v>Botnet</c:v>
                </c:pt>
                <c:pt idx="3">
                  <c:v>Trojan</c:v>
                </c:pt>
                <c:pt idx="4">
                  <c:v>Rootkit</c:v>
                </c:pt>
                <c:pt idx="5">
                  <c:v>Backdoor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1</c:v>
                </c:pt>
                <c:pt idx="2">
                  <c:v>3</c:v>
                </c:pt>
                <c:pt idx="3">
                  <c:v>1</c:v>
                </c:pt>
                <c:pt idx="4">
                  <c:v>2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Complexity</c:v>
                </c:pt>
              </c:strCache>
            </c:strRef>
          </c:tx>
          <c:spPr>
            <a:solidFill>
              <a:srgbClr val="0099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Virus</c:v>
                </c:pt>
                <c:pt idx="1">
                  <c:v>Ransomeware</c:v>
                </c:pt>
                <c:pt idx="2">
                  <c:v>Botnet</c:v>
                </c:pt>
                <c:pt idx="3">
                  <c:v>Trojan</c:v>
                </c:pt>
                <c:pt idx="4">
                  <c:v>Rootkit</c:v>
                </c:pt>
                <c:pt idx="5">
                  <c:v>Backdoor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Damage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Virus</c:v>
                </c:pt>
                <c:pt idx="1">
                  <c:v>Ransomeware</c:v>
                </c:pt>
                <c:pt idx="2">
                  <c:v>Botnet</c:v>
                </c:pt>
                <c:pt idx="3">
                  <c:v>Trojan</c:v>
                </c:pt>
                <c:pt idx="4">
                  <c:v>Rootkit</c:v>
                </c:pt>
                <c:pt idx="5">
                  <c:v>Backdoor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707405888"/>
        <c:axId val="1707417312"/>
      </c:barChart>
      <c:catAx>
        <c:axId val="1707405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0"/>
          <a:lstStyle/>
          <a:p>
            <a:pPr>
              <a:defRPr sz="20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707417312"/>
        <c:crosses val="autoZero"/>
        <c:auto val="1"/>
        <c:lblAlgn val="ctr"/>
        <c:lblOffset val="30"/>
        <c:noMultiLvlLbl val="0"/>
      </c:catAx>
      <c:valAx>
        <c:axId val="1707417312"/>
        <c:scaling>
          <c:orientation val="minMax"/>
          <c:max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0740588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2800" b="1" dirty="0" smtClean="0"/>
              <a:t>Severity  levels  by  sums</a:t>
            </a:r>
            <a:endParaRPr lang="en-US" altLang="zh-CN" sz="2800" b="1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CC0000"/>
              </a:solidFill>
              <a:ln>
                <a:noFill/>
              </a:ln>
              <a:effectLst/>
              <a:sp3d/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  <a:sp3d/>
            </c:spPr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  <a:sp3d/>
            </c:spPr>
          </c:dPt>
          <c:dPt>
            <c:idx val="3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p3d/>
            </c:spPr>
          </c:dPt>
          <c:dPt>
            <c:idx val="4"/>
            <c:invertIfNegative val="0"/>
            <c:bubble3D val="0"/>
            <c:spPr>
              <a:solidFill>
                <a:srgbClr val="00CC00"/>
              </a:solidFill>
              <a:ln>
                <a:noFill/>
              </a:ln>
              <a:effectLst/>
              <a:sp3d/>
            </c:spPr>
          </c:dPt>
          <c:dPt>
            <c:idx val="5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  <a:sp3d/>
            </c:spPr>
          </c:dPt>
          <c:cat>
            <c:strRef>
              <c:f>Sheet1!$A$2:$A$7</c:f>
              <c:strCache>
                <c:ptCount val="6"/>
                <c:pt idx="0">
                  <c:v>Botnet</c:v>
                </c:pt>
                <c:pt idx="1">
                  <c:v>Ransomeware</c:v>
                </c:pt>
                <c:pt idx="2">
                  <c:v>Virus</c:v>
                </c:pt>
                <c:pt idx="3">
                  <c:v>Trojan</c:v>
                </c:pt>
                <c:pt idx="4">
                  <c:v>Rootkit</c:v>
                </c:pt>
                <c:pt idx="5">
                  <c:v>Backdoor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  <c:shape val="cylinder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31"/>
        <c:gapDepth val="0"/>
        <c:shape val="box"/>
        <c:axId val="1706025552"/>
        <c:axId val="1659432320"/>
        <c:axId val="0"/>
      </c:bar3DChart>
      <c:catAx>
        <c:axId val="1706025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pPr>
            <a:endParaRPr lang="zh-CN"/>
          </a:p>
        </c:txPr>
        <c:crossAx val="1659432320"/>
        <c:crosses val="autoZero"/>
        <c:auto val="1"/>
        <c:lblAlgn val="ctr"/>
        <c:lblOffset val="100"/>
        <c:noMultiLvlLbl val="0"/>
      </c:catAx>
      <c:valAx>
        <c:axId val="1659432320"/>
        <c:scaling>
          <c:orientation val="minMax"/>
          <c:min val="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706025552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180711-2892-42AA-82AF-BFB97AAC7D7B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31DA953-D153-45B5-83B9-DABB0153EAC6}">
      <dgm:prSet phldrT="[文本]" custT="1"/>
      <dgm:spPr/>
      <dgm:t>
        <a:bodyPr/>
        <a:lstStyle/>
        <a:p>
          <a:r>
            <a:rPr lang="en-US" altLang="zh-CN" sz="2000" dirty="0" smtClean="0"/>
            <a:t>File System</a:t>
          </a:r>
          <a:endParaRPr lang="zh-CN" altLang="en-US" sz="2000" dirty="0"/>
        </a:p>
      </dgm:t>
    </dgm:pt>
    <dgm:pt modelId="{7F214FD9-C9D8-4B5D-B1D4-FF3DE187C971}" type="parTrans" cxnId="{F1B120D4-F6D3-4E91-A16B-025257B9777A}">
      <dgm:prSet/>
      <dgm:spPr/>
      <dgm:t>
        <a:bodyPr/>
        <a:lstStyle/>
        <a:p>
          <a:endParaRPr lang="zh-CN" altLang="en-US" sz="2800"/>
        </a:p>
      </dgm:t>
    </dgm:pt>
    <dgm:pt modelId="{4C885B3D-0B0A-405F-8B0A-F66940FA2FBE}" type="sibTrans" cxnId="{F1B120D4-F6D3-4E91-A16B-025257B9777A}">
      <dgm:prSet/>
      <dgm:spPr/>
      <dgm:t>
        <a:bodyPr/>
        <a:lstStyle/>
        <a:p>
          <a:endParaRPr lang="zh-CN" altLang="en-US" sz="2800"/>
        </a:p>
      </dgm:t>
    </dgm:pt>
    <dgm:pt modelId="{29BF391E-7DAC-45E0-B08B-B2BB5ABF18BB}">
      <dgm:prSet phldrT="[文本]" custT="1"/>
      <dgm:spPr/>
      <dgm:t>
        <a:bodyPr/>
        <a:lstStyle/>
        <a:p>
          <a:r>
            <a:rPr lang="en-US" altLang="zh-CN" sz="2000" dirty="0" smtClean="0"/>
            <a:t>Personal Info.</a:t>
          </a:r>
          <a:endParaRPr lang="zh-CN" altLang="en-US" sz="2000" dirty="0"/>
        </a:p>
      </dgm:t>
    </dgm:pt>
    <dgm:pt modelId="{D082A3E0-434B-4222-8D30-5E9DF730C3C0}" type="parTrans" cxnId="{22825DEA-682B-42CF-9B7E-1D0F0F9D73F9}">
      <dgm:prSet/>
      <dgm:spPr/>
      <dgm:t>
        <a:bodyPr/>
        <a:lstStyle/>
        <a:p>
          <a:endParaRPr lang="zh-CN" altLang="en-US" sz="2800"/>
        </a:p>
      </dgm:t>
    </dgm:pt>
    <dgm:pt modelId="{A80791D7-E8A8-4AE7-9F83-461187B72FC4}" type="sibTrans" cxnId="{22825DEA-682B-42CF-9B7E-1D0F0F9D73F9}">
      <dgm:prSet/>
      <dgm:spPr/>
      <dgm:t>
        <a:bodyPr/>
        <a:lstStyle/>
        <a:p>
          <a:endParaRPr lang="zh-CN" altLang="en-US" sz="2800"/>
        </a:p>
      </dgm:t>
    </dgm:pt>
    <dgm:pt modelId="{5F356963-AD09-4A70-A985-CC5050B735FA}">
      <dgm:prSet phldrT="[文本]" custT="1"/>
      <dgm:spPr/>
      <dgm:t>
        <a:bodyPr/>
        <a:lstStyle/>
        <a:p>
          <a:r>
            <a:rPr lang="en-US" altLang="zh-CN" sz="2000" dirty="0" smtClean="0"/>
            <a:t>External App.</a:t>
          </a:r>
          <a:endParaRPr lang="zh-CN" altLang="en-US" sz="2000" dirty="0"/>
        </a:p>
      </dgm:t>
    </dgm:pt>
    <dgm:pt modelId="{124C612A-ED91-4FB4-B1BC-74A16A704F0E}" type="parTrans" cxnId="{AD221E8F-3B62-443C-AB66-1E061533B0FE}">
      <dgm:prSet/>
      <dgm:spPr/>
      <dgm:t>
        <a:bodyPr/>
        <a:lstStyle/>
        <a:p>
          <a:endParaRPr lang="zh-CN" altLang="en-US" sz="2800"/>
        </a:p>
      </dgm:t>
    </dgm:pt>
    <dgm:pt modelId="{61A11F0B-2771-4BBB-9B9A-A9E0332382CC}" type="sibTrans" cxnId="{AD221E8F-3B62-443C-AB66-1E061533B0FE}">
      <dgm:prSet/>
      <dgm:spPr/>
      <dgm:t>
        <a:bodyPr/>
        <a:lstStyle/>
        <a:p>
          <a:endParaRPr lang="zh-CN" altLang="en-US" sz="2800"/>
        </a:p>
      </dgm:t>
    </dgm:pt>
    <dgm:pt modelId="{87A03FA4-5486-44A1-AC25-556A8B1F78BA}">
      <dgm:prSet phldrT="[文本]" custT="1"/>
      <dgm:spPr/>
      <dgm:t>
        <a:bodyPr/>
        <a:lstStyle/>
        <a:p>
          <a:r>
            <a:rPr lang="en-US" altLang="zh-CN" sz="2000" dirty="0" smtClean="0"/>
            <a:t>Call</a:t>
          </a:r>
          <a:endParaRPr lang="zh-CN" altLang="en-US" sz="2000" dirty="0"/>
        </a:p>
      </dgm:t>
    </dgm:pt>
    <dgm:pt modelId="{FE3170C6-26C8-4959-AF1F-4780B1BDF735}" type="sibTrans" cxnId="{B98F7170-BB89-40FC-A8EE-010677BD4C18}">
      <dgm:prSet/>
      <dgm:spPr/>
      <dgm:t>
        <a:bodyPr/>
        <a:lstStyle/>
        <a:p>
          <a:endParaRPr lang="zh-CN" altLang="en-US" sz="2800"/>
        </a:p>
      </dgm:t>
    </dgm:pt>
    <dgm:pt modelId="{76DAF3DB-8F72-4202-9E6D-E5B869ADF2FF}" type="parTrans" cxnId="{B98F7170-BB89-40FC-A8EE-010677BD4C18}">
      <dgm:prSet/>
      <dgm:spPr/>
      <dgm:t>
        <a:bodyPr/>
        <a:lstStyle/>
        <a:p>
          <a:endParaRPr lang="zh-CN" altLang="en-US" sz="2800"/>
        </a:p>
      </dgm:t>
    </dgm:pt>
    <dgm:pt modelId="{F8565193-3BB3-49F5-8A76-F0B684892F49}">
      <dgm:prSet phldrT="[文本]" custT="1"/>
      <dgm:spPr/>
      <dgm:t>
        <a:bodyPr/>
        <a:lstStyle/>
        <a:p>
          <a:r>
            <a:rPr lang="en-US" altLang="zh-CN" sz="2000" dirty="0" smtClean="0"/>
            <a:t>SMS</a:t>
          </a:r>
          <a:endParaRPr lang="zh-CN" altLang="en-US" sz="2000" dirty="0"/>
        </a:p>
      </dgm:t>
    </dgm:pt>
    <dgm:pt modelId="{DA7E9803-B9B2-4298-8B48-5903C20004B4}" type="sibTrans" cxnId="{46D8E3E4-7F60-4754-8463-E48E4AA95692}">
      <dgm:prSet/>
      <dgm:spPr/>
      <dgm:t>
        <a:bodyPr/>
        <a:lstStyle/>
        <a:p>
          <a:endParaRPr lang="zh-CN" altLang="en-US" sz="2800"/>
        </a:p>
      </dgm:t>
    </dgm:pt>
    <dgm:pt modelId="{3D33A751-5AE2-4EAF-B338-04B818525C95}" type="parTrans" cxnId="{46D8E3E4-7F60-4754-8463-E48E4AA95692}">
      <dgm:prSet/>
      <dgm:spPr/>
      <dgm:t>
        <a:bodyPr/>
        <a:lstStyle/>
        <a:p>
          <a:endParaRPr lang="zh-CN" altLang="en-US" sz="2800"/>
        </a:p>
      </dgm:t>
    </dgm:pt>
    <dgm:pt modelId="{274A7E67-79A5-4E38-BA41-52A4B27F65E4}">
      <dgm:prSet phldrT="[文本]" custT="1"/>
      <dgm:spPr/>
      <dgm:t>
        <a:bodyPr/>
        <a:lstStyle/>
        <a:p>
          <a:r>
            <a:rPr lang="en-US" altLang="zh-CN" sz="2000" dirty="0" smtClean="0"/>
            <a:t>Network</a:t>
          </a:r>
          <a:endParaRPr lang="zh-CN" altLang="en-US" sz="2000" dirty="0"/>
        </a:p>
      </dgm:t>
    </dgm:pt>
    <dgm:pt modelId="{DE47C764-EAD8-4473-B129-C62D3C8B7F42}" type="sibTrans" cxnId="{09831316-4B24-437C-B782-7045DAF51B70}">
      <dgm:prSet/>
      <dgm:spPr/>
      <dgm:t>
        <a:bodyPr/>
        <a:lstStyle/>
        <a:p>
          <a:endParaRPr lang="zh-CN" altLang="en-US" sz="2800"/>
        </a:p>
      </dgm:t>
    </dgm:pt>
    <dgm:pt modelId="{B4A6EDF9-751E-4F3A-8725-642A3B466F73}" type="parTrans" cxnId="{09831316-4B24-437C-B782-7045DAF51B70}">
      <dgm:prSet/>
      <dgm:spPr/>
      <dgm:t>
        <a:bodyPr/>
        <a:lstStyle/>
        <a:p>
          <a:endParaRPr lang="zh-CN" altLang="en-US" sz="2800"/>
        </a:p>
      </dgm:t>
    </dgm:pt>
    <dgm:pt modelId="{12C6D870-4F36-4F74-927C-8E1AC21C6AE3}" type="pres">
      <dgm:prSet presAssocID="{19180711-2892-42AA-82AF-BFB97AAC7D7B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3589D588-B2EC-49D9-B867-E2B7DC059D32}" type="pres">
      <dgm:prSet presAssocID="{331DA953-D153-45B5-83B9-DABB0153EAC6}" presName="node" presStyleLbl="node1" presStyleIdx="0" presStyleCnt="6" custScaleX="121096" custScaleY="12109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6131E7-2D18-482E-9A73-3E0DF7786957}" type="pres">
      <dgm:prSet presAssocID="{331DA953-D153-45B5-83B9-DABB0153EAC6}" presName="spNode" presStyleCnt="0"/>
      <dgm:spPr/>
    </dgm:pt>
    <dgm:pt modelId="{EFA4DDBC-BB34-475D-B18D-13F381395D31}" type="pres">
      <dgm:prSet presAssocID="{4C885B3D-0B0A-405F-8B0A-F66940FA2FBE}" presName="sibTrans" presStyleLbl="sibTrans1D1" presStyleIdx="0" presStyleCnt="6"/>
      <dgm:spPr/>
      <dgm:t>
        <a:bodyPr/>
        <a:lstStyle/>
        <a:p>
          <a:endParaRPr lang="zh-CN" altLang="en-US"/>
        </a:p>
      </dgm:t>
    </dgm:pt>
    <dgm:pt modelId="{2165F34F-D780-4104-A4A7-F7825C1D1414}" type="pres">
      <dgm:prSet presAssocID="{274A7E67-79A5-4E38-BA41-52A4B27F65E4}" presName="node" presStyleLbl="node1" presStyleIdx="1" presStyleCnt="6" custScaleX="121096" custScaleY="12109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86E416B-C917-42C9-966F-1D5A1F30D403}" type="pres">
      <dgm:prSet presAssocID="{274A7E67-79A5-4E38-BA41-52A4B27F65E4}" presName="spNode" presStyleCnt="0"/>
      <dgm:spPr/>
    </dgm:pt>
    <dgm:pt modelId="{E0F3E62E-BBA5-429E-A532-06BFBD0B473B}" type="pres">
      <dgm:prSet presAssocID="{DE47C764-EAD8-4473-B129-C62D3C8B7F42}" presName="sibTrans" presStyleLbl="sibTrans1D1" presStyleIdx="1" presStyleCnt="6"/>
      <dgm:spPr/>
      <dgm:t>
        <a:bodyPr/>
        <a:lstStyle/>
        <a:p>
          <a:endParaRPr lang="zh-CN" altLang="en-US"/>
        </a:p>
      </dgm:t>
    </dgm:pt>
    <dgm:pt modelId="{81DBC6CC-D221-4D7D-9BC3-220EB5330031}" type="pres">
      <dgm:prSet presAssocID="{F8565193-3BB3-49F5-8A76-F0B684892F49}" presName="node" presStyleLbl="node1" presStyleIdx="2" presStyleCnt="6" custScaleX="121096" custScaleY="12109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B9C5034-62D5-48E5-BFAF-D7A395A8FC7B}" type="pres">
      <dgm:prSet presAssocID="{F8565193-3BB3-49F5-8A76-F0B684892F49}" presName="spNode" presStyleCnt="0"/>
      <dgm:spPr/>
    </dgm:pt>
    <dgm:pt modelId="{370EC70E-E225-4D47-A405-4AFD382A75E1}" type="pres">
      <dgm:prSet presAssocID="{DA7E9803-B9B2-4298-8B48-5903C20004B4}" presName="sibTrans" presStyleLbl="sibTrans1D1" presStyleIdx="2" presStyleCnt="6"/>
      <dgm:spPr/>
      <dgm:t>
        <a:bodyPr/>
        <a:lstStyle/>
        <a:p>
          <a:endParaRPr lang="zh-CN" altLang="en-US"/>
        </a:p>
      </dgm:t>
    </dgm:pt>
    <dgm:pt modelId="{3B2A40EE-3E96-4C65-AFFA-5255AA94CC7E}" type="pres">
      <dgm:prSet presAssocID="{87A03FA4-5486-44A1-AC25-556A8B1F78BA}" presName="node" presStyleLbl="node1" presStyleIdx="3" presStyleCnt="6" custScaleX="121096" custScaleY="12109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BCB4581-CA35-4860-8354-85A7054E66E8}" type="pres">
      <dgm:prSet presAssocID="{87A03FA4-5486-44A1-AC25-556A8B1F78BA}" presName="spNode" presStyleCnt="0"/>
      <dgm:spPr/>
    </dgm:pt>
    <dgm:pt modelId="{5727DF31-A00D-4233-A966-6152D14D368C}" type="pres">
      <dgm:prSet presAssocID="{FE3170C6-26C8-4959-AF1F-4780B1BDF735}" presName="sibTrans" presStyleLbl="sibTrans1D1" presStyleIdx="3" presStyleCnt="6"/>
      <dgm:spPr/>
      <dgm:t>
        <a:bodyPr/>
        <a:lstStyle/>
        <a:p>
          <a:endParaRPr lang="zh-CN" altLang="en-US"/>
        </a:p>
      </dgm:t>
    </dgm:pt>
    <dgm:pt modelId="{4050C43D-764A-4C9F-B742-4C6EE14951DA}" type="pres">
      <dgm:prSet presAssocID="{29BF391E-7DAC-45E0-B08B-B2BB5ABF18BB}" presName="node" presStyleLbl="node1" presStyleIdx="4" presStyleCnt="6" custScaleX="121096" custScaleY="12109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2C3C7E8-EDB4-403D-8C62-EFA0767D8FE8}" type="pres">
      <dgm:prSet presAssocID="{29BF391E-7DAC-45E0-B08B-B2BB5ABF18BB}" presName="spNode" presStyleCnt="0"/>
      <dgm:spPr/>
    </dgm:pt>
    <dgm:pt modelId="{1497BB48-3199-4CA8-9F62-078FB5309D95}" type="pres">
      <dgm:prSet presAssocID="{A80791D7-E8A8-4AE7-9F83-461187B72FC4}" presName="sibTrans" presStyleLbl="sibTrans1D1" presStyleIdx="4" presStyleCnt="6"/>
      <dgm:spPr/>
      <dgm:t>
        <a:bodyPr/>
        <a:lstStyle/>
        <a:p>
          <a:endParaRPr lang="zh-CN" altLang="en-US"/>
        </a:p>
      </dgm:t>
    </dgm:pt>
    <dgm:pt modelId="{EFB660E6-9383-4CE9-945F-41556E55CEFF}" type="pres">
      <dgm:prSet presAssocID="{5F356963-AD09-4A70-A985-CC5050B735FA}" presName="node" presStyleLbl="node1" presStyleIdx="5" presStyleCnt="6" custScaleX="121096" custScaleY="12109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7FDF736-B772-4A33-AC7B-B5CF55973342}" type="pres">
      <dgm:prSet presAssocID="{5F356963-AD09-4A70-A985-CC5050B735FA}" presName="spNode" presStyleCnt="0"/>
      <dgm:spPr/>
    </dgm:pt>
    <dgm:pt modelId="{9342F3FB-2C9B-44F4-AA7C-E1D13351FE08}" type="pres">
      <dgm:prSet presAssocID="{61A11F0B-2771-4BBB-9B9A-A9E0332382CC}" presName="sibTrans" presStyleLbl="sibTrans1D1" presStyleIdx="5" presStyleCnt="6"/>
      <dgm:spPr/>
      <dgm:t>
        <a:bodyPr/>
        <a:lstStyle/>
        <a:p>
          <a:endParaRPr lang="zh-CN" altLang="en-US"/>
        </a:p>
      </dgm:t>
    </dgm:pt>
  </dgm:ptLst>
  <dgm:cxnLst>
    <dgm:cxn modelId="{E035998C-00BA-40DB-A1EC-3925F0224530}" type="presOf" srcId="{FE3170C6-26C8-4959-AF1F-4780B1BDF735}" destId="{5727DF31-A00D-4233-A966-6152D14D368C}" srcOrd="0" destOrd="0" presId="urn:microsoft.com/office/officeart/2005/8/layout/cycle6"/>
    <dgm:cxn modelId="{46D8E3E4-7F60-4754-8463-E48E4AA95692}" srcId="{19180711-2892-42AA-82AF-BFB97AAC7D7B}" destId="{F8565193-3BB3-49F5-8A76-F0B684892F49}" srcOrd="2" destOrd="0" parTransId="{3D33A751-5AE2-4EAF-B338-04B818525C95}" sibTransId="{DA7E9803-B9B2-4298-8B48-5903C20004B4}"/>
    <dgm:cxn modelId="{B98F7170-BB89-40FC-A8EE-010677BD4C18}" srcId="{19180711-2892-42AA-82AF-BFB97AAC7D7B}" destId="{87A03FA4-5486-44A1-AC25-556A8B1F78BA}" srcOrd="3" destOrd="0" parTransId="{76DAF3DB-8F72-4202-9E6D-E5B869ADF2FF}" sibTransId="{FE3170C6-26C8-4959-AF1F-4780B1BDF735}"/>
    <dgm:cxn modelId="{6B0F20F2-30C6-4CF6-B7B4-6FBEA5C8BE97}" type="presOf" srcId="{DA7E9803-B9B2-4298-8B48-5903C20004B4}" destId="{370EC70E-E225-4D47-A405-4AFD382A75E1}" srcOrd="0" destOrd="0" presId="urn:microsoft.com/office/officeart/2005/8/layout/cycle6"/>
    <dgm:cxn modelId="{22825DEA-682B-42CF-9B7E-1D0F0F9D73F9}" srcId="{19180711-2892-42AA-82AF-BFB97AAC7D7B}" destId="{29BF391E-7DAC-45E0-B08B-B2BB5ABF18BB}" srcOrd="4" destOrd="0" parTransId="{D082A3E0-434B-4222-8D30-5E9DF730C3C0}" sibTransId="{A80791D7-E8A8-4AE7-9F83-461187B72FC4}"/>
    <dgm:cxn modelId="{F1B120D4-F6D3-4E91-A16B-025257B9777A}" srcId="{19180711-2892-42AA-82AF-BFB97AAC7D7B}" destId="{331DA953-D153-45B5-83B9-DABB0153EAC6}" srcOrd="0" destOrd="0" parTransId="{7F214FD9-C9D8-4B5D-B1D4-FF3DE187C971}" sibTransId="{4C885B3D-0B0A-405F-8B0A-F66940FA2FBE}"/>
    <dgm:cxn modelId="{03681138-46B7-4335-923F-195D5FCEACCC}" type="presOf" srcId="{274A7E67-79A5-4E38-BA41-52A4B27F65E4}" destId="{2165F34F-D780-4104-A4A7-F7825C1D1414}" srcOrd="0" destOrd="0" presId="urn:microsoft.com/office/officeart/2005/8/layout/cycle6"/>
    <dgm:cxn modelId="{6D987874-2331-4D9C-A522-EBC324D6D1C2}" type="presOf" srcId="{DE47C764-EAD8-4473-B129-C62D3C8B7F42}" destId="{E0F3E62E-BBA5-429E-A532-06BFBD0B473B}" srcOrd="0" destOrd="0" presId="urn:microsoft.com/office/officeart/2005/8/layout/cycle6"/>
    <dgm:cxn modelId="{A370660D-EA5E-4136-ADA6-B3B371FFEFAA}" type="presOf" srcId="{F8565193-3BB3-49F5-8A76-F0B684892F49}" destId="{81DBC6CC-D221-4D7D-9BC3-220EB5330031}" srcOrd="0" destOrd="0" presId="urn:microsoft.com/office/officeart/2005/8/layout/cycle6"/>
    <dgm:cxn modelId="{F21DF152-0F4F-44C7-B0CA-424B7AA16A26}" type="presOf" srcId="{331DA953-D153-45B5-83B9-DABB0153EAC6}" destId="{3589D588-B2EC-49D9-B867-E2B7DC059D32}" srcOrd="0" destOrd="0" presId="urn:microsoft.com/office/officeart/2005/8/layout/cycle6"/>
    <dgm:cxn modelId="{83E125DC-40A0-4257-9A49-CC43ED979016}" type="presOf" srcId="{5F356963-AD09-4A70-A985-CC5050B735FA}" destId="{EFB660E6-9383-4CE9-945F-41556E55CEFF}" srcOrd="0" destOrd="0" presId="urn:microsoft.com/office/officeart/2005/8/layout/cycle6"/>
    <dgm:cxn modelId="{AD221E8F-3B62-443C-AB66-1E061533B0FE}" srcId="{19180711-2892-42AA-82AF-BFB97AAC7D7B}" destId="{5F356963-AD09-4A70-A985-CC5050B735FA}" srcOrd="5" destOrd="0" parTransId="{124C612A-ED91-4FB4-B1BC-74A16A704F0E}" sibTransId="{61A11F0B-2771-4BBB-9B9A-A9E0332382CC}"/>
    <dgm:cxn modelId="{0C2611F7-8577-4567-8FC9-84330CF07555}" type="presOf" srcId="{87A03FA4-5486-44A1-AC25-556A8B1F78BA}" destId="{3B2A40EE-3E96-4C65-AFFA-5255AA94CC7E}" srcOrd="0" destOrd="0" presId="urn:microsoft.com/office/officeart/2005/8/layout/cycle6"/>
    <dgm:cxn modelId="{277FAFAF-13BE-485A-8D3D-EE5D76E9C0EF}" type="presOf" srcId="{61A11F0B-2771-4BBB-9B9A-A9E0332382CC}" destId="{9342F3FB-2C9B-44F4-AA7C-E1D13351FE08}" srcOrd="0" destOrd="0" presId="urn:microsoft.com/office/officeart/2005/8/layout/cycle6"/>
    <dgm:cxn modelId="{18CFE9AA-08B7-4FD0-BABF-19E8B1CA77EB}" type="presOf" srcId="{19180711-2892-42AA-82AF-BFB97AAC7D7B}" destId="{12C6D870-4F36-4F74-927C-8E1AC21C6AE3}" srcOrd="0" destOrd="0" presId="urn:microsoft.com/office/officeart/2005/8/layout/cycle6"/>
    <dgm:cxn modelId="{09831316-4B24-437C-B782-7045DAF51B70}" srcId="{19180711-2892-42AA-82AF-BFB97AAC7D7B}" destId="{274A7E67-79A5-4E38-BA41-52A4B27F65E4}" srcOrd="1" destOrd="0" parTransId="{B4A6EDF9-751E-4F3A-8725-642A3B466F73}" sibTransId="{DE47C764-EAD8-4473-B129-C62D3C8B7F42}"/>
    <dgm:cxn modelId="{E79BDD6E-F041-47A0-9609-D6C5069A025C}" type="presOf" srcId="{29BF391E-7DAC-45E0-B08B-B2BB5ABF18BB}" destId="{4050C43D-764A-4C9F-B742-4C6EE14951DA}" srcOrd="0" destOrd="0" presId="urn:microsoft.com/office/officeart/2005/8/layout/cycle6"/>
    <dgm:cxn modelId="{7FD6B9F1-0804-4648-A2DD-BF7122D6428B}" type="presOf" srcId="{4C885B3D-0B0A-405F-8B0A-F66940FA2FBE}" destId="{EFA4DDBC-BB34-475D-B18D-13F381395D31}" srcOrd="0" destOrd="0" presId="urn:microsoft.com/office/officeart/2005/8/layout/cycle6"/>
    <dgm:cxn modelId="{9B530F7A-9037-4837-AD5F-928E27E2DE13}" type="presOf" srcId="{A80791D7-E8A8-4AE7-9F83-461187B72FC4}" destId="{1497BB48-3199-4CA8-9F62-078FB5309D95}" srcOrd="0" destOrd="0" presId="urn:microsoft.com/office/officeart/2005/8/layout/cycle6"/>
    <dgm:cxn modelId="{5AE90B82-4D41-4BBA-8B3C-1D56DFACAE62}" type="presParOf" srcId="{12C6D870-4F36-4F74-927C-8E1AC21C6AE3}" destId="{3589D588-B2EC-49D9-B867-E2B7DC059D32}" srcOrd="0" destOrd="0" presId="urn:microsoft.com/office/officeart/2005/8/layout/cycle6"/>
    <dgm:cxn modelId="{A628DD1D-FCC6-40CB-A585-630D974B0B50}" type="presParOf" srcId="{12C6D870-4F36-4F74-927C-8E1AC21C6AE3}" destId="{B76131E7-2D18-482E-9A73-3E0DF7786957}" srcOrd="1" destOrd="0" presId="urn:microsoft.com/office/officeart/2005/8/layout/cycle6"/>
    <dgm:cxn modelId="{E5ECB7DF-9525-4650-8F06-FC2963B4C3B2}" type="presParOf" srcId="{12C6D870-4F36-4F74-927C-8E1AC21C6AE3}" destId="{EFA4DDBC-BB34-475D-B18D-13F381395D31}" srcOrd="2" destOrd="0" presId="urn:microsoft.com/office/officeart/2005/8/layout/cycle6"/>
    <dgm:cxn modelId="{B3466E04-2442-48D6-92F6-7EDAF33BD6B2}" type="presParOf" srcId="{12C6D870-4F36-4F74-927C-8E1AC21C6AE3}" destId="{2165F34F-D780-4104-A4A7-F7825C1D1414}" srcOrd="3" destOrd="0" presId="urn:microsoft.com/office/officeart/2005/8/layout/cycle6"/>
    <dgm:cxn modelId="{7CE8FDE4-AD6E-4A58-94A9-A68230BFB059}" type="presParOf" srcId="{12C6D870-4F36-4F74-927C-8E1AC21C6AE3}" destId="{086E416B-C917-42C9-966F-1D5A1F30D403}" srcOrd="4" destOrd="0" presId="urn:microsoft.com/office/officeart/2005/8/layout/cycle6"/>
    <dgm:cxn modelId="{6C0252AD-8CD0-40DB-AED1-D50AC8748F65}" type="presParOf" srcId="{12C6D870-4F36-4F74-927C-8E1AC21C6AE3}" destId="{E0F3E62E-BBA5-429E-A532-06BFBD0B473B}" srcOrd="5" destOrd="0" presId="urn:microsoft.com/office/officeart/2005/8/layout/cycle6"/>
    <dgm:cxn modelId="{D4BAF982-4E26-4D32-8742-8E61F7371007}" type="presParOf" srcId="{12C6D870-4F36-4F74-927C-8E1AC21C6AE3}" destId="{81DBC6CC-D221-4D7D-9BC3-220EB5330031}" srcOrd="6" destOrd="0" presId="urn:microsoft.com/office/officeart/2005/8/layout/cycle6"/>
    <dgm:cxn modelId="{4B224C9A-8110-4753-B283-00F5D6B8F420}" type="presParOf" srcId="{12C6D870-4F36-4F74-927C-8E1AC21C6AE3}" destId="{BB9C5034-62D5-48E5-BFAF-D7A395A8FC7B}" srcOrd="7" destOrd="0" presId="urn:microsoft.com/office/officeart/2005/8/layout/cycle6"/>
    <dgm:cxn modelId="{73F51301-FD85-45C5-8B5E-530FD130D7FA}" type="presParOf" srcId="{12C6D870-4F36-4F74-927C-8E1AC21C6AE3}" destId="{370EC70E-E225-4D47-A405-4AFD382A75E1}" srcOrd="8" destOrd="0" presId="urn:microsoft.com/office/officeart/2005/8/layout/cycle6"/>
    <dgm:cxn modelId="{D930BE28-2A93-4C37-8560-CD9F426911FD}" type="presParOf" srcId="{12C6D870-4F36-4F74-927C-8E1AC21C6AE3}" destId="{3B2A40EE-3E96-4C65-AFFA-5255AA94CC7E}" srcOrd="9" destOrd="0" presId="urn:microsoft.com/office/officeart/2005/8/layout/cycle6"/>
    <dgm:cxn modelId="{91C38BF0-DD25-4D79-8FE4-EE09091423D2}" type="presParOf" srcId="{12C6D870-4F36-4F74-927C-8E1AC21C6AE3}" destId="{8BCB4581-CA35-4860-8354-85A7054E66E8}" srcOrd="10" destOrd="0" presId="urn:microsoft.com/office/officeart/2005/8/layout/cycle6"/>
    <dgm:cxn modelId="{C50B8BE7-DB36-421C-99DA-6DA5B018BAD0}" type="presParOf" srcId="{12C6D870-4F36-4F74-927C-8E1AC21C6AE3}" destId="{5727DF31-A00D-4233-A966-6152D14D368C}" srcOrd="11" destOrd="0" presId="urn:microsoft.com/office/officeart/2005/8/layout/cycle6"/>
    <dgm:cxn modelId="{8870DFC0-9575-4766-85D3-453CB2E84016}" type="presParOf" srcId="{12C6D870-4F36-4F74-927C-8E1AC21C6AE3}" destId="{4050C43D-764A-4C9F-B742-4C6EE14951DA}" srcOrd="12" destOrd="0" presId="urn:microsoft.com/office/officeart/2005/8/layout/cycle6"/>
    <dgm:cxn modelId="{1454DFA5-6AC0-4320-9DD6-B2775A01333E}" type="presParOf" srcId="{12C6D870-4F36-4F74-927C-8E1AC21C6AE3}" destId="{C2C3C7E8-EDB4-403D-8C62-EFA0767D8FE8}" srcOrd="13" destOrd="0" presId="urn:microsoft.com/office/officeart/2005/8/layout/cycle6"/>
    <dgm:cxn modelId="{81A38A45-2EF6-4164-B4DD-D65024EC854E}" type="presParOf" srcId="{12C6D870-4F36-4F74-927C-8E1AC21C6AE3}" destId="{1497BB48-3199-4CA8-9F62-078FB5309D95}" srcOrd="14" destOrd="0" presId="urn:microsoft.com/office/officeart/2005/8/layout/cycle6"/>
    <dgm:cxn modelId="{77FB745E-6076-401F-B2DE-DF65645FD935}" type="presParOf" srcId="{12C6D870-4F36-4F74-927C-8E1AC21C6AE3}" destId="{EFB660E6-9383-4CE9-945F-41556E55CEFF}" srcOrd="15" destOrd="0" presId="urn:microsoft.com/office/officeart/2005/8/layout/cycle6"/>
    <dgm:cxn modelId="{FB248AC3-18B9-4BEA-9B63-4979E21BE552}" type="presParOf" srcId="{12C6D870-4F36-4F74-927C-8E1AC21C6AE3}" destId="{87FDF736-B772-4A33-AC7B-B5CF55973342}" srcOrd="16" destOrd="0" presId="urn:microsoft.com/office/officeart/2005/8/layout/cycle6"/>
    <dgm:cxn modelId="{CD3A231B-33BC-4D6F-9F81-10C86147D72B}" type="presParOf" srcId="{12C6D870-4F36-4F74-927C-8E1AC21C6AE3}" destId="{9342F3FB-2C9B-44F4-AA7C-E1D13351FE08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89D588-B2EC-49D9-B867-E2B7DC059D32}">
      <dsp:nvSpPr>
        <dsp:cNvPr id="0" name=""/>
        <dsp:cNvSpPr/>
      </dsp:nvSpPr>
      <dsp:spPr>
        <a:xfrm>
          <a:off x="3763587" y="-91880"/>
          <a:ext cx="1679395" cy="1091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kern="1200" dirty="0" smtClean="0"/>
            <a:t>File System</a:t>
          </a:r>
          <a:endParaRPr lang="zh-CN" altLang="en-US" sz="2000" kern="1200" dirty="0"/>
        </a:p>
      </dsp:txBody>
      <dsp:txXfrm>
        <a:off x="3816875" y="-38592"/>
        <a:ext cx="1572819" cy="985030"/>
      </dsp:txXfrm>
    </dsp:sp>
    <dsp:sp modelId="{EFA4DDBC-BB34-475D-B18D-13F381395D31}">
      <dsp:nvSpPr>
        <dsp:cNvPr id="0" name=""/>
        <dsp:cNvSpPr/>
      </dsp:nvSpPr>
      <dsp:spPr>
        <a:xfrm>
          <a:off x="2479224" y="453922"/>
          <a:ext cx="4248120" cy="4248120"/>
        </a:xfrm>
        <a:custGeom>
          <a:avLst/>
          <a:gdLst/>
          <a:ahLst/>
          <a:cxnLst/>
          <a:rect l="0" t="0" r="0" b="0"/>
          <a:pathLst>
            <a:path>
              <a:moveTo>
                <a:pt x="2969695" y="175590"/>
              </a:moveTo>
              <a:arcTo wR="2124060" hR="2124060" stAng="17607650" swAng="103005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65F34F-D780-4104-A4A7-F7825C1D1414}">
      <dsp:nvSpPr>
        <dsp:cNvPr id="0" name=""/>
        <dsp:cNvSpPr/>
      </dsp:nvSpPr>
      <dsp:spPr>
        <a:xfrm>
          <a:off x="5603077" y="970149"/>
          <a:ext cx="1679395" cy="1091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kern="1200" dirty="0" smtClean="0"/>
            <a:t>Network</a:t>
          </a:r>
          <a:endParaRPr lang="zh-CN" altLang="en-US" sz="2000" kern="1200" dirty="0"/>
        </a:p>
      </dsp:txBody>
      <dsp:txXfrm>
        <a:off x="5656365" y="1023437"/>
        <a:ext cx="1572819" cy="985030"/>
      </dsp:txXfrm>
    </dsp:sp>
    <dsp:sp modelId="{E0F3E62E-BBA5-429E-A532-06BFBD0B473B}">
      <dsp:nvSpPr>
        <dsp:cNvPr id="0" name=""/>
        <dsp:cNvSpPr/>
      </dsp:nvSpPr>
      <dsp:spPr>
        <a:xfrm>
          <a:off x="2479224" y="453922"/>
          <a:ext cx="4248120" cy="4248120"/>
        </a:xfrm>
        <a:custGeom>
          <a:avLst/>
          <a:gdLst/>
          <a:ahLst/>
          <a:cxnLst/>
          <a:rect l="0" t="0" r="0" b="0"/>
          <a:pathLst>
            <a:path>
              <a:moveTo>
                <a:pt x="4186919" y="1617854"/>
              </a:moveTo>
              <a:arcTo wR="2124060" hR="2124060" stAng="20772756" swAng="1654488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DBC6CC-D221-4D7D-9BC3-220EB5330031}">
      <dsp:nvSpPr>
        <dsp:cNvPr id="0" name=""/>
        <dsp:cNvSpPr/>
      </dsp:nvSpPr>
      <dsp:spPr>
        <a:xfrm>
          <a:off x="5603077" y="3094209"/>
          <a:ext cx="1679395" cy="1091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kern="1200" dirty="0" smtClean="0"/>
            <a:t>SMS</a:t>
          </a:r>
          <a:endParaRPr lang="zh-CN" altLang="en-US" sz="2000" kern="1200" dirty="0"/>
        </a:p>
      </dsp:txBody>
      <dsp:txXfrm>
        <a:off x="5656365" y="3147497"/>
        <a:ext cx="1572819" cy="985030"/>
      </dsp:txXfrm>
    </dsp:sp>
    <dsp:sp modelId="{370EC70E-E225-4D47-A405-4AFD382A75E1}">
      <dsp:nvSpPr>
        <dsp:cNvPr id="0" name=""/>
        <dsp:cNvSpPr/>
      </dsp:nvSpPr>
      <dsp:spPr>
        <a:xfrm>
          <a:off x="2479224" y="453922"/>
          <a:ext cx="4248120" cy="4248120"/>
        </a:xfrm>
        <a:custGeom>
          <a:avLst/>
          <a:gdLst/>
          <a:ahLst/>
          <a:cxnLst/>
          <a:rect l="0" t="0" r="0" b="0"/>
          <a:pathLst>
            <a:path>
              <a:moveTo>
                <a:pt x="3507143" y="3736113"/>
              </a:moveTo>
              <a:arcTo wR="2124060" hR="2124060" stAng="2962297" swAng="103005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2A40EE-3E96-4C65-AFFA-5255AA94CC7E}">
      <dsp:nvSpPr>
        <dsp:cNvPr id="0" name=""/>
        <dsp:cNvSpPr/>
      </dsp:nvSpPr>
      <dsp:spPr>
        <a:xfrm>
          <a:off x="3763587" y="4156240"/>
          <a:ext cx="1679395" cy="1091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kern="1200" dirty="0" smtClean="0"/>
            <a:t>Call</a:t>
          </a:r>
          <a:endParaRPr lang="zh-CN" altLang="en-US" sz="2000" kern="1200" dirty="0"/>
        </a:p>
      </dsp:txBody>
      <dsp:txXfrm>
        <a:off x="3816875" y="4209528"/>
        <a:ext cx="1572819" cy="985030"/>
      </dsp:txXfrm>
    </dsp:sp>
    <dsp:sp modelId="{5727DF31-A00D-4233-A966-6152D14D368C}">
      <dsp:nvSpPr>
        <dsp:cNvPr id="0" name=""/>
        <dsp:cNvSpPr/>
      </dsp:nvSpPr>
      <dsp:spPr>
        <a:xfrm>
          <a:off x="2479224" y="453922"/>
          <a:ext cx="4248120" cy="4248120"/>
        </a:xfrm>
        <a:custGeom>
          <a:avLst/>
          <a:gdLst/>
          <a:ahLst/>
          <a:cxnLst/>
          <a:rect l="0" t="0" r="0" b="0"/>
          <a:pathLst>
            <a:path>
              <a:moveTo>
                <a:pt x="1278425" y="4072529"/>
              </a:moveTo>
              <a:arcTo wR="2124060" hR="2124060" stAng="6807650" swAng="103005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50C43D-764A-4C9F-B742-4C6EE14951DA}">
      <dsp:nvSpPr>
        <dsp:cNvPr id="0" name=""/>
        <dsp:cNvSpPr/>
      </dsp:nvSpPr>
      <dsp:spPr>
        <a:xfrm>
          <a:off x="1924097" y="3094209"/>
          <a:ext cx="1679395" cy="1091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kern="1200" dirty="0" smtClean="0"/>
            <a:t>Personal Info.</a:t>
          </a:r>
          <a:endParaRPr lang="zh-CN" altLang="en-US" sz="2000" kern="1200" dirty="0"/>
        </a:p>
      </dsp:txBody>
      <dsp:txXfrm>
        <a:off x="1977385" y="3147497"/>
        <a:ext cx="1572819" cy="985030"/>
      </dsp:txXfrm>
    </dsp:sp>
    <dsp:sp modelId="{1497BB48-3199-4CA8-9F62-078FB5309D95}">
      <dsp:nvSpPr>
        <dsp:cNvPr id="0" name=""/>
        <dsp:cNvSpPr/>
      </dsp:nvSpPr>
      <dsp:spPr>
        <a:xfrm>
          <a:off x="2479224" y="453922"/>
          <a:ext cx="4248120" cy="4248120"/>
        </a:xfrm>
        <a:custGeom>
          <a:avLst/>
          <a:gdLst/>
          <a:ahLst/>
          <a:cxnLst/>
          <a:rect l="0" t="0" r="0" b="0"/>
          <a:pathLst>
            <a:path>
              <a:moveTo>
                <a:pt x="61201" y="2630266"/>
              </a:moveTo>
              <a:arcTo wR="2124060" hR="2124060" stAng="9972756" swAng="1654488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B660E6-9383-4CE9-945F-41556E55CEFF}">
      <dsp:nvSpPr>
        <dsp:cNvPr id="0" name=""/>
        <dsp:cNvSpPr/>
      </dsp:nvSpPr>
      <dsp:spPr>
        <a:xfrm>
          <a:off x="1924097" y="970149"/>
          <a:ext cx="1679395" cy="1091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kern="1200" dirty="0" smtClean="0"/>
            <a:t>External App.</a:t>
          </a:r>
          <a:endParaRPr lang="zh-CN" altLang="en-US" sz="2000" kern="1200" dirty="0"/>
        </a:p>
      </dsp:txBody>
      <dsp:txXfrm>
        <a:off x="1977385" y="1023437"/>
        <a:ext cx="1572819" cy="985030"/>
      </dsp:txXfrm>
    </dsp:sp>
    <dsp:sp modelId="{9342F3FB-2C9B-44F4-AA7C-E1D13351FE08}">
      <dsp:nvSpPr>
        <dsp:cNvPr id="0" name=""/>
        <dsp:cNvSpPr/>
      </dsp:nvSpPr>
      <dsp:spPr>
        <a:xfrm>
          <a:off x="2479224" y="453922"/>
          <a:ext cx="4248120" cy="4248120"/>
        </a:xfrm>
        <a:custGeom>
          <a:avLst/>
          <a:gdLst/>
          <a:ahLst/>
          <a:cxnLst/>
          <a:rect l="0" t="0" r="0" b="0"/>
          <a:pathLst>
            <a:path>
              <a:moveTo>
                <a:pt x="740977" y="512007"/>
              </a:moveTo>
              <a:arcTo wR="2124060" hR="2124060" stAng="13762297" swAng="103005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1D654-AE30-4B5B-857C-589B7F89261A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1FDC7-989E-4590-9C3F-F1CEA6F56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483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31FDC7-989E-4590-9C3F-F1CEA6F5610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373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31FDC7-989E-4590-9C3F-F1CEA6F56108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221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31FDC7-989E-4590-9C3F-F1CEA6F56108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95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0890-D35C-49C8-8DAD-47D03E5EE959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D68D2-7987-4A48-BFF1-B1A4803A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13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0890-D35C-49C8-8DAD-47D03E5EE959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D68D2-7987-4A48-BFF1-B1A4803A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158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0890-D35C-49C8-8DAD-47D03E5EE959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D68D2-7987-4A48-BFF1-B1A4803A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556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0890-D35C-49C8-8DAD-47D03E5EE959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D68D2-7987-4A48-BFF1-B1A4803A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155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0890-D35C-49C8-8DAD-47D03E5EE959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D68D2-7987-4A48-BFF1-B1A4803A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644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0890-D35C-49C8-8DAD-47D03E5EE959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D68D2-7987-4A48-BFF1-B1A4803A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102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0890-D35C-49C8-8DAD-47D03E5EE959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D68D2-7987-4A48-BFF1-B1A4803A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360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0890-D35C-49C8-8DAD-47D03E5EE959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D68D2-7987-4A48-BFF1-B1A4803A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76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0890-D35C-49C8-8DAD-47D03E5EE959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D68D2-7987-4A48-BFF1-B1A4803A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45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0890-D35C-49C8-8DAD-47D03E5EE959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D68D2-7987-4A48-BFF1-B1A4803A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30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0890-D35C-49C8-8DAD-47D03E5EE959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D68D2-7987-4A48-BFF1-B1A4803A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004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B0890-D35C-49C8-8DAD-47D03E5EE959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D68D2-7987-4A48-BFF1-B1A4803A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148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pn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12" Type="http://schemas.microsoft.com/office/2007/relationships/hdphoto" Target="../media/hdphoto3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.jpg"/><Relationship Id="rId10" Type="http://schemas.microsoft.com/office/2007/relationships/hdphoto" Target="../media/hdphoto2.wdp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12" Type="http://schemas.openxmlformats.org/officeDocument/2006/relationships/hyperlink" Target="https://www.safetydetective.com/blog/malware-statistics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microsoft.com/office/2007/relationships/hdphoto" Target="../media/hdphoto6.wdp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microsoft.com/office/2007/relationships/hdphoto" Target="../media/hdphoto1.wdp"/><Relationship Id="rId9" Type="http://schemas.microsoft.com/office/2007/relationships/hdphoto" Target="../media/hdphoto5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2075" y="840642"/>
            <a:ext cx="10505185" cy="9694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700" b="1" cap="none" spc="0" dirty="0" smtClean="0">
                <a:ln w="0"/>
                <a:solidFill>
                  <a:srgbClr val="AB0D2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What infiltrates into our pockets ?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025092" y="2355227"/>
            <a:ext cx="10039150" cy="0"/>
          </a:xfrm>
          <a:prstGeom prst="line">
            <a:avLst/>
          </a:prstGeom>
          <a:ln w="69850" cmpd="sng">
            <a:solidFill>
              <a:schemeClr val="bg1">
                <a:lumMod val="6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053631" y="2803663"/>
            <a:ext cx="5982067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6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50"/>
                </a:solidFill>
                <a:effectLst>
                  <a:outerShdw blurRad="50800" dist="12700" dir="13500000" algn="br" rotWithShape="0">
                    <a:schemeClr val="accent1">
                      <a:lumMod val="75000"/>
                      <a:alpha val="40000"/>
                    </a:schemeClr>
                  </a:outerShdw>
                </a:effectLst>
              </a:rPr>
              <a:t>A rough survey 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541830" y="4267761"/>
            <a:ext cx="90056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50"/>
                </a:solidFill>
                <a:effectLst>
                  <a:outerShdw blurRad="50800" dist="12700" dir="13500000" algn="br" rotWithShape="0">
                    <a:schemeClr val="accent1">
                      <a:lumMod val="75000"/>
                      <a:alpha val="40000"/>
                    </a:schemeClr>
                  </a:outerShdw>
                </a:effectLst>
              </a:rPr>
              <a:t>Android Malware behaviors </a:t>
            </a:r>
            <a:endParaRPr lang="zh-CN" altLang="en-US" sz="6000" b="1" cap="none" spc="0" dirty="0" smtClean="0">
              <a:ln w="9525">
                <a:solidFill>
                  <a:schemeClr val="bg1"/>
                </a:solidFill>
                <a:prstDash val="solid"/>
              </a:ln>
              <a:solidFill>
                <a:srgbClr val="00B050"/>
              </a:solidFill>
              <a:effectLst>
                <a:outerShdw blurRad="50800" dist="12700" dir="13500000" algn="br" rotWithShape="0">
                  <a:schemeClr val="accent1">
                    <a:lumMod val="75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404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22362" y="2365450"/>
            <a:ext cx="826303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cap="none" spc="0" dirty="0" smtClean="0">
                <a:ln w="63500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Problem Definition</a:t>
            </a:r>
            <a:endParaRPr lang="zh-CN" altLang="en-US" sz="8000" b="1" cap="none" spc="0" dirty="0">
              <a:ln w="63500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47647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73237" y="1138536"/>
            <a:ext cx="8792309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60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Q:   What is malware ?</a:t>
            </a:r>
            <a:endParaRPr lang="zh-CN" altLang="en-US" sz="60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36914" y="2710127"/>
            <a:ext cx="97368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/>
              <a:t>A:   </a:t>
            </a:r>
            <a:r>
              <a:rPr lang="en-US" altLang="zh-CN" sz="6000" b="1" dirty="0" smtClean="0">
                <a:solidFill>
                  <a:srgbClr val="FF6600"/>
                </a:solidFill>
              </a:rPr>
              <a:t>Mal</a:t>
            </a:r>
            <a:r>
              <a:rPr lang="en-US" altLang="zh-CN" sz="6000" b="1" dirty="0" smtClean="0"/>
              <a:t>icious Soft</a:t>
            </a:r>
            <a:r>
              <a:rPr lang="en-US" altLang="zh-CN" sz="6000" b="1" dirty="0" smtClean="0">
                <a:solidFill>
                  <a:srgbClr val="FF6600"/>
                </a:solidFill>
              </a:rPr>
              <a:t>ware</a:t>
            </a:r>
            <a:r>
              <a:rPr lang="en-US" altLang="zh-CN" sz="6000" b="1" dirty="0" smtClean="0"/>
              <a:t> </a:t>
            </a:r>
          </a:p>
          <a:p>
            <a:r>
              <a:rPr lang="en-US" altLang="zh-CN" sz="6000" b="1" dirty="0" smtClean="0"/>
              <a:t>   </a:t>
            </a:r>
            <a:endParaRPr lang="zh-CN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980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117" y="1059262"/>
            <a:ext cx="1832281" cy="112776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504" y="2556180"/>
            <a:ext cx="1751894" cy="164661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499" y="4571948"/>
            <a:ext cx="1759899" cy="1477108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729444" y="113856"/>
            <a:ext cx="51806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/>
              <a:t>Android security framework     with vulnerabilities</a:t>
            </a:r>
            <a:endParaRPr lang="zh-CN" altLang="en-US" sz="3200" b="1" dirty="0"/>
          </a:p>
        </p:txBody>
      </p:sp>
      <p:sp>
        <p:nvSpPr>
          <p:cNvPr id="28" name="文本框 27"/>
          <p:cNvSpPr txBox="1"/>
          <p:nvPr/>
        </p:nvSpPr>
        <p:spPr>
          <a:xfrm>
            <a:off x="1151662" y="237698"/>
            <a:ext cx="38332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Malware Candidates</a:t>
            </a:r>
            <a:endParaRPr lang="zh-CN" altLang="en-US" sz="3200" b="1" dirty="0"/>
          </a:p>
        </p:txBody>
      </p:sp>
      <p:sp>
        <p:nvSpPr>
          <p:cNvPr id="30" name="矩形 29"/>
          <p:cNvSpPr/>
          <p:nvPr/>
        </p:nvSpPr>
        <p:spPr>
          <a:xfrm>
            <a:off x="380794" y="1161480"/>
            <a:ext cx="6046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CN" sz="5400" b="1" cap="none" spc="0" dirty="0" smtClean="0">
                <a:ln/>
                <a:solidFill>
                  <a:srgbClr val="0033CC"/>
                </a:solidFill>
                <a:effectLst/>
              </a:rPr>
              <a:t>A</a:t>
            </a:r>
            <a:endParaRPr lang="zh-CN" altLang="en-US" sz="5400" b="1" cap="none" spc="0" dirty="0">
              <a:ln/>
              <a:solidFill>
                <a:srgbClr val="0033CC"/>
              </a:solidFill>
              <a:effectLst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98273" y="2956942"/>
            <a:ext cx="5725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CN" sz="5400" b="1" cap="none" spc="0" dirty="0" smtClean="0">
                <a:ln/>
                <a:solidFill>
                  <a:srgbClr val="0033CC"/>
                </a:solidFill>
                <a:effectLst/>
              </a:rPr>
              <a:t>B</a:t>
            </a:r>
            <a:endParaRPr lang="zh-CN" altLang="en-US" sz="5400" b="1" cap="none" spc="0" dirty="0">
              <a:ln/>
              <a:solidFill>
                <a:srgbClr val="0033CC"/>
              </a:solidFill>
              <a:effectLst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19112" y="4848837"/>
            <a:ext cx="5517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CN" sz="5400" b="1" cap="none" spc="0" dirty="0" smtClean="0">
                <a:ln/>
                <a:solidFill>
                  <a:srgbClr val="0033CC"/>
                </a:solidFill>
                <a:effectLst/>
              </a:rPr>
              <a:t>C</a:t>
            </a:r>
            <a:endParaRPr lang="zh-CN" altLang="en-US" sz="5400" b="1" cap="none" spc="0" dirty="0">
              <a:ln/>
              <a:solidFill>
                <a:srgbClr val="0033CC"/>
              </a:solidFill>
              <a:effectLst/>
            </a:endParaRPr>
          </a:p>
        </p:txBody>
      </p:sp>
      <p:sp>
        <p:nvSpPr>
          <p:cNvPr id="39" name="右箭头 38"/>
          <p:cNvSpPr/>
          <p:nvPr/>
        </p:nvSpPr>
        <p:spPr>
          <a:xfrm>
            <a:off x="4161672" y="3192333"/>
            <a:ext cx="2697119" cy="415125"/>
          </a:xfrm>
          <a:prstGeom prst="rightArrow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右箭头 40"/>
          <p:cNvSpPr/>
          <p:nvPr/>
        </p:nvSpPr>
        <p:spPr>
          <a:xfrm>
            <a:off x="4161673" y="1445532"/>
            <a:ext cx="2697119" cy="415125"/>
          </a:xfrm>
          <a:prstGeom prst="rightArrow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右箭头 41"/>
          <p:cNvSpPr/>
          <p:nvPr/>
        </p:nvSpPr>
        <p:spPr>
          <a:xfrm>
            <a:off x="4161672" y="4987996"/>
            <a:ext cx="2697119" cy="415125"/>
          </a:xfrm>
          <a:prstGeom prst="rightArrow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7562497" y="1054823"/>
            <a:ext cx="3721212" cy="5452158"/>
            <a:chOff x="7562497" y="1054823"/>
            <a:chExt cx="3721212" cy="545215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2497" y="1054823"/>
              <a:ext cx="3721212" cy="5404912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982" r="-398" b="33725"/>
            <a:stretch/>
          </p:blipFill>
          <p:spPr>
            <a:xfrm rot="10800000">
              <a:off x="7834547" y="5041605"/>
              <a:ext cx="3141552" cy="1021102"/>
            </a:xfrm>
            <a:prstGeom prst="round2SameRect">
              <a:avLst>
                <a:gd name="adj1" fmla="val 50000"/>
                <a:gd name="adj2" fmla="val 0"/>
              </a:avLst>
            </a:prstGeom>
          </p:spPr>
        </p:pic>
        <p:grpSp>
          <p:nvGrpSpPr>
            <p:cNvPr id="4" name="组合 3"/>
            <p:cNvGrpSpPr/>
            <p:nvPr/>
          </p:nvGrpSpPr>
          <p:grpSpPr>
            <a:xfrm>
              <a:off x="7813081" y="2848057"/>
              <a:ext cx="3163184" cy="485699"/>
              <a:chOff x="3643717" y="2200979"/>
              <a:chExt cx="3163184" cy="485699"/>
            </a:xfrm>
          </p:grpSpPr>
          <p:sp>
            <p:nvSpPr>
              <p:cNvPr id="3" name="弧形 2"/>
              <p:cNvSpPr/>
              <p:nvPr/>
            </p:nvSpPr>
            <p:spPr>
              <a:xfrm>
                <a:off x="3643717" y="2200980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弧形 23"/>
              <p:cNvSpPr/>
              <p:nvPr/>
            </p:nvSpPr>
            <p:spPr>
              <a:xfrm flipH="1">
                <a:off x="3665349" y="2200980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弧形 30"/>
              <p:cNvSpPr/>
              <p:nvPr/>
            </p:nvSpPr>
            <p:spPr>
              <a:xfrm rot="10800000" flipH="1">
                <a:off x="3654450" y="2200979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弧形 31"/>
              <p:cNvSpPr/>
              <p:nvPr/>
            </p:nvSpPr>
            <p:spPr>
              <a:xfrm rot="10800000">
                <a:off x="3665183" y="2200980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椭圆 4"/>
            <p:cNvSpPr/>
            <p:nvPr/>
          </p:nvSpPr>
          <p:spPr>
            <a:xfrm>
              <a:off x="8871631" y="2989478"/>
              <a:ext cx="329610" cy="20285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9489814" y="2956942"/>
              <a:ext cx="329610" cy="20285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0044274" y="2990525"/>
              <a:ext cx="329610" cy="20285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8304027" y="2956942"/>
              <a:ext cx="329610" cy="20285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7817810" y="4132230"/>
              <a:ext cx="3163184" cy="485699"/>
              <a:chOff x="3643717" y="2200979"/>
              <a:chExt cx="3163184" cy="485699"/>
            </a:xfrm>
          </p:grpSpPr>
          <p:sp>
            <p:nvSpPr>
              <p:cNvPr id="64" name="弧形 63"/>
              <p:cNvSpPr/>
              <p:nvPr/>
            </p:nvSpPr>
            <p:spPr>
              <a:xfrm>
                <a:off x="3643717" y="2200980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弧形 64"/>
              <p:cNvSpPr/>
              <p:nvPr/>
            </p:nvSpPr>
            <p:spPr>
              <a:xfrm flipH="1">
                <a:off x="3665349" y="2200980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弧形 65"/>
              <p:cNvSpPr/>
              <p:nvPr/>
            </p:nvSpPr>
            <p:spPr>
              <a:xfrm rot="10800000" flipH="1">
                <a:off x="3654450" y="2200979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弧形 66"/>
              <p:cNvSpPr/>
              <p:nvPr/>
            </p:nvSpPr>
            <p:spPr>
              <a:xfrm rot="10800000">
                <a:off x="3665183" y="2200980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椭圆 5"/>
            <p:cNvSpPr/>
            <p:nvPr/>
          </p:nvSpPr>
          <p:spPr>
            <a:xfrm>
              <a:off x="8309833" y="4308425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0397564" y="4395519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0024780" y="4242794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8791886" y="4265749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9383231" y="4391530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9082849" y="4262486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9651975" y="4311688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8876065" y="4433688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9945025" y="4421288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9362095" y="4190844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4351" y="3804525"/>
              <a:ext cx="816802" cy="530148"/>
            </a:xfrm>
            <a:prstGeom prst="rect">
              <a:avLst/>
            </a:prstGeom>
          </p:spPr>
        </p:pic>
        <p:pic>
          <p:nvPicPr>
            <p:cNvPr id="80" name="图片 79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4728" y="4049439"/>
              <a:ext cx="816802" cy="530148"/>
            </a:xfrm>
            <a:prstGeom prst="rect">
              <a:avLst/>
            </a:prstGeom>
          </p:spPr>
        </p:pic>
        <p:pic>
          <p:nvPicPr>
            <p:cNvPr id="81" name="图片 80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2979" y="3757279"/>
              <a:ext cx="816802" cy="530148"/>
            </a:xfrm>
            <a:prstGeom prst="rect">
              <a:avLst/>
            </a:prstGeom>
          </p:spPr>
        </p:pic>
        <p:pic>
          <p:nvPicPr>
            <p:cNvPr id="82" name="图片 81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0368" y="3730193"/>
              <a:ext cx="816802" cy="530148"/>
            </a:xfrm>
            <a:prstGeom prst="rect">
              <a:avLst/>
            </a:prstGeom>
          </p:spPr>
        </p:pic>
        <p:pic>
          <p:nvPicPr>
            <p:cNvPr id="83" name="图片 8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2786" y="3850790"/>
              <a:ext cx="816802" cy="530148"/>
            </a:xfrm>
            <a:prstGeom prst="rect">
              <a:avLst/>
            </a:prstGeom>
          </p:spPr>
        </p:pic>
        <p:pic>
          <p:nvPicPr>
            <p:cNvPr id="84" name="图片 83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2988" y="3770326"/>
              <a:ext cx="816802" cy="530148"/>
            </a:xfrm>
            <a:prstGeom prst="rect">
              <a:avLst/>
            </a:prstGeom>
          </p:spPr>
        </p:pic>
        <p:pic>
          <p:nvPicPr>
            <p:cNvPr id="85" name="图片 8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412" y="4112396"/>
              <a:ext cx="816802" cy="530148"/>
            </a:xfrm>
            <a:prstGeom prst="rect">
              <a:avLst/>
            </a:prstGeom>
          </p:spPr>
        </p:pic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0786" y="3775839"/>
              <a:ext cx="816802" cy="530148"/>
            </a:xfrm>
            <a:prstGeom prst="rect">
              <a:avLst/>
            </a:prstGeom>
          </p:spPr>
        </p:pic>
        <p:pic>
          <p:nvPicPr>
            <p:cNvPr id="87" name="图片 86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53376" y="3901628"/>
              <a:ext cx="816802" cy="530148"/>
            </a:xfrm>
            <a:prstGeom prst="rect">
              <a:avLst/>
            </a:prstGeom>
          </p:spPr>
        </p:pic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0935" y="4031932"/>
              <a:ext cx="816802" cy="530148"/>
            </a:xfrm>
            <a:prstGeom prst="rect">
              <a:avLst/>
            </a:prstGeom>
          </p:spPr>
        </p:pic>
        <p:pic>
          <p:nvPicPr>
            <p:cNvPr id="89" name="图片 88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9104" y="4037445"/>
              <a:ext cx="816802" cy="530148"/>
            </a:xfrm>
            <a:prstGeom prst="rect">
              <a:avLst/>
            </a:prstGeom>
          </p:spPr>
        </p:pic>
        <p:pic>
          <p:nvPicPr>
            <p:cNvPr id="90" name="图片 89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29523" y="3937079"/>
              <a:ext cx="816802" cy="530148"/>
            </a:xfrm>
            <a:prstGeom prst="rect">
              <a:avLst/>
            </a:prstGeom>
          </p:spPr>
        </p:pic>
        <p:pic>
          <p:nvPicPr>
            <p:cNvPr id="91" name="图片 90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6167" y="3967200"/>
              <a:ext cx="816802" cy="530148"/>
            </a:xfrm>
            <a:prstGeom prst="rect">
              <a:avLst/>
            </a:prstGeom>
          </p:spPr>
        </p:pic>
        <p:pic>
          <p:nvPicPr>
            <p:cNvPr id="92" name="图片 91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0820" y="3831383"/>
              <a:ext cx="816802" cy="530148"/>
            </a:xfrm>
            <a:prstGeom prst="rect">
              <a:avLst/>
            </a:prstGeom>
          </p:spPr>
        </p:pic>
        <p:pic>
          <p:nvPicPr>
            <p:cNvPr id="93" name="图片 9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70355" y="3835014"/>
              <a:ext cx="816802" cy="530148"/>
            </a:xfrm>
            <a:prstGeom prst="rect">
              <a:avLst/>
            </a:prstGeom>
          </p:spPr>
        </p:pic>
        <p:pic>
          <p:nvPicPr>
            <p:cNvPr id="94" name="图片 93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35718" y="3734274"/>
              <a:ext cx="816802" cy="530148"/>
            </a:xfrm>
            <a:prstGeom prst="rect">
              <a:avLst/>
            </a:prstGeom>
          </p:spPr>
        </p:pic>
        <p:grpSp>
          <p:nvGrpSpPr>
            <p:cNvPr id="14" name="组合 13"/>
            <p:cNvGrpSpPr/>
            <p:nvPr/>
          </p:nvGrpSpPr>
          <p:grpSpPr>
            <a:xfrm>
              <a:off x="7562497" y="1102069"/>
              <a:ext cx="3721212" cy="5404912"/>
              <a:chOff x="7562497" y="1102069"/>
              <a:chExt cx="3721212" cy="5404912"/>
            </a:xfrm>
          </p:grpSpPr>
          <p:pic>
            <p:nvPicPr>
              <p:cNvPr id="101" name="图片 100"/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66398" b="95156" l="4301" r="95296"/>
                        </a14:imgEffect>
                        <a14:imgEffect>
                          <a14:sharpenSoften amount="-8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62497" y="1102069"/>
                <a:ext cx="3721212" cy="5404912"/>
              </a:xfrm>
              <a:prstGeom prst="rect">
                <a:avLst/>
              </a:prstGeom>
              <a:noFill/>
            </p:spPr>
          </p:pic>
          <p:pic>
            <p:nvPicPr>
              <p:cNvPr id="52" name="图片 51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77335" y="2564801"/>
                <a:ext cx="1097995" cy="675814"/>
              </a:xfrm>
              <a:prstGeom prst="rect">
                <a:avLst/>
              </a:prstGeom>
            </p:spPr>
          </p:pic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887269">
                <a:off x="9149331" y="2253621"/>
                <a:ext cx="1097995" cy="675814"/>
              </a:xfrm>
              <a:prstGeom prst="rect">
                <a:avLst/>
              </a:prstGeom>
            </p:spPr>
          </p:pic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48567" y="2496543"/>
                <a:ext cx="1097995" cy="675814"/>
              </a:xfrm>
              <a:prstGeom prst="rect">
                <a:avLst/>
              </a:prstGeom>
            </p:spPr>
          </p:pic>
          <p:pic>
            <p:nvPicPr>
              <p:cNvPr id="61" name="图片 60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991288">
                <a:off x="8047860" y="2639518"/>
                <a:ext cx="1021340" cy="534643"/>
              </a:xfrm>
              <a:prstGeom prst="rect">
                <a:avLst/>
              </a:prstGeom>
            </p:spPr>
          </p:pic>
        </p:grpSp>
        <p:pic>
          <p:nvPicPr>
            <p:cNvPr id="95" name="图片 9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41007" y="3961434"/>
              <a:ext cx="816802" cy="530148"/>
            </a:xfrm>
            <a:prstGeom prst="rect">
              <a:avLst/>
            </a:prstGeom>
          </p:spPr>
        </p:pic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4205" y="3965106"/>
              <a:ext cx="816802" cy="530148"/>
            </a:xfrm>
            <a:prstGeom prst="rect">
              <a:avLst/>
            </a:prstGeom>
          </p:spPr>
        </p:pic>
        <p:pic>
          <p:nvPicPr>
            <p:cNvPr id="97" name="图片 96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0863" y="3977720"/>
              <a:ext cx="816802" cy="530148"/>
            </a:xfrm>
            <a:prstGeom prst="rect">
              <a:avLst/>
            </a:prstGeom>
          </p:spPr>
        </p:pic>
        <p:pic>
          <p:nvPicPr>
            <p:cNvPr id="98" name="图片 97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51756" y="4008357"/>
              <a:ext cx="816802" cy="5301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071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0332" y="183506"/>
            <a:ext cx="3731101" cy="6024064"/>
            <a:chOff x="7562497" y="1054823"/>
            <a:chExt cx="3721212" cy="5452158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2497" y="1054823"/>
              <a:ext cx="3721212" cy="5404912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982" r="-398" b="33725"/>
            <a:stretch/>
          </p:blipFill>
          <p:spPr>
            <a:xfrm rot="10800000">
              <a:off x="7834547" y="5041605"/>
              <a:ext cx="3141552" cy="1021102"/>
            </a:xfrm>
            <a:prstGeom prst="round2SameRect">
              <a:avLst>
                <a:gd name="adj1" fmla="val 50000"/>
                <a:gd name="adj2" fmla="val 0"/>
              </a:avLst>
            </a:prstGeom>
          </p:spPr>
        </p:pic>
        <p:grpSp>
          <p:nvGrpSpPr>
            <p:cNvPr id="7" name="组合 6"/>
            <p:cNvGrpSpPr/>
            <p:nvPr/>
          </p:nvGrpSpPr>
          <p:grpSpPr>
            <a:xfrm>
              <a:off x="7813081" y="2848057"/>
              <a:ext cx="3163184" cy="485699"/>
              <a:chOff x="3643717" y="2200979"/>
              <a:chExt cx="3163184" cy="485699"/>
            </a:xfrm>
          </p:grpSpPr>
          <p:sp>
            <p:nvSpPr>
              <p:cNvPr id="53" name="弧形 52"/>
              <p:cNvSpPr/>
              <p:nvPr/>
            </p:nvSpPr>
            <p:spPr>
              <a:xfrm>
                <a:off x="3643717" y="2200980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弧形 53"/>
              <p:cNvSpPr/>
              <p:nvPr/>
            </p:nvSpPr>
            <p:spPr>
              <a:xfrm flipH="1">
                <a:off x="3665349" y="2200980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弧形 54"/>
              <p:cNvSpPr/>
              <p:nvPr/>
            </p:nvSpPr>
            <p:spPr>
              <a:xfrm rot="10800000" flipH="1">
                <a:off x="3654450" y="2200979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弧形 55"/>
              <p:cNvSpPr/>
              <p:nvPr/>
            </p:nvSpPr>
            <p:spPr>
              <a:xfrm rot="10800000">
                <a:off x="3665183" y="2200980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椭圆 7"/>
            <p:cNvSpPr/>
            <p:nvPr/>
          </p:nvSpPr>
          <p:spPr>
            <a:xfrm>
              <a:off x="8871631" y="2989478"/>
              <a:ext cx="329610" cy="20285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9489814" y="2956942"/>
              <a:ext cx="329610" cy="20285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10044274" y="2990525"/>
              <a:ext cx="329610" cy="20285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8304027" y="2956942"/>
              <a:ext cx="329610" cy="20285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7817810" y="4132230"/>
              <a:ext cx="3163184" cy="485699"/>
              <a:chOff x="3643717" y="2200979"/>
              <a:chExt cx="3163184" cy="485699"/>
            </a:xfrm>
          </p:grpSpPr>
          <p:sp>
            <p:nvSpPr>
              <p:cNvPr id="49" name="弧形 48"/>
              <p:cNvSpPr/>
              <p:nvPr/>
            </p:nvSpPr>
            <p:spPr>
              <a:xfrm>
                <a:off x="3643717" y="2200980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弧形 49"/>
              <p:cNvSpPr/>
              <p:nvPr/>
            </p:nvSpPr>
            <p:spPr>
              <a:xfrm flipH="1">
                <a:off x="3665349" y="2200980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弧形 50"/>
              <p:cNvSpPr/>
              <p:nvPr/>
            </p:nvSpPr>
            <p:spPr>
              <a:xfrm rot="10800000" flipH="1">
                <a:off x="3654450" y="2200979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弧形 51"/>
              <p:cNvSpPr/>
              <p:nvPr/>
            </p:nvSpPr>
            <p:spPr>
              <a:xfrm rot="10800000">
                <a:off x="3665183" y="2200980"/>
                <a:ext cx="3141552" cy="485698"/>
              </a:xfrm>
              <a:prstGeom prst="arc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" name="椭圆 12"/>
            <p:cNvSpPr/>
            <p:nvPr/>
          </p:nvSpPr>
          <p:spPr>
            <a:xfrm>
              <a:off x="8309833" y="4308425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10397564" y="4395519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0024780" y="4242794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791886" y="4265749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9383231" y="4391530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9082849" y="4262486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9651975" y="4311688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8876065" y="4433688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9945025" y="4421288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9362095" y="4190844"/>
              <a:ext cx="79745" cy="9187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4351" y="3804525"/>
              <a:ext cx="816802" cy="53014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4728" y="4049439"/>
              <a:ext cx="816802" cy="530148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2979" y="3757279"/>
              <a:ext cx="816802" cy="530148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0368" y="3730193"/>
              <a:ext cx="816802" cy="530148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2786" y="3850790"/>
              <a:ext cx="816802" cy="530148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2988" y="3770326"/>
              <a:ext cx="816802" cy="530148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412" y="4112396"/>
              <a:ext cx="816802" cy="530148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0786" y="3775839"/>
              <a:ext cx="816802" cy="530148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53376" y="3901628"/>
              <a:ext cx="816802" cy="530148"/>
            </a:xfrm>
            <a:prstGeom prst="rect">
              <a:avLst/>
            </a:prstGeom>
          </p:spPr>
        </p:pic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0935" y="4031932"/>
              <a:ext cx="816802" cy="530148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9104" y="4037445"/>
              <a:ext cx="816802" cy="530148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29523" y="3937079"/>
              <a:ext cx="816802" cy="530148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6167" y="3967200"/>
              <a:ext cx="816802" cy="530148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0820" y="3831383"/>
              <a:ext cx="816802" cy="530148"/>
            </a:xfrm>
            <a:prstGeom prst="rect">
              <a:avLst/>
            </a:prstGeom>
          </p:spPr>
        </p:pic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70355" y="3835014"/>
              <a:ext cx="816802" cy="530148"/>
            </a:xfrm>
            <a:prstGeom prst="rect">
              <a:avLst/>
            </a:prstGeom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35718" y="3734274"/>
              <a:ext cx="816802" cy="530148"/>
            </a:xfrm>
            <a:prstGeom prst="rect">
              <a:avLst/>
            </a:prstGeom>
          </p:spPr>
        </p:pic>
        <p:grpSp>
          <p:nvGrpSpPr>
            <p:cNvPr id="39" name="组合 38"/>
            <p:cNvGrpSpPr/>
            <p:nvPr/>
          </p:nvGrpSpPr>
          <p:grpSpPr>
            <a:xfrm>
              <a:off x="7562497" y="1102069"/>
              <a:ext cx="3721212" cy="5404912"/>
              <a:chOff x="7562497" y="1102069"/>
              <a:chExt cx="3721212" cy="5404912"/>
            </a:xfrm>
          </p:grpSpPr>
          <p:pic>
            <p:nvPicPr>
              <p:cNvPr id="44" name="图片 43"/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66398" b="95156" l="4301" r="95296"/>
                        </a14:imgEffect>
                        <a14:imgEffect>
                          <a14:sharpenSoften amount="-8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62497" y="1102069"/>
                <a:ext cx="3721212" cy="5404912"/>
              </a:xfrm>
              <a:prstGeom prst="rect">
                <a:avLst/>
              </a:prstGeom>
              <a:noFill/>
            </p:spPr>
          </p:pic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77335" y="2564801"/>
                <a:ext cx="1097995" cy="675814"/>
              </a:xfrm>
              <a:prstGeom prst="rect">
                <a:avLst/>
              </a:prstGeom>
            </p:spPr>
          </p:pic>
          <p:pic>
            <p:nvPicPr>
              <p:cNvPr id="46" name="图片 45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887269">
                <a:off x="9149331" y="2253621"/>
                <a:ext cx="1097995" cy="675814"/>
              </a:xfrm>
              <a:prstGeom prst="rect">
                <a:avLst/>
              </a:prstGeom>
            </p:spPr>
          </p:pic>
          <p:pic>
            <p:nvPicPr>
              <p:cNvPr id="47" name="图片 46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48567" y="2496543"/>
                <a:ext cx="1097995" cy="675814"/>
              </a:xfrm>
              <a:prstGeom prst="rect">
                <a:avLst/>
              </a:prstGeom>
            </p:spPr>
          </p:pic>
          <p:pic>
            <p:nvPicPr>
              <p:cNvPr id="48" name="图片 47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991288">
                <a:off x="8047860" y="2639518"/>
                <a:ext cx="1021340" cy="534643"/>
              </a:xfrm>
              <a:prstGeom prst="rect">
                <a:avLst/>
              </a:prstGeom>
            </p:spPr>
          </p:pic>
        </p:grpSp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41007" y="3961434"/>
              <a:ext cx="816802" cy="530148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4205" y="3965106"/>
              <a:ext cx="816802" cy="530148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0863" y="3977720"/>
              <a:ext cx="816802" cy="530148"/>
            </a:xfrm>
            <a:prstGeom prst="rect">
              <a:avLst/>
            </a:prstGeom>
          </p:spPr>
        </p:pic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51756" y="4008357"/>
              <a:ext cx="816802" cy="530148"/>
            </a:xfrm>
            <a:prstGeom prst="rect">
              <a:avLst/>
            </a:prstGeom>
          </p:spPr>
        </p:pic>
      </p:grpSp>
      <p:cxnSp>
        <p:nvCxnSpPr>
          <p:cNvPr id="61" name="直接箭头连接符 60"/>
          <p:cNvCxnSpPr/>
          <p:nvPr/>
        </p:nvCxnSpPr>
        <p:spPr>
          <a:xfrm flipH="1">
            <a:off x="4190299" y="4466641"/>
            <a:ext cx="3438855" cy="728489"/>
          </a:xfrm>
          <a:prstGeom prst="straightConnector1">
            <a:avLst/>
          </a:prstGeom>
          <a:ln w="63500">
            <a:solidFill>
              <a:srgbClr val="D6009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 flipH="1" flipV="1">
            <a:off x="4190299" y="3406878"/>
            <a:ext cx="3441421" cy="1059763"/>
          </a:xfrm>
          <a:prstGeom prst="straightConnector1">
            <a:avLst/>
          </a:prstGeom>
          <a:ln w="63500">
            <a:solidFill>
              <a:srgbClr val="D60093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4115070" y="1535876"/>
            <a:ext cx="3489960" cy="8409"/>
          </a:xfrm>
          <a:prstGeom prst="straightConnector1">
            <a:avLst/>
          </a:prstGeom>
          <a:ln w="63500">
            <a:solidFill>
              <a:srgbClr val="D6009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 flipH="1">
            <a:off x="4202930" y="1544285"/>
            <a:ext cx="3402101" cy="1352370"/>
          </a:xfrm>
          <a:prstGeom prst="straightConnector1">
            <a:avLst/>
          </a:prstGeom>
          <a:ln w="63500">
            <a:solidFill>
              <a:srgbClr val="D60093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7926251" y="176228"/>
            <a:ext cx="979025" cy="4806357"/>
          </a:xfrm>
          <a:prstGeom prst="rect">
            <a:avLst/>
          </a:prstGeom>
          <a:gradFill flip="none" rotWithShape="1">
            <a:gsLst>
              <a:gs pos="50000">
                <a:srgbClr val="FFC000"/>
              </a:gs>
              <a:gs pos="100000">
                <a:srgbClr val="FF0000"/>
              </a:gs>
            </a:gsLst>
            <a:lin ang="5400000" scaled="1"/>
            <a:tileRect/>
          </a:gradFill>
          <a:ln w="1016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endParaRPr lang="zh-CN" altLang="en-US" sz="5400" b="1" dirty="0"/>
          </a:p>
        </p:txBody>
      </p:sp>
      <p:sp>
        <p:nvSpPr>
          <p:cNvPr id="97" name="椭圆 96"/>
          <p:cNvSpPr/>
          <p:nvPr/>
        </p:nvSpPr>
        <p:spPr>
          <a:xfrm>
            <a:off x="7926251" y="5105256"/>
            <a:ext cx="979025" cy="951534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b="1" dirty="0"/>
          </a:p>
        </p:txBody>
      </p:sp>
      <p:sp>
        <p:nvSpPr>
          <p:cNvPr id="100" name="右大括号 99"/>
          <p:cNvSpPr/>
          <p:nvPr/>
        </p:nvSpPr>
        <p:spPr>
          <a:xfrm>
            <a:off x="9115432" y="261220"/>
            <a:ext cx="770421" cy="2698293"/>
          </a:xfrm>
          <a:prstGeom prst="rightBrace">
            <a:avLst>
              <a:gd name="adj1" fmla="val 55503"/>
              <a:gd name="adj2" fmla="val 50229"/>
            </a:avLst>
          </a:prstGeom>
          <a:ln w="38100" cap="sq" cmpd="sng">
            <a:solidFill>
              <a:schemeClr val="accent1">
                <a:lumMod val="75000"/>
              </a:schemeClr>
            </a:solidFill>
            <a:prstDash val="solid"/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文本框 100"/>
          <p:cNvSpPr txBox="1"/>
          <p:nvPr/>
        </p:nvSpPr>
        <p:spPr>
          <a:xfrm>
            <a:off x="9965924" y="1148701"/>
            <a:ext cx="1916764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5400" b="1" dirty="0" smtClean="0">
                <a:solidFill>
                  <a:srgbClr val="FF9933"/>
                </a:solidFill>
              </a:rPr>
              <a:t>47.4%</a:t>
            </a:r>
            <a:endParaRPr lang="zh-CN" altLang="en-US" sz="5400" b="1" dirty="0">
              <a:solidFill>
                <a:srgbClr val="FF9933"/>
              </a:solidFill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5653225" y="694704"/>
            <a:ext cx="6046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CN" sz="5400" b="1" cap="none" spc="0" dirty="0" smtClean="0">
                <a:ln/>
                <a:solidFill>
                  <a:srgbClr val="0033CC"/>
                </a:solidFill>
                <a:effectLst/>
              </a:rPr>
              <a:t>A</a:t>
            </a:r>
            <a:endParaRPr lang="zh-CN" altLang="en-US" sz="5400" b="1" cap="none" spc="0" dirty="0">
              <a:ln/>
              <a:solidFill>
                <a:srgbClr val="0033CC"/>
              </a:solidFill>
              <a:effectLst/>
            </a:endParaRPr>
          </a:p>
        </p:txBody>
      </p:sp>
      <p:sp>
        <p:nvSpPr>
          <p:cNvPr id="105" name="矩形 104"/>
          <p:cNvSpPr/>
          <p:nvPr/>
        </p:nvSpPr>
        <p:spPr>
          <a:xfrm rot="19952362">
            <a:off x="5716326" y="1937136"/>
            <a:ext cx="87556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CN" sz="6000" b="1" cap="none" spc="0" dirty="0" smtClean="0">
                <a:ln/>
                <a:solidFill>
                  <a:srgbClr val="0033CC"/>
                </a:solidFill>
                <a:effectLst/>
              </a:rPr>
              <a:t>B</a:t>
            </a:r>
            <a:r>
              <a:rPr lang="en-US" altLang="zh-CN" sz="6000" b="1" cap="none" spc="0" baseline="-16000" dirty="0" smtClean="0">
                <a:ln/>
                <a:solidFill>
                  <a:srgbClr val="0033CC"/>
                </a:solidFill>
                <a:effectLst/>
              </a:rPr>
              <a:t>1</a:t>
            </a:r>
            <a:endParaRPr lang="zh-CN" altLang="en-US" sz="6000" b="1" cap="none" spc="0" baseline="-16000" dirty="0">
              <a:ln/>
              <a:solidFill>
                <a:srgbClr val="0033CC"/>
              </a:solidFill>
              <a:effectLst/>
            </a:endParaRPr>
          </a:p>
        </p:txBody>
      </p:sp>
      <p:sp>
        <p:nvSpPr>
          <p:cNvPr id="106" name="矩形 105"/>
          <p:cNvSpPr/>
          <p:nvPr/>
        </p:nvSpPr>
        <p:spPr>
          <a:xfrm rot="1069312">
            <a:off x="5695433" y="3022282"/>
            <a:ext cx="87556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CN" sz="6000" b="1" cap="none" spc="0" dirty="0" smtClean="0">
                <a:ln/>
                <a:solidFill>
                  <a:srgbClr val="0033CC"/>
                </a:solidFill>
                <a:effectLst/>
              </a:rPr>
              <a:t>B</a:t>
            </a:r>
            <a:r>
              <a:rPr lang="en-US" altLang="zh-CN" sz="6000" b="1" baseline="-16000" dirty="0">
                <a:ln/>
                <a:solidFill>
                  <a:srgbClr val="0033CC"/>
                </a:solidFill>
              </a:rPr>
              <a:t>2</a:t>
            </a:r>
            <a:endParaRPr lang="zh-CN" altLang="en-US" sz="6000" b="1" cap="none" spc="0" baseline="-16000" dirty="0">
              <a:ln/>
              <a:solidFill>
                <a:srgbClr val="0033CC"/>
              </a:solidFill>
              <a:effectLst/>
            </a:endParaRPr>
          </a:p>
        </p:txBody>
      </p:sp>
      <p:sp>
        <p:nvSpPr>
          <p:cNvPr id="107" name="矩形 106"/>
          <p:cNvSpPr/>
          <p:nvPr/>
        </p:nvSpPr>
        <p:spPr>
          <a:xfrm rot="20522874">
            <a:off x="5776886" y="4724930"/>
            <a:ext cx="5517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CN" sz="5400" b="1" cap="none" spc="0" dirty="0" smtClean="0">
                <a:ln/>
                <a:solidFill>
                  <a:srgbClr val="0033CC"/>
                </a:solidFill>
                <a:effectLst/>
              </a:rPr>
              <a:t>C</a:t>
            </a:r>
            <a:endParaRPr lang="zh-CN" altLang="en-US" sz="5400" b="1" cap="none" spc="0" dirty="0">
              <a:ln/>
              <a:solidFill>
                <a:srgbClr val="0033CC"/>
              </a:solidFill>
              <a:effectLst/>
            </a:endParaRPr>
          </a:p>
        </p:txBody>
      </p:sp>
      <p:sp>
        <p:nvSpPr>
          <p:cNvPr id="112" name="右大括号 111"/>
          <p:cNvSpPr/>
          <p:nvPr/>
        </p:nvSpPr>
        <p:spPr>
          <a:xfrm>
            <a:off x="9108492" y="2959513"/>
            <a:ext cx="668036" cy="3097277"/>
          </a:xfrm>
          <a:prstGeom prst="rightBrace">
            <a:avLst>
              <a:gd name="adj1" fmla="val 55503"/>
              <a:gd name="adj2" fmla="val 51348"/>
            </a:avLst>
          </a:prstGeom>
          <a:ln w="38100" cap="sq" cmpd="sng">
            <a:solidFill>
              <a:schemeClr val="accent1">
                <a:lumMod val="75000"/>
              </a:schemeClr>
            </a:solidFill>
            <a:prstDash val="solid"/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文本框 112"/>
          <p:cNvSpPr txBox="1"/>
          <p:nvPr/>
        </p:nvSpPr>
        <p:spPr>
          <a:xfrm>
            <a:off x="9885853" y="4115596"/>
            <a:ext cx="221726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5400" b="1" dirty="0" smtClean="0">
                <a:solidFill>
                  <a:srgbClr val="FF0000"/>
                </a:solidFill>
              </a:rPr>
              <a:t>52.6%</a:t>
            </a:r>
            <a:endParaRPr lang="zh-CN" altLang="en-US" sz="5400" b="1" dirty="0">
              <a:solidFill>
                <a:srgbClr val="FF0000"/>
              </a:solidFill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184930" y="374190"/>
            <a:ext cx="461665" cy="25853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5400" b="1" dirty="0" smtClean="0">
                <a:solidFill>
                  <a:schemeClr val="accent6">
                    <a:lumMod val="75000"/>
                  </a:schemeClr>
                </a:solidFill>
              </a:rPr>
              <a:t>P</a:t>
            </a:r>
          </a:p>
          <a:p>
            <a:pPr algn="ctr"/>
            <a:r>
              <a:rPr lang="en-US" altLang="zh-CN" sz="5400" b="1" dirty="0" smtClean="0">
                <a:solidFill>
                  <a:schemeClr val="accent6">
                    <a:lumMod val="75000"/>
                  </a:schemeClr>
                </a:solidFill>
              </a:rPr>
              <a:t>U</a:t>
            </a:r>
          </a:p>
          <a:p>
            <a:pPr algn="ctr"/>
            <a:r>
              <a:rPr lang="en-US" altLang="zh-CN" sz="5400" b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endParaRPr lang="zh-CN" altLang="en-US" sz="5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18" name="直接连接符 117"/>
          <p:cNvCxnSpPr/>
          <p:nvPr/>
        </p:nvCxnSpPr>
        <p:spPr>
          <a:xfrm>
            <a:off x="8012028" y="2959513"/>
            <a:ext cx="999461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本框 123"/>
          <p:cNvSpPr txBox="1"/>
          <p:nvPr/>
        </p:nvSpPr>
        <p:spPr>
          <a:xfrm>
            <a:off x="8044072" y="3025267"/>
            <a:ext cx="7310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</a:t>
            </a:r>
          </a:p>
        </p:txBody>
      </p:sp>
      <p:sp>
        <p:nvSpPr>
          <p:cNvPr id="125" name="文本框 124"/>
          <p:cNvSpPr txBox="1"/>
          <p:nvPr/>
        </p:nvSpPr>
        <p:spPr>
          <a:xfrm>
            <a:off x="8114378" y="3947932"/>
            <a:ext cx="590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</a:t>
            </a:r>
            <a:endParaRPr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8114376" y="5119358"/>
            <a:ext cx="590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L</a:t>
            </a:r>
            <a:endParaRPr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465205" y="6257593"/>
            <a:ext cx="10624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Source: </a:t>
            </a:r>
            <a:r>
              <a:rPr lang="en-US" altLang="zh-CN" sz="2400" dirty="0">
                <a:hlinkClick r:id="rId12"/>
              </a:rPr>
              <a:t>https://www.safetydetective.com/blog/malware-statistics</a:t>
            </a:r>
            <a:r>
              <a:rPr lang="en-US" altLang="zh-CN" sz="2400" dirty="0" smtClean="0">
                <a:hlinkClick r:id="rId12"/>
              </a:rPr>
              <a:t>/</a:t>
            </a:r>
            <a:r>
              <a:rPr lang="en-US" altLang="zh-CN" sz="2400" dirty="0" smtClean="0"/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30029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>
            <a:off x="627496" y="-107054"/>
            <a:ext cx="2260555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6000" b="1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  U  A</a:t>
            </a:r>
            <a:endParaRPr lang="zh-CN" altLang="en-US" sz="6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9" name="直接连接符 58"/>
          <p:cNvCxnSpPr/>
          <p:nvPr/>
        </p:nvCxnSpPr>
        <p:spPr>
          <a:xfrm>
            <a:off x="407333" y="881553"/>
            <a:ext cx="2700880" cy="0"/>
          </a:xfrm>
          <a:prstGeom prst="line">
            <a:avLst/>
          </a:prstGeom>
          <a:ln w="127000" cmpd="tri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6" name="表格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146071"/>
              </p:ext>
            </p:extLst>
          </p:nvPr>
        </p:nvGraphicFramePr>
        <p:xfrm>
          <a:off x="407333" y="1151488"/>
          <a:ext cx="11483373" cy="5174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4918"/>
                <a:gridCol w="1722474"/>
                <a:gridCol w="230410"/>
                <a:gridCol w="1417637"/>
                <a:gridCol w="2371060"/>
                <a:gridCol w="2636874"/>
              </a:tblGrid>
              <a:tr h="9046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 smtClean="0"/>
                        <a:t>Full Name</a:t>
                      </a:r>
                      <a:endParaRPr lang="zh-CN" altLang="en-US" sz="3200" b="1" dirty="0"/>
                    </a:p>
                  </a:txBody>
                  <a:tcPr anchor="ctr" anchorCtr="1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3200" b="1" dirty="0" smtClean="0"/>
                        <a:t>Potentially unwanted application</a:t>
                      </a:r>
                      <a:endParaRPr lang="zh-CN" altLang="en-US" sz="3200" b="1" dirty="0"/>
                    </a:p>
                  </a:txBody>
                  <a:tcPr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9662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 smtClean="0"/>
                        <a:t>Aliases</a:t>
                      </a:r>
                      <a:endParaRPr lang="zh-CN" altLang="en-US" sz="3200" b="1" dirty="0"/>
                    </a:p>
                  </a:txBody>
                  <a:tcPr anchor="ctr" anchorCtr="1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3200" b="1" dirty="0" err="1" smtClean="0"/>
                        <a:t>Grayware</a:t>
                      </a:r>
                      <a:endParaRPr lang="zh-CN" altLang="en-US" sz="3200" b="1" dirty="0"/>
                    </a:p>
                  </a:txBody>
                  <a:tcPr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dirty="0" smtClean="0"/>
                        <a:t>PUP(Potentially unwanted program)</a:t>
                      </a:r>
                      <a:endParaRPr lang="zh-CN" altLang="en-US" sz="3200" b="1" dirty="0" smtClean="0"/>
                    </a:p>
                  </a:txBody>
                  <a:tcPr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49759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 smtClean="0"/>
                        <a:t>Main Types</a:t>
                      </a:r>
                      <a:endParaRPr lang="zh-CN" altLang="en-US" sz="3200" b="1" dirty="0"/>
                    </a:p>
                  </a:txBody>
                  <a:tcPr anchor="ctr" anchorCtr="1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 smtClean="0"/>
                        <a:t>Spyware</a:t>
                      </a:r>
                      <a:endParaRPr lang="zh-CN" altLang="en-US" sz="3200" b="1" dirty="0"/>
                    </a:p>
                  </a:txBody>
                  <a:tcPr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3200" b="1" baseline="0" dirty="0" smtClean="0"/>
                        <a:t>Adware</a:t>
                      </a:r>
                      <a:endParaRPr lang="zh-CN" altLang="en-US" sz="3200" b="1" dirty="0"/>
                    </a:p>
                  </a:txBody>
                  <a:tcPr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baseline="0" dirty="0" smtClean="0"/>
                        <a:t>Fraudulent dialers </a:t>
                      </a:r>
                      <a:endParaRPr lang="zh-CN" altLang="en-US" sz="3200" b="1" dirty="0" smtClean="0"/>
                    </a:p>
                  </a:txBody>
                  <a:tcPr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 smtClean="0"/>
                        <a:t>Remote</a:t>
                      </a:r>
                      <a:r>
                        <a:rPr lang="en-US" altLang="zh-CN" sz="3200" b="1" baseline="0" dirty="0" smtClean="0"/>
                        <a:t> access tools</a:t>
                      </a:r>
                      <a:endParaRPr lang="zh-CN" altLang="en-US" sz="3200" b="1" dirty="0"/>
                    </a:p>
                  </a:txBody>
                  <a:tcPr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131">
                <a:tc row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Difference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altLang="zh-CN" sz="3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with malware</a:t>
                      </a:r>
                      <a:endParaRPr lang="zh-CN" altLang="en-US" sz="3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3200" b="1" dirty="0" smtClean="0"/>
                        <a:t>Less serious</a:t>
                      </a:r>
                      <a:endParaRPr lang="zh-CN" altLang="en-US" sz="3200" b="1" dirty="0"/>
                    </a:p>
                  </a:txBody>
                  <a:tcPr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021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3200" b="1" dirty="0" smtClean="0"/>
                        <a:t>Less troublesome</a:t>
                      </a:r>
                      <a:endParaRPr lang="zh-CN" altLang="en-US" sz="3200" b="1" dirty="0"/>
                    </a:p>
                  </a:txBody>
                  <a:tcPr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021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3200" b="1" dirty="0" smtClean="0"/>
                        <a:t>Merely</a:t>
                      </a:r>
                      <a:r>
                        <a:rPr lang="en-US" altLang="zh-CN" sz="3200" b="1" baseline="0" dirty="0" smtClean="0"/>
                        <a:t> bring security risks </a:t>
                      </a:r>
                      <a:endParaRPr lang="zh-CN" altLang="en-US" sz="3200" b="1" dirty="0"/>
                    </a:p>
                  </a:txBody>
                  <a:tcPr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089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230530" y="150218"/>
            <a:ext cx="8792309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60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Q:   What is malware ?</a:t>
            </a:r>
            <a:endParaRPr lang="zh-CN" altLang="en-US" sz="60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7971" y="1271436"/>
            <a:ext cx="10762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ea typeface="Cambria" panose="02040503050406030204" pitchFamily="18" charset="0"/>
              </a:rPr>
              <a:t> R</a:t>
            </a:r>
            <a:r>
              <a:rPr lang="en-US" altLang="zh-CN" sz="6000" b="1" dirty="0" smtClean="0"/>
              <a:t>:</a:t>
            </a:r>
            <a:endParaRPr lang="zh-CN" altLang="en-US" sz="2400" b="1" dirty="0"/>
          </a:p>
        </p:txBody>
      </p:sp>
      <p:grpSp>
        <p:nvGrpSpPr>
          <p:cNvPr id="44" name="组合 43"/>
          <p:cNvGrpSpPr/>
          <p:nvPr/>
        </p:nvGrpSpPr>
        <p:grpSpPr>
          <a:xfrm>
            <a:off x="1693552" y="1438754"/>
            <a:ext cx="5111283" cy="4562719"/>
            <a:chOff x="2767442" y="1491917"/>
            <a:chExt cx="5458331" cy="4562719"/>
          </a:xfrm>
        </p:grpSpPr>
        <p:sp>
          <p:nvSpPr>
            <p:cNvPr id="10" name="文本框 9"/>
            <p:cNvSpPr txBox="1"/>
            <p:nvPr/>
          </p:nvSpPr>
          <p:spPr>
            <a:xfrm>
              <a:off x="5078538" y="2730648"/>
              <a:ext cx="21345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>
                  <a:solidFill>
                    <a:prstClr val="black"/>
                  </a:solidFill>
                </a:rPr>
                <a:t>Hostile</a:t>
              </a:r>
              <a:endParaRPr lang="zh-CN" altLang="en-US" sz="2400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078537" y="5223639"/>
              <a:ext cx="24599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/>
                <a:t>Nasty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078537" y="3561645"/>
              <a:ext cx="282145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/>
                <a:t>Intrusive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078537" y="4392642"/>
              <a:ext cx="31472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/>
                <a:t>Intentional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67442" y="1491917"/>
              <a:ext cx="326691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4800" b="1" dirty="0">
                  <a:solidFill>
                    <a:srgbClr val="ED7D31">
                      <a:lumMod val="75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Phenotype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肘形连接符 15"/>
            <p:cNvCxnSpPr>
              <a:stCxn id="14" idx="2"/>
              <a:endCxn id="10" idx="1"/>
            </p:cNvCxnSpPr>
            <p:nvPr/>
          </p:nvCxnSpPr>
          <p:spPr>
            <a:xfrm rot="16200000" flipH="1">
              <a:off x="4328103" y="2395711"/>
              <a:ext cx="823233" cy="677637"/>
            </a:xfrm>
            <a:prstGeom prst="bentConnector2">
              <a:avLst/>
            </a:prstGeom>
            <a:ln w="539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肘形连接符 19"/>
            <p:cNvCxnSpPr>
              <a:stCxn id="14" idx="2"/>
              <a:endCxn id="12" idx="1"/>
            </p:cNvCxnSpPr>
            <p:nvPr/>
          </p:nvCxnSpPr>
          <p:spPr>
            <a:xfrm rot="16200000" flipH="1">
              <a:off x="3912603" y="2811210"/>
              <a:ext cx="1654230" cy="677636"/>
            </a:xfrm>
            <a:prstGeom prst="bentConnector2">
              <a:avLst/>
            </a:prstGeom>
            <a:ln w="539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肘形连接符 21"/>
            <p:cNvCxnSpPr>
              <a:stCxn id="14" idx="2"/>
              <a:endCxn id="13" idx="1"/>
            </p:cNvCxnSpPr>
            <p:nvPr/>
          </p:nvCxnSpPr>
          <p:spPr>
            <a:xfrm rot="16200000" flipH="1">
              <a:off x="3497105" y="3226708"/>
              <a:ext cx="2485227" cy="677636"/>
            </a:xfrm>
            <a:prstGeom prst="bentConnector2">
              <a:avLst/>
            </a:prstGeom>
            <a:ln w="539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肘形连接符 23"/>
            <p:cNvCxnSpPr>
              <a:stCxn id="14" idx="2"/>
              <a:endCxn id="11" idx="1"/>
            </p:cNvCxnSpPr>
            <p:nvPr/>
          </p:nvCxnSpPr>
          <p:spPr>
            <a:xfrm rot="16200000" flipH="1">
              <a:off x="3081606" y="3642207"/>
              <a:ext cx="3316224" cy="677636"/>
            </a:xfrm>
            <a:prstGeom prst="bentConnector2">
              <a:avLst/>
            </a:prstGeom>
            <a:ln w="539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文本框 48"/>
          <p:cNvSpPr txBox="1"/>
          <p:nvPr/>
        </p:nvSpPr>
        <p:spPr>
          <a:xfrm>
            <a:off x="6499765" y="1470093"/>
            <a:ext cx="3083349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zh-CN" sz="4800" b="1" dirty="0" smtClean="0">
                <a:solidFill>
                  <a:srgbClr val="66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Targets</a:t>
            </a:r>
          </a:p>
        </p:txBody>
      </p:sp>
      <p:cxnSp>
        <p:nvCxnSpPr>
          <p:cNvPr id="54" name="肘形连接符 53"/>
          <p:cNvCxnSpPr>
            <a:stCxn id="49" idx="2"/>
            <a:endCxn id="64" idx="1"/>
          </p:cNvCxnSpPr>
          <p:nvPr/>
        </p:nvCxnSpPr>
        <p:spPr>
          <a:xfrm rot="16200000" flipH="1">
            <a:off x="7989075" y="2353454"/>
            <a:ext cx="726089" cy="621359"/>
          </a:xfrm>
          <a:prstGeom prst="bentConnector2">
            <a:avLst/>
          </a:prstGeom>
          <a:ln w="539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8662799" y="3576194"/>
            <a:ext cx="2404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Network</a:t>
            </a:r>
            <a:endParaRPr lang="zh-CN" altLang="en-US" sz="4800" dirty="0"/>
          </a:p>
        </p:txBody>
      </p:sp>
      <p:sp>
        <p:nvSpPr>
          <p:cNvPr id="63" name="文本框 62"/>
          <p:cNvSpPr txBox="1"/>
          <p:nvPr/>
        </p:nvSpPr>
        <p:spPr>
          <a:xfrm>
            <a:off x="8653443" y="4540708"/>
            <a:ext cx="22978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System</a:t>
            </a:r>
            <a:endParaRPr lang="zh-CN" altLang="en-US" sz="4800" dirty="0"/>
          </a:p>
        </p:txBody>
      </p:sp>
      <p:sp>
        <p:nvSpPr>
          <p:cNvPr id="64" name="文本框 63"/>
          <p:cNvSpPr txBox="1"/>
          <p:nvPr/>
        </p:nvSpPr>
        <p:spPr>
          <a:xfrm>
            <a:off x="8662799" y="2611680"/>
            <a:ext cx="1840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smtClean="0"/>
              <a:t>Files</a:t>
            </a:r>
            <a:endParaRPr lang="zh-CN" altLang="en-US" sz="4800" dirty="0"/>
          </a:p>
        </p:txBody>
      </p:sp>
      <p:cxnSp>
        <p:nvCxnSpPr>
          <p:cNvPr id="65" name="肘形连接符 64"/>
          <p:cNvCxnSpPr>
            <a:stCxn id="49" idx="2"/>
            <a:endCxn id="62" idx="1"/>
          </p:cNvCxnSpPr>
          <p:nvPr/>
        </p:nvCxnSpPr>
        <p:spPr>
          <a:xfrm rot="16200000" flipH="1">
            <a:off x="7506818" y="2835711"/>
            <a:ext cx="1690603" cy="621359"/>
          </a:xfrm>
          <a:prstGeom prst="bentConnector2">
            <a:avLst/>
          </a:prstGeom>
          <a:ln w="539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连接符 66"/>
          <p:cNvCxnSpPr>
            <a:stCxn id="49" idx="2"/>
            <a:endCxn id="63" idx="1"/>
          </p:cNvCxnSpPr>
          <p:nvPr/>
        </p:nvCxnSpPr>
        <p:spPr>
          <a:xfrm rot="16200000" flipH="1">
            <a:off x="7019883" y="3322646"/>
            <a:ext cx="2655117" cy="612003"/>
          </a:xfrm>
          <a:prstGeom prst="bentConnector2">
            <a:avLst/>
          </a:prstGeom>
          <a:ln w="539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45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71646" y="1789743"/>
            <a:ext cx="96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i="1" dirty="0" smtClean="0">
                <a:solidFill>
                  <a:schemeClr val="bg2">
                    <a:lumMod val="50000"/>
                  </a:schemeClr>
                </a:solidFill>
              </a:rPr>
              <a:t>C</a:t>
            </a:r>
            <a:r>
              <a:rPr lang="en-GB" altLang="zh-CN" sz="6000" i="1" dirty="0" err="1" smtClean="0">
                <a:solidFill>
                  <a:schemeClr val="bg2">
                    <a:lumMod val="50000"/>
                  </a:schemeClr>
                </a:solidFill>
              </a:rPr>
              <a:t>lear</a:t>
            </a:r>
            <a:r>
              <a:rPr lang="en-GB" altLang="zh-CN" sz="6000" i="1" dirty="0" smtClean="0">
                <a:solidFill>
                  <a:schemeClr val="bg2">
                    <a:lumMod val="50000"/>
                  </a:schemeClr>
                </a:solidFill>
              </a:rPr>
              <a:t>   boundaries ?</a:t>
            </a:r>
            <a:endParaRPr lang="zh-CN" altLang="en-US" sz="6000" i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0" y="3122255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0" y="3423544"/>
            <a:ext cx="12192000" cy="1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0" y="2950564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0" y="3558647"/>
            <a:ext cx="12192000" cy="16565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-2760561" y="3724833"/>
            <a:ext cx="96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6000" i="1" dirty="0" smtClean="0">
                <a:solidFill>
                  <a:schemeClr val="bg2">
                    <a:lumMod val="50000"/>
                    <a:alpha val="29000"/>
                  </a:schemeClr>
                </a:solidFill>
              </a:rPr>
              <a:t>Vague </a:t>
            </a:r>
            <a:r>
              <a:rPr lang="en-GB" altLang="zh-CN" sz="6000" i="1" dirty="0" smtClean="0">
                <a:solidFill>
                  <a:schemeClr val="bg2">
                    <a:lumMod val="50000"/>
                    <a:alpha val="29000"/>
                  </a:schemeClr>
                </a:solidFill>
              </a:rPr>
              <a:t>boundaries ?</a:t>
            </a:r>
            <a:endParaRPr lang="zh-CN" altLang="en-US" sz="6000" i="1" dirty="0">
              <a:solidFill>
                <a:schemeClr val="bg2">
                  <a:lumMod val="50000"/>
                  <a:alpha val="29000"/>
                </a:schemeClr>
              </a:soli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653" y="284842"/>
            <a:ext cx="3270469" cy="2452852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653" y="4039564"/>
            <a:ext cx="3333214" cy="248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228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243068" y="106553"/>
            <a:ext cx="5046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 smtClean="0"/>
              <a:t>2019        SANER</a:t>
            </a:r>
            <a:endParaRPr lang="zh-CN" altLang="en-US" sz="4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04172" y="1020502"/>
            <a:ext cx="10463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“Should </a:t>
            </a:r>
            <a:r>
              <a:rPr lang="en-US" altLang="zh-CN" sz="3200" dirty="0"/>
              <a:t>You Consider Adware </a:t>
            </a:r>
            <a:r>
              <a:rPr lang="en-US" altLang="zh-CN" sz="3200" dirty="0" smtClean="0"/>
              <a:t>as </a:t>
            </a:r>
            <a:r>
              <a:rPr lang="en-US" altLang="zh-CN" sz="3200" dirty="0"/>
              <a:t>Malware in </a:t>
            </a:r>
            <a:r>
              <a:rPr lang="en-US" altLang="zh-CN" sz="3200" dirty="0" smtClean="0"/>
              <a:t>Your Study?”</a:t>
            </a:r>
            <a:endParaRPr lang="zh-CN" altLang="en-US" sz="3200" dirty="0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0" y="1665079"/>
            <a:ext cx="10162572" cy="2315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0" y="1805904"/>
            <a:ext cx="10162572" cy="2315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076" y="1977606"/>
            <a:ext cx="9774700" cy="202497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/>
          <a:srcRect l="-2" t="24659" r="-178"/>
          <a:stretch/>
        </p:blipFill>
        <p:spPr>
          <a:xfrm>
            <a:off x="1180616" y="4704801"/>
            <a:ext cx="9711160" cy="813056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80397" y="5831867"/>
            <a:ext cx="4155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( 26 ad families in total )</a:t>
            </a:r>
            <a:endParaRPr lang="zh-CN" altLang="en-US" sz="2800" dirty="0"/>
          </a:p>
        </p:txBody>
      </p:sp>
      <p:sp>
        <p:nvSpPr>
          <p:cNvPr id="17" name="文本框 16"/>
          <p:cNvSpPr txBox="1"/>
          <p:nvPr/>
        </p:nvSpPr>
        <p:spPr>
          <a:xfrm>
            <a:off x="3216858" y="4172355"/>
            <a:ext cx="800219" cy="4051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000" dirty="0" smtClean="0"/>
              <a:t>…</a:t>
            </a:r>
            <a:endParaRPr lang="zh-CN" altLang="en-US" sz="4000" dirty="0"/>
          </a:p>
        </p:txBody>
      </p:sp>
      <p:sp>
        <p:nvSpPr>
          <p:cNvPr id="18" name="文本框 17"/>
          <p:cNvSpPr txBox="1"/>
          <p:nvPr/>
        </p:nvSpPr>
        <p:spPr>
          <a:xfrm>
            <a:off x="4535710" y="4172355"/>
            <a:ext cx="800219" cy="4051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000" dirty="0" smtClean="0"/>
              <a:t>…</a:t>
            </a:r>
            <a:endParaRPr lang="zh-CN" altLang="en-US" sz="4000" dirty="0"/>
          </a:p>
        </p:txBody>
      </p:sp>
      <p:sp>
        <p:nvSpPr>
          <p:cNvPr id="19" name="文本框 18"/>
          <p:cNvSpPr txBox="1"/>
          <p:nvPr/>
        </p:nvSpPr>
        <p:spPr>
          <a:xfrm>
            <a:off x="5900861" y="4151135"/>
            <a:ext cx="800219" cy="4051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000" dirty="0" smtClean="0"/>
              <a:t>…</a:t>
            </a:r>
            <a:endParaRPr lang="zh-CN" altLang="en-US" sz="4000" dirty="0"/>
          </a:p>
        </p:txBody>
      </p:sp>
      <p:sp>
        <p:nvSpPr>
          <p:cNvPr id="20" name="文本框 19"/>
          <p:cNvSpPr txBox="1"/>
          <p:nvPr/>
        </p:nvSpPr>
        <p:spPr>
          <a:xfrm>
            <a:off x="9586130" y="4206324"/>
            <a:ext cx="800219" cy="4051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000" dirty="0" smtClean="0"/>
              <a:t>…</a:t>
            </a:r>
            <a:endParaRPr lang="zh-CN" altLang="en-US" sz="4000" dirty="0"/>
          </a:p>
        </p:txBody>
      </p:sp>
      <p:sp>
        <p:nvSpPr>
          <p:cNvPr id="21" name="文本框 20"/>
          <p:cNvSpPr txBox="1"/>
          <p:nvPr/>
        </p:nvSpPr>
        <p:spPr>
          <a:xfrm>
            <a:off x="7731259" y="4151135"/>
            <a:ext cx="800219" cy="4051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000" dirty="0" smtClean="0"/>
              <a:t>…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830726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465406" y="475308"/>
            <a:ext cx="7326776" cy="534675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endParaRPr lang="en-US" altLang="zh-CN" sz="6000" b="1" dirty="0" smtClean="0">
              <a:solidFill>
                <a:schemeClr val="tx1"/>
              </a:solidFill>
            </a:endParaRPr>
          </a:p>
          <a:p>
            <a:pPr algn="ctr"/>
            <a:endParaRPr lang="en-US" altLang="zh-CN" sz="60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6000" b="1" dirty="0" smtClean="0">
                <a:solidFill>
                  <a:srgbClr val="FFC000"/>
                </a:solidFill>
              </a:rPr>
              <a:t>P     U     A</a:t>
            </a:r>
            <a:endParaRPr lang="zh-CN" altLang="en-US" sz="6000" b="1" dirty="0">
              <a:solidFill>
                <a:srgbClr val="FFC000"/>
              </a:solidFill>
            </a:endParaRPr>
          </a:p>
        </p:txBody>
      </p:sp>
      <p:sp>
        <p:nvSpPr>
          <p:cNvPr id="2" name="椭圆 1"/>
          <p:cNvSpPr/>
          <p:nvPr/>
        </p:nvSpPr>
        <p:spPr>
          <a:xfrm>
            <a:off x="3383057" y="475308"/>
            <a:ext cx="5491473" cy="2765604"/>
          </a:xfrm>
          <a:prstGeom prst="ellipse">
            <a:avLst/>
          </a:prstGeom>
          <a:solidFill>
            <a:srgbClr val="6666FF">
              <a:alpha val="29000"/>
            </a:srgbClr>
          </a:solidFill>
          <a:ln w="317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0" dirty="0" smtClean="0">
                <a:solidFill>
                  <a:srgbClr val="FF0000"/>
                </a:solidFill>
              </a:rPr>
              <a:t>Malware</a:t>
            </a:r>
            <a:endParaRPr lang="zh-CN" altLang="en-US" sz="8000" dirty="0">
              <a:solidFill>
                <a:srgbClr val="FF0000"/>
              </a:solidFill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1527858" y="1903849"/>
            <a:ext cx="2615878" cy="382338"/>
          </a:xfrm>
          <a:prstGeom prst="rightArrow">
            <a:avLst/>
          </a:prstGeom>
          <a:solidFill>
            <a:srgbClr val="33CC33"/>
          </a:solidFill>
          <a:ln cmpd="dbl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右箭头 4"/>
          <p:cNvSpPr/>
          <p:nvPr/>
        </p:nvSpPr>
        <p:spPr>
          <a:xfrm>
            <a:off x="1527858" y="1470545"/>
            <a:ext cx="2615878" cy="382338"/>
          </a:xfrm>
          <a:prstGeom prst="rightArrow">
            <a:avLst/>
          </a:prstGeom>
          <a:solidFill>
            <a:srgbClr val="33CC33"/>
          </a:solidFill>
          <a:ln cmpd="dbl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48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968" y="867374"/>
            <a:ext cx="8772031" cy="540771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7781" y="159488"/>
            <a:ext cx="5858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smtClean="0"/>
              <a:t>Semantic field of Malware</a:t>
            </a:r>
            <a:endParaRPr lang="zh-CN" altLang="en-US" sz="4000" b="1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167781" y="899271"/>
            <a:ext cx="5754554" cy="0"/>
          </a:xfrm>
          <a:prstGeom prst="line">
            <a:avLst/>
          </a:prstGeom>
          <a:ln w="63500" cap="sq" cmpd="dbl">
            <a:solidFill>
              <a:schemeClr val="accent1">
                <a:alpha val="75000"/>
              </a:schemeClr>
            </a:solidFill>
            <a:prstDash val="solid"/>
            <a:round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284382" y="6345052"/>
            <a:ext cx="682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/>
              <a:t>Source: </a:t>
            </a:r>
            <a:r>
              <a:rPr lang="en-US" altLang="zh-CN" sz="2400" dirty="0" smtClean="0"/>
              <a:t>https://www.123rf.com/profile_olechowski</a:t>
            </a:r>
            <a:endParaRPr lang="zh-CN" alt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167781" y="1095153"/>
            <a:ext cx="2905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/>
              <a:t>Key words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14652" y="1741484"/>
            <a:ext cx="2940930" cy="5024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Hacker</a:t>
            </a:r>
          </a:p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</a:p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Infection, infected</a:t>
            </a:r>
          </a:p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Intruder</a:t>
            </a:r>
          </a:p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Firewall</a:t>
            </a:r>
          </a:p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</a:p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Phishing</a:t>
            </a:r>
          </a:p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Spam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Spyware</a:t>
            </a:r>
          </a:p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Trojan</a:t>
            </a:r>
          </a:p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Virus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16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36016" y="160609"/>
            <a:ext cx="5858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smtClean="0"/>
              <a:t>Coarse Categories</a:t>
            </a:r>
            <a:endParaRPr lang="zh-CN" altLang="en-US" sz="4000" b="1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167781" y="899271"/>
            <a:ext cx="5754554" cy="0"/>
          </a:xfrm>
          <a:prstGeom prst="line">
            <a:avLst/>
          </a:prstGeom>
          <a:ln w="63500" cap="sq" cmpd="dbl">
            <a:solidFill>
              <a:schemeClr val="accent1">
                <a:alpha val="75000"/>
              </a:schemeClr>
            </a:solidFill>
            <a:prstDash val="solid"/>
            <a:round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694274" y="3373443"/>
            <a:ext cx="24561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 smtClean="0"/>
              <a:t>Malware</a:t>
            </a:r>
            <a:endParaRPr lang="zh-CN" altLang="en-US" sz="44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8623004" y="1962688"/>
            <a:ext cx="2211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smtClean="0"/>
              <a:t>Rootkit</a:t>
            </a:r>
            <a:endParaRPr lang="zh-CN" altLang="en-US" sz="3600" dirty="0"/>
          </a:p>
        </p:txBody>
      </p:sp>
      <p:sp>
        <p:nvSpPr>
          <p:cNvPr id="9" name="文本框 8"/>
          <p:cNvSpPr txBox="1"/>
          <p:nvPr/>
        </p:nvSpPr>
        <p:spPr>
          <a:xfrm>
            <a:off x="936016" y="5175523"/>
            <a:ext cx="2653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err="1" smtClean="0"/>
              <a:t>Ransomware</a:t>
            </a:r>
            <a:endParaRPr lang="zh-CN" altLang="en-US" sz="3600" dirty="0"/>
          </a:p>
        </p:txBody>
      </p:sp>
      <p:sp>
        <p:nvSpPr>
          <p:cNvPr id="11" name="文本框 10"/>
          <p:cNvSpPr txBox="1"/>
          <p:nvPr/>
        </p:nvSpPr>
        <p:spPr>
          <a:xfrm>
            <a:off x="8623004" y="5175522"/>
            <a:ext cx="2211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smtClean="0"/>
              <a:t>Trojan</a:t>
            </a:r>
            <a:endParaRPr lang="zh-CN" altLang="en-US" sz="3600" dirty="0"/>
          </a:p>
        </p:txBody>
      </p:sp>
      <p:sp>
        <p:nvSpPr>
          <p:cNvPr id="13" name="文本框 12"/>
          <p:cNvSpPr txBox="1"/>
          <p:nvPr/>
        </p:nvSpPr>
        <p:spPr>
          <a:xfrm>
            <a:off x="1099475" y="1962688"/>
            <a:ext cx="2327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smtClean="0"/>
              <a:t>Virus</a:t>
            </a:r>
            <a:endParaRPr lang="zh-CN" altLang="en-US" sz="3600" dirty="0"/>
          </a:p>
        </p:txBody>
      </p:sp>
      <p:cxnSp>
        <p:nvCxnSpPr>
          <p:cNvPr id="15" name="直接箭头连接符 14"/>
          <p:cNvCxnSpPr>
            <a:stCxn id="7" idx="1"/>
            <a:endCxn id="13" idx="2"/>
          </p:cNvCxnSpPr>
          <p:nvPr/>
        </p:nvCxnSpPr>
        <p:spPr>
          <a:xfrm flipH="1" flipV="1">
            <a:off x="2263013" y="2609019"/>
            <a:ext cx="2431261" cy="11491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7" idx="1"/>
            <a:endCxn id="9" idx="0"/>
          </p:cNvCxnSpPr>
          <p:nvPr/>
        </p:nvCxnSpPr>
        <p:spPr>
          <a:xfrm flipH="1">
            <a:off x="2263013" y="3758164"/>
            <a:ext cx="2431261" cy="14173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7" idx="3"/>
            <a:endCxn id="11" idx="0"/>
          </p:cNvCxnSpPr>
          <p:nvPr/>
        </p:nvCxnSpPr>
        <p:spPr>
          <a:xfrm>
            <a:off x="7150395" y="3758164"/>
            <a:ext cx="2578395" cy="14173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7" idx="3"/>
            <a:endCxn id="8" idx="2"/>
          </p:cNvCxnSpPr>
          <p:nvPr/>
        </p:nvCxnSpPr>
        <p:spPr>
          <a:xfrm flipV="1">
            <a:off x="7150395" y="2609019"/>
            <a:ext cx="2578395" cy="11491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319240" y="1309753"/>
            <a:ext cx="3206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smtClean="0"/>
              <a:t>Backdoor</a:t>
            </a:r>
            <a:endParaRPr lang="zh-CN" altLang="en-US" sz="3600" dirty="0"/>
          </a:p>
        </p:txBody>
      </p:sp>
      <p:sp>
        <p:nvSpPr>
          <p:cNvPr id="19" name="文本框 18"/>
          <p:cNvSpPr txBox="1"/>
          <p:nvPr/>
        </p:nvSpPr>
        <p:spPr>
          <a:xfrm>
            <a:off x="4319240" y="5678336"/>
            <a:ext cx="3206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smtClean="0"/>
              <a:t>Botnet</a:t>
            </a:r>
            <a:endParaRPr lang="zh-CN" altLang="en-US" sz="3600" dirty="0"/>
          </a:p>
        </p:txBody>
      </p:sp>
      <p:cxnSp>
        <p:nvCxnSpPr>
          <p:cNvPr id="20" name="直接箭头连接符 19"/>
          <p:cNvCxnSpPr>
            <a:stCxn id="7" idx="0"/>
            <a:endCxn id="14" idx="2"/>
          </p:cNvCxnSpPr>
          <p:nvPr/>
        </p:nvCxnSpPr>
        <p:spPr>
          <a:xfrm flipH="1" flipV="1">
            <a:off x="5922334" y="1956084"/>
            <a:ext cx="1" cy="14173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7" idx="2"/>
            <a:endCxn id="19" idx="0"/>
          </p:cNvCxnSpPr>
          <p:nvPr/>
        </p:nvCxnSpPr>
        <p:spPr>
          <a:xfrm flipH="1">
            <a:off x="5922334" y="4142884"/>
            <a:ext cx="1" cy="1535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45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图表 17"/>
          <p:cNvGraphicFramePr/>
          <p:nvPr>
            <p:extLst>
              <p:ext uri="{D42A27DB-BD31-4B8C-83A1-F6EECF244321}">
                <p14:modId xmlns:p14="http://schemas.microsoft.com/office/powerpoint/2010/main" val="1033139895"/>
              </p:ext>
            </p:extLst>
          </p:nvPr>
        </p:nvGraphicFramePr>
        <p:xfrm>
          <a:off x="810610" y="225304"/>
          <a:ext cx="10272015" cy="56060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144855" y="5777054"/>
            <a:ext cx="1127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Source: IEEE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COMST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“Smartphone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and Its Propagation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Modeling: A Survey”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949513" y="6238719"/>
            <a:ext cx="9789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Cited: 108 </a:t>
            </a:r>
          </a:p>
        </p:txBody>
      </p:sp>
    </p:spTree>
    <p:extLst>
      <p:ext uri="{BB962C8B-B14F-4D97-AF65-F5344CB8AC3E}">
        <p14:creationId xmlns:p14="http://schemas.microsoft.com/office/powerpoint/2010/main" val="3669908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图表 58"/>
          <p:cNvGraphicFramePr/>
          <p:nvPr>
            <p:extLst>
              <p:ext uri="{D42A27DB-BD31-4B8C-83A1-F6EECF244321}">
                <p14:modId xmlns:p14="http://schemas.microsoft.com/office/powerpoint/2010/main" val="2497511501"/>
              </p:ext>
            </p:extLst>
          </p:nvPr>
        </p:nvGraphicFramePr>
        <p:xfrm>
          <a:off x="821801" y="127322"/>
          <a:ext cx="10637135" cy="6331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0654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40880" y="2110808"/>
            <a:ext cx="6739858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72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Literature Review</a:t>
            </a:r>
            <a:endParaRPr lang="zh-CN" altLang="en-US" sz="7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3311137"/>
            <a:ext cx="9618562" cy="0"/>
          </a:xfrm>
          <a:prstGeom prst="line">
            <a:avLst/>
          </a:prstGeom>
          <a:ln w="635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453833" y="3556135"/>
            <a:ext cx="9738167" cy="0"/>
          </a:xfrm>
          <a:prstGeom prst="line">
            <a:avLst/>
          </a:prstGeom>
          <a:ln w="635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035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39837" y="231494"/>
            <a:ext cx="5046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 smtClean="0"/>
              <a:t>2018        TDSC</a:t>
            </a:r>
            <a:endParaRPr lang="zh-CN" altLang="en-US" sz="4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7471975" y="231494"/>
            <a:ext cx="36460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4800" b="1" dirty="0">
                <a:solidFill>
                  <a:prstClr val="black"/>
                </a:solidFill>
              </a:rPr>
              <a:t>MADAM</a:t>
            </a:r>
            <a:endParaRPr lang="zh-CN" altLang="en-US" sz="4800" b="1" dirty="0">
              <a:solidFill>
                <a:prstClr val="black"/>
              </a:solidFill>
            </a:endParaRPr>
          </a:p>
          <a:p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7575065" y="2792985"/>
            <a:ext cx="4123682" cy="1904894"/>
            <a:chOff x="1050202" y="1530036"/>
            <a:chExt cx="4161500" cy="1937441"/>
          </a:xfrm>
        </p:grpSpPr>
        <p:sp>
          <p:nvSpPr>
            <p:cNvPr id="6" name="文本框 5"/>
            <p:cNvSpPr txBox="1"/>
            <p:nvPr/>
          </p:nvSpPr>
          <p:spPr>
            <a:xfrm>
              <a:off x="1469988" y="1852649"/>
              <a:ext cx="33103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 smtClean="0"/>
                <a:t>Application level </a:t>
              </a:r>
              <a:endParaRPr lang="zh-CN" altLang="en-US" sz="360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901344" y="2498980"/>
              <a:ext cx="33103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 smtClean="0"/>
                <a:t>Kernel level </a:t>
              </a:r>
              <a:endParaRPr lang="zh-CN" altLang="en-US" sz="3600" dirty="0"/>
            </a:p>
          </p:txBody>
        </p:sp>
        <p:sp>
          <p:nvSpPr>
            <p:cNvPr id="9" name="椭圆 8"/>
            <p:cNvSpPr/>
            <p:nvPr/>
          </p:nvSpPr>
          <p:spPr>
            <a:xfrm>
              <a:off x="1050202" y="1530036"/>
              <a:ext cx="4161500" cy="1937441"/>
            </a:xfrm>
            <a:prstGeom prst="ellipse">
              <a:avLst/>
            </a:prstGeom>
            <a:noFill/>
            <a:ln w="317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 rot="765473">
            <a:off x="4756178" y="2286065"/>
            <a:ext cx="2286535" cy="1381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 smtClean="0"/>
              <a:t>SMS </a:t>
            </a:r>
          </a:p>
          <a:p>
            <a:pPr algn="ctr"/>
            <a:r>
              <a:rPr lang="en-US" altLang="zh-CN" sz="4400" dirty="0" smtClean="0"/>
              <a:t>sent</a:t>
            </a:r>
            <a:endParaRPr lang="zh-CN" altLang="en-US" sz="4400" dirty="0"/>
          </a:p>
        </p:txBody>
      </p:sp>
      <p:sp>
        <p:nvSpPr>
          <p:cNvPr id="14" name="文本框 13"/>
          <p:cNvSpPr txBox="1"/>
          <p:nvPr/>
        </p:nvSpPr>
        <p:spPr>
          <a:xfrm rot="786177">
            <a:off x="1719175" y="1635684"/>
            <a:ext cx="38488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smtClean="0"/>
              <a:t>By non-default app</a:t>
            </a:r>
            <a:endParaRPr lang="zh-CN" altLang="en-US" sz="3200" dirty="0"/>
          </a:p>
        </p:txBody>
      </p:sp>
      <p:sp>
        <p:nvSpPr>
          <p:cNvPr id="15" name="文本框 14"/>
          <p:cNvSpPr txBox="1"/>
          <p:nvPr/>
        </p:nvSpPr>
        <p:spPr>
          <a:xfrm rot="819006">
            <a:off x="1425000" y="2220574"/>
            <a:ext cx="38488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smtClean="0"/>
              <a:t>To unsaved numbers</a:t>
            </a:r>
            <a:endParaRPr lang="zh-CN" altLang="en-US" sz="3200" dirty="0"/>
          </a:p>
        </p:txBody>
      </p:sp>
      <p:sp>
        <p:nvSpPr>
          <p:cNvPr id="16" name="文本框 15"/>
          <p:cNvSpPr txBox="1"/>
          <p:nvPr/>
        </p:nvSpPr>
        <p:spPr>
          <a:xfrm rot="796806">
            <a:off x="1253471" y="2788171"/>
            <a:ext cx="38488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smtClean="0"/>
              <a:t>Abnormal </a:t>
            </a:r>
            <a:r>
              <a:rPr lang="en-US" altLang="zh-CN" sz="3200" dirty="0" err="1" smtClean="0"/>
              <a:t>frequence</a:t>
            </a:r>
            <a:r>
              <a:rPr lang="en-US" altLang="zh-CN" sz="3200" dirty="0" smtClean="0"/>
              <a:t> </a:t>
            </a:r>
            <a:endParaRPr lang="zh-CN" altLang="en-US" sz="3200" dirty="0"/>
          </a:p>
        </p:txBody>
      </p:sp>
      <p:cxnSp>
        <p:nvCxnSpPr>
          <p:cNvPr id="22" name="直接连接符 21"/>
          <p:cNvCxnSpPr/>
          <p:nvPr/>
        </p:nvCxnSpPr>
        <p:spPr>
          <a:xfrm flipH="1" flipV="1">
            <a:off x="2184230" y="1248299"/>
            <a:ext cx="3209024" cy="752379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 flipV="1">
            <a:off x="869420" y="2952396"/>
            <a:ext cx="4055621" cy="936774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064770" y="5301882"/>
            <a:ext cx="31599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smtClean="0"/>
              <a:t>Process</a:t>
            </a:r>
          </a:p>
        </p:txBody>
      </p:sp>
      <p:cxnSp>
        <p:nvCxnSpPr>
          <p:cNvPr id="38" name="直接连接符 37"/>
          <p:cNvCxnSpPr/>
          <p:nvPr/>
        </p:nvCxnSpPr>
        <p:spPr>
          <a:xfrm flipH="1">
            <a:off x="4865092" y="1613053"/>
            <a:ext cx="621309" cy="2624207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燕尾形 39"/>
          <p:cNvSpPr/>
          <p:nvPr/>
        </p:nvSpPr>
        <p:spPr>
          <a:xfrm rot="11583557">
            <a:off x="6399252" y="2754598"/>
            <a:ext cx="644219" cy="89672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燕尾形 40"/>
          <p:cNvSpPr/>
          <p:nvPr/>
        </p:nvSpPr>
        <p:spPr>
          <a:xfrm rot="8765317">
            <a:off x="7373410" y="4452652"/>
            <a:ext cx="644219" cy="793975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燕尾形 41"/>
          <p:cNvSpPr/>
          <p:nvPr/>
        </p:nvSpPr>
        <p:spPr>
          <a:xfrm rot="11583557">
            <a:off x="6958320" y="2891011"/>
            <a:ext cx="644219" cy="89672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燕尾形 42"/>
          <p:cNvSpPr/>
          <p:nvPr/>
        </p:nvSpPr>
        <p:spPr>
          <a:xfrm rot="8765317">
            <a:off x="6916228" y="4772218"/>
            <a:ext cx="644219" cy="793975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4" name="直接连接符 43"/>
          <p:cNvCxnSpPr/>
          <p:nvPr/>
        </p:nvCxnSpPr>
        <p:spPr>
          <a:xfrm flipH="1">
            <a:off x="5022066" y="4493605"/>
            <a:ext cx="22288" cy="2231286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439646" y="4859189"/>
            <a:ext cx="38488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smtClean="0"/>
              <a:t>Excessive quantity</a:t>
            </a:r>
            <a:endParaRPr lang="zh-CN" altLang="en-US" sz="3200" dirty="0"/>
          </a:p>
        </p:txBody>
      </p:sp>
      <p:sp>
        <p:nvSpPr>
          <p:cNvPr id="48" name="文本框 47"/>
          <p:cNvSpPr txBox="1"/>
          <p:nvPr/>
        </p:nvSpPr>
        <p:spPr>
          <a:xfrm>
            <a:off x="433044" y="5883591"/>
            <a:ext cx="4575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smtClean="0"/>
              <a:t>Long-time non-interaction</a:t>
            </a:r>
            <a:endParaRPr lang="zh-CN" altLang="en-US" sz="3200" dirty="0"/>
          </a:p>
        </p:txBody>
      </p:sp>
      <p:sp>
        <p:nvSpPr>
          <p:cNvPr id="49" name="文本框 48"/>
          <p:cNvSpPr txBox="1"/>
          <p:nvPr/>
        </p:nvSpPr>
        <p:spPr>
          <a:xfrm>
            <a:off x="574160" y="5404233"/>
            <a:ext cx="4943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smtClean="0"/>
              <a:t>Silent new-app install</a:t>
            </a:r>
            <a:endParaRPr lang="zh-CN" altLang="en-US" sz="3200" dirty="0"/>
          </a:p>
        </p:txBody>
      </p:sp>
      <p:cxnSp>
        <p:nvCxnSpPr>
          <p:cNvPr id="51" name="直接连接符 50"/>
          <p:cNvCxnSpPr/>
          <p:nvPr/>
        </p:nvCxnSpPr>
        <p:spPr>
          <a:xfrm flipH="1" flipV="1">
            <a:off x="1503357" y="4803487"/>
            <a:ext cx="3530473" cy="55465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204619" y="6446167"/>
            <a:ext cx="4821476" cy="20031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>
            <a:off x="869420" y="1236864"/>
            <a:ext cx="1341346" cy="172884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204619" y="4803487"/>
            <a:ext cx="1300090" cy="1657192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6749535" y="1041358"/>
            <a:ext cx="5213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Multi-level Anomaly Detector for Android Malware</a:t>
            </a:r>
            <a:endParaRPr lang="zh-CN" altLang="en-US" sz="2800" dirty="0"/>
          </a:p>
        </p:txBody>
      </p:sp>
      <p:cxnSp>
        <p:nvCxnSpPr>
          <p:cNvPr id="66" name="直接连接符 65"/>
          <p:cNvCxnSpPr/>
          <p:nvPr/>
        </p:nvCxnSpPr>
        <p:spPr>
          <a:xfrm>
            <a:off x="7882359" y="949124"/>
            <a:ext cx="2720051" cy="0"/>
          </a:xfrm>
          <a:prstGeom prst="line">
            <a:avLst/>
          </a:prstGeom>
          <a:ln w="73025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9127142" y="5989008"/>
            <a:ext cx="271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dirty="0" smtClean="0"/>
              <a:t>Cited</a:t>
            </a:r>
            <a:r>
              <a:rPr lang="zh-CN" altLang="en-US" sz="2800" dirty="0" smtClean="0"/>
              <a:t>：</a:t>
            </a:r>
            <a:r>
              <a:rPr lang="en-US" altLang="zh-CN" sz="2800" dirty="0" smtClean="0"/>
              <a:t>87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99156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254545" y="130353"/>
            <a:ext cx="5046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 smtClean="0"/>
              <a:t>2018        </a:t>
            </a:r>
            <a:r>
              <a:rPr lang="en-US" altLang="zh-CN" sz="4800" b="1" dirty="0" err="1" smtClean="0"/>
              <a:t>Tii</a:t>
            </a:r>
            <a:endParaRPr lang="zh-CN" altLang="en-US" sz="4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9276442" y="6116598"/>
            <a:ext cx="271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dirty="0" smtClean="0"/>
              <a:t>Cited</a:t>
            </a:r>
            <a:r>
              <a:rPr lang="zh-CN" altLang="en-US" sz="2800" dirty="0" smtClean="0"/>
              <a:t>：</a:t>
            </a:r>
            <a:r>
              <a:rPr lang="en-US" altLang="zh-CN" sz="2800" dirty="0" smtClean="0"/>
              <a:t>65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8254282" y="21781"/>
            <a:ext cx="36460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4800" b="1" dirty="0" smtClean="0">
                <a:solidFill>
                  <a:prstClr val="black"/>
                </a:solidFill>
              </a:rPr>
              <a:t>SIGPID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660432" y="852778"/>
            <a:ext cx="48337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 smtClean="0"/>
              <a:t>SIGnificant</a:t>
            </a:r>
            <a:r>
              <a:rPr lang="en-US" altLang="zh-CN" sz="2800" dirty="0" smtClean="0"/>
              <a:t> Permission</a:t>
            </a:r>
          </a:p>
          <a:p>
            <a:pPr algn="ctr"/>
            <a:r>
              <a:rPr lang="en-US" altLang="zh-CN" sz="2800" dirty="0" err="1" smtClean="0"/>
              <a:t>IDentification</a:t>
            </a:r>
            <a:endParaRPr lang="zh-CN" altLang="en-US" sz="280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8008348" y="817662"/>
            <a:ext cx="3980428" cy="0"/>
          </a:xfrm>
          <a:prstGeom prst="line">
            <a:avLst/>
          </a:prstGeom>
          <a:ln w="73025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503496" y="2486279"/>
            <a:ext cx="2275755" cy="815199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66CC"/>
                </a:solidFill>
              </a:rPr>
              <a:t>READ</a:t>
            </a:r>
            <a:endParaRPr lang="zh-CN" altLang="en-US" sz="3600" dirty="0">
              <a:solidFill>
                <a:srgbClr val="0066CC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8008348" y="2477313"/>
            <a:ext cx="2536185" cy="815199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66CC"/>
                </a:solidFill>
              </a:rPr>
              <a:t>WRITE</a:t>
            </a:r>
            <a:endParaRPr lang="zh-CN" altLang="en-US" sz="3600" dirty="0">
              <a:solidFill>
                <a:srgbClr val="0066CC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398377" y="2526402"/>
            <a:ext cx="1990846" cy="69908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solidFill>
                  <a:srgbClr val="00B050"/>
                </a:solidFill>
              </a:rPr>
              <a:t>Contacts</a:t>
            </a:r>
            <a:endParaRPr lang="zh-CN" altLang="en-US" sz="3200" dirty="0">
              <a:solidFill>
                <a:srgbClr val="00B050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8008348" y="3484853"/>
            <a:ext cx="2536185" cy="815199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66CC"/>
                </a:solidFill>
              </a:rPr>
              <a:t>SEND</a:t>
            </a:r>
            <a:endParaRPr lang="zh-CN" altLang="en-US" sz="3600" dirty="0">
              <a:solidFill>
                <a:srgbClr val="0066CC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385470" y="3539794"/>
            <a:ext cx="1990846" cy="69908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solidFill>
                  <a:srgbClr val="00B050"/>
                </a:solidFill>
              </a:rPr>
              <a:t>SMS</a:t>
            </a:r>
            <a:endParaRPr lang="zh-CN" altLang="en-US" sz="3200" dirty="0">
              <a:solidFill>
                <a:srgbClr val="00B05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423755" y="5546359"/>
            <a:ext cx="1990846" cy="69908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solidFill>
                  <a:srgbClr val="00B050"/>
                </a:solidFill>
              </a:rPr>
              <a:t>WIFI</a:t>
            </a:r>
            <a:endParaRPr lang="zh-CN" altLang="en-US" sz="3200" dirty="0">
              <a:solidFill>
                <a:srgbClr val="00B05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398379" y="4532967"/>
            <a:ext cx="1990846" cy="69908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solidFill>
                  <a:srgbClr val="00B050"/>
                </a:solidFill>
              </a:rPr>
              <a:t>PACKAGES</a:t>
            </a:r>
            <a:endParaRPr lang="zh-CN" altLang="en-US" sz="3200" dirty="0">
              <a:solidFill>
                <a:srgbClr val="00B050"/>
              </a:solidFill>
            </a:endParaRPr>
          </a:p>
        </p:txBody>
      </p:sp>
      <p:cxnSp>
        <p:nvCxnSpPr>
          <p:cNvPr id="20" name="直接连接符 19"/>
          <p:cNvCxnSpPr>
            <a:stCxn id="11" idx="6"/>
            <a:endCxn id="14" idx="1"/>
          </p:cNvCxnSpPr>
          <p:nvPr/>
        </p:nvCxnSpPr>
        <p:spPr>
          <a:xfrm flipV="1">
            <a:off x="2779251" y="2875947"/>
            <a:ext cx="1619126" cy="17932"/>
          </a:xfrm>
          <a:prstGeom prst="line">
            <a:avLst/>
          </a:prstGeom>
          <a:ln w="38100">
            <a:solidFill>
              <a:srgbClr val="D600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12" idx="2"/>
            <a:endCxn id="14" idx="3"/>
          </p:cNvCxnSpPr>
          <p:nvPr/>
        </p:nvCxnSpPr>
        <p:spPr>
          <a:xfrm flipH="1" flipV="1">
            <a:off x="6389223" y="2875947"/>
            <a:ext cx="1619125" cy="8966"/>
          </a:xfrm>
          <a:prstGeom prst="line">
            <a:avLst/>
          </a:prstGeom>
          <a:ln w="38100">
            <a:solidFill>
              <a:srgbClr val="D600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1" idx="6"/>
            <a:endCxn id="16" idx="1"/>
          </p:cNvCxnSpPr>
          <p:nvPr/>
        </p:nvCxnSpPr>
        <p:spPr>
          <a:xfrm>
            <a:off x="2779251" y="2893879"/>
            <a:ext cx="1606219" cy="99546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stCxn id="16" idx="3"/>
            <a:endCxn id="15" idx="2"/>
          </p:cNvCxnSpPr>
          <p:nvPr/>
        </p:nvCxnSpPr>
        <p:spPr>
          <a:xfrm>
            <a:off x="6376316" y="3889339"/>
            <a:ext cx="1632032" cy="3114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/>
          <p:cNvSpPr/>
          <p:nvPr/>
        </p:nvSpPr>
        <p:spPr>
          <a:xfrm>
            <a:off x="503496" y="4469059"/>
            <a:ext cx="2326512" cy="815199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66CC"/>
                </a:solidFill>
              </a:rPr>
              <a:t>INSTALL</a:t>
            </a:r>
            <a:endParaRPr lang="zh-CN" altLang="en-US" sz="3600" dirty="0">
              <a:solidFill>
                <a:srgbClr val="0066CC"/>
              </a:solidFill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8008351" y="4469058"/>
            <a:ext cx="2536185" cy="815199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66CC"/>
                </a:solidFill>
              </a:rPr>
              <a:t>RESTART</a:t>
            </a:r>
            <a:endParaRPr lang="zh-CN" altLang="en-US" sz="3600" dirty="0">
              <a:solidFill>
                <a:srgbClr val="0066CC"/>
              </a:solidFill>
            </a:endParaRPr>
          </a:p>
        </p:txBody>
      </p:sp>
      <p:cxnSp>
        <p:nvCxnSpPr>
          <p:cNvPr id="40" name="直接连接符 39"/>
          <p:cNvCxnSpPr>
            <a:stCxn id="30" idx="6"/>
            <a:endCxn id="18" idx="1"/>
          </p:cNvCxnSpPr>
          <p:nvPr/>
        </p:nvCxnSpPr>
        <p:spPr>
          <a:xfrm>
            <a:off x="2830008" y="4876659"/>
            <a:ext cx="1568371" cy="58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18" idx="3"/>
            <a:endCxn id="31" idx="2"/>
          </p:cNvCxnSpPr>
          <p:nvPr/>
        </p:nvCxnSpPr>
        <p:spPr>
          <a:xfrm flipV="1">
            <a:off x="6389225" y="4876658"/>
            <a:ext cx="1619126" cy="5854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/>
          <p:cNvSpPr/>
          <p:nvPr/>
        </p:nvSpPr>
        <p:spPr>
          <a:xfrm>
            <a:off x="8008349" y="5488305"/>
            <a:ext cx="2536185" cy="815199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66CC"/>
                </a:solidFill>
              </a:rPr>
              <a:t>CHANGE</a:t>
            </a:r>
            <a:endParaRPr lang="zh-CN" altLang="en-US" sz="3600" dirty="0">
              <a:solidFill>
                <a:srgbClr val="0066CC"/>
              </a:solidFill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503496" y="5488305"/>
            <a:ext cx="2326512" cy="815199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66CC"/>
                </a:solidFill>
              </a:rPr>
              <a:t>ACCESS</a:t>
            </a:r>
            <a:endParaRPr lang="zh-CN" altLang="en-US" sz="3600" dirty="0">
              <a:solidFill>
                <a:srgbClr val="0066CC"/>
              </a:solidFill>
            </a:endParaRPr>
          </a:p>
        </p:txBody>
      </p:sp>
      <p:cxnSp>
        <p:nvCxnSpPr>
          <p:cNvPr id="48" name="直接连接符 47"/>
          <p:cNvCxnSpPr>
            <a:stCxn id="46" idx="6"/>
            <a:endCxn id="17" idx="1"/>
          </p:cNvCxnSpPr>
          <p:nvPr/>
        </p:nvCxnSpPr>
        <p:spPr>
          <a:xfrm flipV="1">
            <a:off x="2830008" y="5895904"/>
            <a:ext cx="1593747" cy="1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17" idx="3"/>
            <a:endCxn id="45" idx="2"/>
          </p:cNvCxnSpPr>
          <p:nvPr/>
        </p:nvCxnSpPr>
        <p:spPr>
          <a:xfrm>
            <a:off x="6414601" y="5895904"/>
            <a:ext cx="1593748" cy="1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4398377" y="1594364"/>
            <a:ext cx="1990846" cy="69908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solidFill>
                  <a:srgbClr val="00B050"/>
                </a:solidFill>
              </a:rPr>
              <a:t>LOGS</a:t>
            </a:r>
            <a:endParaRPr lang="zh-CN" altLang="en-US" sz="3200" dirty="0">
              <a:solidFill>
                <a:srgbClr val="00B050"/>
              </a:solidFill>
            </a:endParaRPr>
          </a:p>
        </p:txBody>
      </p:sp>
      <p:cxnSp>
        <p:nvCxnSpPr>
          <p:cNvPr id="62" name="直接连接符 61"/>
          <p:cNvCxnSpPr>
            <a:stCxn id="11" idx="6"/>
            <a:endCxn id="60" idx="1"/>
          </p:cNvCxnSpPr>
          <p:nvPr/>
        </p:nvCxnSpPr>
        <p:spPr>
          <a:xfrm flipV="1">
            <a:off x="2779251" y="1943909"/>
            <a:ext cx="1619126" cy="949970"/>
          </a:xfrm>
          <a:prstGeom prst="line">
            <a:avLst/>
          </a:prstGeom>
          <a:ln w="31750">
            <a:solidFill>
              <a:schemeClr val="tx1"/>
            </a:solidFill>
            <a:prstDash val="solid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4385470" y="662326"/>
            <a:ext cx="1990846" cy="69908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solidFill>
                  <a:srgbClr val="00B050"/>
                </a:solidFill>
              </a:rPr>
              <a:t>SETTINGS</a:t>
            </a:r>
            <a:endParaRPr lang="zh-CN" altLang="en-US" sz="3200" dirty="0">
              <a:solidFill>
                <a:srgbClr val="00B050"/>
              </a:solidFill>
            </a:endParaRPr>
          </a:p>
        </p:txBody>
      </p:sp>
      <p:cxnSp>
        <p:nvCxnSpPr>
          <p:cNvPr id="81" name="直接连接符 80"/>
          <p:cNvCxnSpPr>
            <a:stCxn id="63" idx="3"/>
            <a:endCxn id="12" idx="2"/>
          </p:cNvCxnSpPr>
          <p:nvPr/>
        </p:nvCxnSpPr>
        <p:spPr>
          <a:xfrm>
            <a:off x="6376316" y="1011871"/>
            <a:ext cx="1632032" cy="1873042"/>
          </a:xfrm>
          <a:prstGeom prst="line">
            <a:avLst/>
          </a:prstGeom>
          <a:ln w="57150" cmpd="sng">
            <a:solidFill>
              <a:srgbClr val="FF0000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645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53787" y="395920"/>
            <a:ext cx="5046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 smtClean="0"/>
              <a:t>2018      TIFS</a:t>
            </a:r>
            <a:endParaRPr lang="zh-CN" altLang="en-US" sz="4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-2059581" y="251782"/>
            <a:ext cx="80205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6000" b="1" dirty="0" err="1" smtClean="0">
                <a:solidFill>
                  <a:prstClr val="black"/>
                </a:solidFill>
              </a:rPr>
              <a:t>FalDroid</a:t>
            </a:r>
            <a:endParaRPr lang="zh-CN" altLang="en-US" sz="6000" b="1" dirty="0">
              <a:solidFill>
                <a:prstClr val="black"/>
              </a:solidFill>
            </a:endParaRPr>
          </a:p>
          <a:p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95443" y="1476030"/>
            <a:ext cx="113171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/>
              <a:t>“Android Malware Familial Classification </a:t>
            </a:r>
            <a:r>
              <a:rPr lang="en-US" altLang="zh-CN" sz="5400" dirty="0" smtClean="0"/>
              <a:t>and Representative </a:t>
            </a:r>
            <a:r>
              <a:rPr lang="en-US" altLang="zh-CN" sz="5400" dirty="0"/>
              <a:t>Sample Selection via</a:t>
            </a:r>
          </a:p>
          <a:p>
            <a:pPr algn="ctr"/>
            <a:r>
              <a:rPr lang="en-US" altLang="zh-CN" sz="5400" dirty="0"/>
              <a:t>Frequent </a:t>
            </a:r>
            <a:r>
              <a:rPr lang="en-US" altLang="zh-CN" sz="5400" dirty="0" err="1"/>
              <a:t>Subgraph</a:t>
            </a:r>
            <a:r>
              <a:rPr lang="en-US" altLang="zh-CN" sz="5400" dirty="0"/>
              <a:t> Analysis”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09285" y="1214420"/>
            <a:ext cx="10903352" cy="12497"/>
          </a:xfrm>
          <a:prstGeom prst="line">
            <a:avLst/>
          </a:prstGeom>
          <a:ln w="73025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图文框 7"/>
          <p:cNvSpPr/>
          <p:nvPr/>
        </p:nvSpPr>
        <p:spPr>
          <a:xfrm>
            <a:off x="3869180" y="5136848"/>
            <a:ext cx="4537613" cy="1152241"/>
          </a:xfrm>
          <a:prstGeom prst="frame">
            <a:avLst/>
          </a:prstGeom>
          <a:solidFill>
            <a:srgbClr val="CC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Sensitive API calls</a:t>
            </a:r>
            <a:endParaRPr lang="zh-CN" altLang="en-US" sz="3600" b="1" dirty="0">
              <a:solidFill>
                <a:schemeClr val="tx1"/>
              </a:solidFill>
              <a:latin typeface="Cambria" panose="02040503050406030204" pitchFamily="18" charset="0"/>
              <a:ea typeface="Malgun Gothic" panose="020B0503020000020004" pitchFamily="34" charset="-127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276442" y="6116598"/>
            <a:ext cx="271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dirty="0" smtClean="0"/>
              <a:t>Cited</a:t>
            </a:r>
            <a:r>
              <a:rPr lang="zh-CN" altLang="en-US" sz="2800" dirty="0" smtClean="0"/>
              <a:t>：</a:t>
            </a:r>
            <a:r>
              <a:rPr lang="en-US" altLang="zh-CN" sz="2800" dirty="0" smtClean="0"/>
              <a:t>28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81834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28076" y="5581815"/>
            <a:ext cx="4199485" cy="8681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getDeviceSoftwareVersion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408814" y="301340"/>
            <a:ext cx="2918747" cy="8681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getDeviceId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08814" y="1607767"/>
            <a:ext cx="2918747" cy="8681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getLine1Number()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08815" y="4231155"/>
            <a:ext cx="2918748" cy="8681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getConnectionInfo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408815" y="2965695"/>
            <a:ext cx="2918747" cy="8681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sendTextMessage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787825" y="2774362"/>
            <a:ext cx="2002420" cy="116459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800" dirty="0" smtClean="0">
                <a:solidFill>
                  <a:schemeClr val="tx1"/>
                </a:solidFill>
              </a:rPr>
              <a:t>Droid</a:t>
            </a:r>
          </a:p>
          <a:p>
            <a:pPr algn="ctr"/>
            <a:r>
              <a:rPr lang="en-GB" altLang="zh-CN" sz="2800" dirty="0" err="1" smtClean="0">
                <a:solidFill>
                  <a:schemeClr val="tx1"/>
                </a:solidFill>
              </a:rPr>
              <a:t>kungfu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787825" y="4856422"/>
            <a:ext cx="2002420" cy="1255945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3200" dirty="0" err="1" smtClean="0">
                <a:solidFill>
                  <a:schemeClr val="tx1"/>
                </a:solidFill>
              </a:rPr>
              <a:t>geinimi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751482" y="776358"/>
            <a:ext cx="2086009" cy="116459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800" dirty="0" smtClean="0">
                <a:solidFill>
                  <a:schemeClr val="tx1"/>
                </a:solidFill>
              </a:rPr>
              <a:t>plankton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cxnSp>
        <p:nvCxnSpPr>
          <p:cNvPr id="13" name="直接连接符 12"/>
          <p:cNvCxnSpPr>
            <a:stCxn id="9" idx="6"/>
            <a:endCxn id="5" idx="1"/>
          </p:cNvCxnSpPr>
          <p:nvPr/>
        </p:nvCxnSpPr>
        <p:spPr>
          <a:xfrm flipV="1">
            <a:off x="2790245" y="735391"/>
            <a:ext cx="5618569" cy="2621266"/>
          </a:xfrm>
          <a:prstGeom prst="line">
            <a:avLst/>
          </a:prstGeom>
          <a:ln w="635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9" idx="6"/>
            <a:endCxn id="6" idx="1"/>
          </p:cNvCxnSpPr>
          <p:nvPr/>
        </p:nvCxnSpPr>
        <p:spPr>
          <a:xfrm flipV="1">
            <a:off x="2790245" y="2041818"/>
            <a:ext cx="5618569" cy="1314839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9" idx="6"/>
            <a:endCxn id="8" idx="1"/>
          </p:cNvCxnSpPr>
          <p:nvPr/>
        </p:nvCxnSpPr>
        <p:spPr>
          <a:xfrm>
            <a:off x="2790245" y="3356657"/>
            <a:ext cx="5618570" cy="43089"/>
          </a:xfrm>
          <a:prstGeom prst="line">
            <a:avLst/>
          </a:prstGeom>
          <a:ln w="31750">
            <a:solidFill>
              <a:schemeClr val="accent4">
                <a:lumMod val="75000"/>
                <a:alpha val="29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9" idx="6"/>
          </p:cNvCxnSpPr>
          <p:nvPr/>
        </p:nvCxnSpPr>
        <p:spPr>
          <a:xfrm>
            <a:off x="2790245" y="3356657"/>
            <a:ext cx="5618569" cy="1308549"/>
          </a:xfrm>
          <a:prstGeom prst="line">
            <a:avLst/>
          </a:prstGeom>
          <a:ln w="444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11" idx="6"/>
            <a:endCxn id="5" idx="1"/>
          </p:cNvCxnSpPr>
          <p:nvPr/>
        </p:nvCxnSpPr>
        <p:spPr>
          <a:xfrm flipV="1">
            <a:off x="2837491" y="735391"/>
            <a:ext cx="5571323" cy="623262"/>
          </a:xfrm>
          <a:prstGeom prst="line">
            <a:avLst/>
          </a:prstGeom>
          <a:ln w="63500">
            <a:solidFill>
              <a:schemeClr val="accent6">
                <a:lumMod val="75000"/>
              </a:schemeClr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11" idx="6"/>
            <a:endCxn id="6" idx="1"/>
          </p:cNvCxnSpPr>
          <p:nvPr/>
        </p:nvCxnSpPr>
        <p:spPr>
          <a:xfrm>
            <a:off x="2837491" y="1358653"/>
            <a:ext cx="5571323" cy="683165"/>
          </a:xfrm>
          <a:prstGeom prst="line">
            <a:avLst/>
          </a:prstGeom>
          <a:ln w="44450">
            <a:solidFill>
              <a:schemeClr val="accent6">
                <a:lumMod val="75000"/>
                <a:alpha val="78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11" idx="6"/>
            <a:endCxn id="8" idx="1"/>
          </p:cNvCxnSpPr>
          <p:nvPr/>
        </p:nvCxnSpPr>
        <p:spPr>
          <a:xfrm>
            <a:off x="2837491" y="1358653"/>
            <a:ext cx="5571324" cy="2041093"/>
          </a:xfrm>
          <a:prstGeom prst="line">
            <a:avLst/>
          </a:prstGeom>
          <a:ln w="31750">
            <a:solidFill>
              <a:schemeClr val="accent6">
                <a:lumMod val="75000"/>
                <a:alpha val="3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11" idx="6"/>
            <a:endCxn id="7" idx="1"/>
          </p:cNvCxnSpPr>
          <p:nvPr/>
        </p:nvCxnSpPr>
        <p:spPr>
          <a:xfrm>
            <a:off x="2837491" y="1358653"/>
            <a:ext cx="5571324" cy="3306553"/>
          </a:xfrm>
          <a:prstGeom prst="line">
            <a:avLst/>
          </a:prstGeom>
          <a:ln w="635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10" idx="6"/>
            <a:endCxn id="4" idx="1"/>
          </p:cNvCxnSpPr>
          <p:nvPr/>
        </p:nvCxnSpPr>
        <p:spPr>
          <a:xfrm>
            <a:off x="2790245" y="5484395"/>
            <a:ext cx="4337831" cy="531471"/>
          </a:xfrm>
          <a:prstGeom prst="line">
            <a:avLst/>
          </a:prstGeom>
          <a:ln w="63500" cmpd="sng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10" idx="6"/>
            <a:endCxn id="8" idx="1"/>
          </p:cNvCxnSpPr>
          <p:nvPr/>
        </p:nvCxnSpPr>
        <p:spPr>
          <a:xfrm flipV="1">
            <a:off x="2790245" y="3399746"/>
            <a:ext cx="5618570" cy="2084649"/>
          </a:xfrm>
          <a:prstGeom prst="line">
            <a:avLst/>
          </a:prstGeom>
          <a:ln w="63500" cmpd="sng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10" idx="6"/>
            <a:endCxn id="6" idx="1"/>
          </p:cNvCxnSpPr>
          <p:nvPr/>
        </p:nvCxnSpPr>
        <p:spPr>
          <a:xfrm flipV="1">
            <a:off x="2790245" y="2041818"/>
            <a:ext cx="5618569" cy="3442577"/>
          </a:xfrm>
          <a:prstGeom prst="line">
            <a:avLst/>
          </a:prstGeom>
          <a:ln w="635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10" idx="6"/>
            <a:endCxn id="5" idx="1"/>
          </p:cNvCxnSpPr>
          <p:nvPr/>
        </p:nvCxnSpPr>
        <p:spPr>
          <a:xfrm flipV="1">
            <a:off x="2790245" y="735391"/>
            <a:ext cx="5618569" cy="4749004"/>
          </a:xfrm>
          <a:prstGeom prst="line">
            <a:avLst/>
          </a:prstGeom>
          <a:ln w="635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本框 133"/>
          <p:cNvSpPr txBox="1"/>
          <p:nvPr/>
        </p:nvSpPr>
        <p:spPr>
          <a:xfrm rot="878088">
            <a:off x="3561098" y="3610196"/>
            <a:ext cx="972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2400" b="1" dirty="0" smtClean="0">
                <a:solidFill>
                  <a:schemeClr val="accent4">
                    <a:lumMod val="75000"/>
                    <a:alpha val="82000"/>
                  </a:schemeClr>
                </a:solidFill>
              </a:rPr>
              <a:t>50%</a:t>
            </a:r>
            <a:endParaRPr lang="zh-CN" altLang="en-US" sz="2400" b="1" dirty="0">
              <a:solidFill>
                <a:schemeClr val="accent4">
                  <a:lumMod val="75000"/>
                  <a:alpha val="82000"/>
                </a:schemeClr>
              </a:solidFill>
            </a:endParaRPr>
          </a:p>
        </p:txBody>
      </p:sp>
      <p:sp>
        <p:nvSpPr>
          <p:cNvPr id="135" name="文本框 134"/>
          <p:cNvSpPr txBox="1"/>
          <p:nvPr/>
        </p:nvSpPr>
        <p:spPr>
          <a:xfrm rot="20821536">
            <a:off x="4302991" y="2817149"/>
            <a:ext cx="972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2800" b="1" dirty="0" smtClean="0">
                <a:solidFill>
                  <a:schemeClr val="accent4">
                    <a:lumMod val="75000"/>
                  </a:schemeClr>
                </a:solidFill>
              </a:rPr>
              <a:t>92%</a:t>
            </a:r>
            <a:endParaRPr lang="zh-CN" altLang="en-US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6" name="文本框 135"/>
          <p:cNvSpPr txBox="1"/>
          <p:nvPr/>
        </p:nvSpPr>
        <p:spPr>
          <a:xfrm rot="362827">
            <a:off x="4725315" y="1214361"/>
            <a:ext cx="972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2400" b="1" dirty="0" smtClean="0">
                <a:solidFill>
                  <a:schemeClr val="accent6">
                    <a:lumMod val="75000"/>
                  </a:schemeClr>
                </a:solidFill>
              </a:rPr>
              <a:t>53%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7" name="文本框 136"/>
          <p:cNvSpPr txBox="1"/>
          <p:nvPr/>
        </p:nvSpPr>
        <p:spPr>
          <a:xfrm rot="1206351">
            <a:off x="4217565" y="1631361"/>
            <a:ext cx="972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2400" b="1" dirty="0" smtClean="0">
                <a:solidFill>
                  <a:schemeClr val="accent6">
                    <a:lumMod val="75000"/>
                    <a:alpha val="60000"/>
                  </a:schemeClr>
                </a:solidFill>
              </a:rPr>
              <a:t>&lt; 5%</a:t>
            </a:r>
            <a:endParaRPr lang="zh-CN" altLang="en-US" sz="2400" b="1" dirty="0">
              <a:solidFill>
                <a:schemeClr val="accent6">
                  <a:lumMod val="75000"/>
                  <a:alpha val="60000"/>
                </a:schemeClr>
              </a:solidFill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4132333" y="3283756"/>
            <a:ext cx="972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2400" b="1" dirty="0" smtClean="0">
                <a:solidFill>
                  <a:schemeClr val="accent4">
                    <a:lumMod val="75000"/>
                    <a:alpha val="60000"/>
                  </a:schemeClr>
                </a:solidFill>
              </a:rPr>
              <a:t>&lt; 5%</a:t>
            </a:r>
            <a:endParaRPr lang="zh-CN" altLang="en-US" sz="2400" b="1" dirty="0">
              <a:solidFill>
                <a:schemeClr val="accent4">
                  <a:lumMod val="75000"/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047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0213" y="2712912"/>
            <a:ext cx="730555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7200" b="1" cap="none" spc="0" dirty="0" smtClean="0">
                <a:ln w="12700" cmpd="sng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App   Dissecting</a:t>
            </a:r>
            <a:endParaRPr lang="zh-CN" altLang="en-US" sz="7200" b="1" cap="none" spc="0" dirty="0">
              <a:ln w="12700" cmpd="sng">
                <a:noFill/>
                <a:prstDash val="solid"/>
              </a:ln>
              <a:solidFill>
                <a:schemeClr val="accent5">
                  <a:lumMod val="75000"/>
                </a:schemeClr>
              </a:solidFill>
              <a:effectLst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280213" y="0"/>
            <a:ext cx="0" cy="4409954"/>
          </a:xfrm>
          <a:prstGeom prst="line">
            <a:avLst/>
          </a:prstGeom>
          <a:ln w="101600" cmpd="dbl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9585767" y="2448046"/>
            <a:ext cx="0" cy="4409954"/>
          </a:xfrm>
          <a:prstGeom prst="line">
            <a:avLst/>
          </a:prstGeom>
          <a:ln w="101600" cmpd="dbl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1" y="4397028"/>
            <a:ext cx="9585766" cy="12926"/>
          </a:xfrm>
          <a:prstGeom prst="line">
            <a:avLst/>
          </a:prstGeom>
          <a:ln w="101600" cmpd="dbl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 flipV="1">
            <a:off x="2280213" y="2409450"/>
            <a:ext cx="9819190" cy="12805"/>
          </a:xfrm>
          <a:prstGeom prst="line">
            <a:avLst/>
          </a:prstGeom>
          <a:ln w="101600" cmpd="dbl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281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65" y="328306"/>
            <a:ext cx="874842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Prerequsite</a:t>
            </a:r>
            <a:r>
              <a:rPr lang="en-US" altLang="zh-CN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analyzing APK </a:t>
            </a:r>
            <a:endParaRPr lang="zh-CN" alt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0" y="1251636"/>
            <a:ext cx="9433367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7442522" y="1375799"/>
            <a:ext cx="4749478" cy="640563"/>
            <a:chOff x="7465671" y="1412110"/>
            <a:chExt cx="4479402" cy="601885"/>
          </a:xfrm>
        </p:grpSpPr>
        <p:sp>
          <p:nvSpPr>
            <p:cNvPr id="5" name="文本框 4"/>
            <p:cNvSpPr txBox="1"/>
            <p:nvPr/>
          </p:nvSpPr>
          <p:spPr>
            <a:xfrm>
              <a:off x="7465671" y="1412110"/>
              <a:ext cx="447940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/>
                <a:t>  APK:  </a:t>
              </a:r>
              <a:r>
                <a:rPr lang="en-US" altLang="zh-CN" sz="3200" dirty="0" smtClean="0">
                  <a:solidFill>
                    <a:schemeClr val="accent2">
                      <a:lumMod val="75000"/>
                    </a:schemeClr>
                  </a:solidFill>
                </a:rPr>
                <a:t>application package</a:t>
              </a:r>
              <a:endParaRPr lang="zh-CN" altLang="en-US" sz="32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8" name="流程图: 过程 7"/>
            <p:cNvSpPr/>
            <p:nvPr/>
          </p:nvSpPr>
          <p:spPr>
            <a:xfrm>
              <a:off x="7465671" y="1412111"/>
              <a:ext cx="4352081" cy="601884"/>
            </a:xfrm>
            <a:prstGeom prst="flowChartProcess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圆角矩形 11"/>
          <p:cNvSpPr/>
          <p:nvPr/>
        </p:nvSpPr>
        <p:spPr>
          <a:xfrm>
            <a:off x="3413624" y="1545743"/>
            <a:ext cx="2314937" cy="765518"/>
          </a:xfrm>
          <a:prstGeom prst="roundRect">
            <a:avLst>
              <a:gd name="adj" fmla="val 28763"/>
            </a:avLst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APK</a:t>
            </a:r>
            <a:endParaRPr lang="zh-CN" altLang="en-US" sz="3600" b="1" dirty="0"/>
          </a:p>
        </p:txBody>
      </p:sp>
      <p:sp>
        <p:nvSpPr>
          <p:cNvPr id="13" name="圆角矩形 12"/>
          <p:cNvSpPr/>
          <p:nvPr/>
        </p:nvSpPr>
        <p:spPr>
          <a:xfrm>
            <a:off x="101344" y="2876723"/>
            <a:ext cx="4342428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AndroidManifest.xml</a:t>
            </a:r>
            <a:endParaRPr lang="zh-CN" altLang="en-US" sz="3600" b="1" dirty="0"/>
          </a:p>
        </p:txBody>
      </p:sp>
      <p:sp>
        <p:nvSpPr>
          <p:cNvPr id="14" name="圆角矩形 13"/>
          <p:cNvSpPr/>
          <p:nvPr/>
        </p:nvSpPr>
        <p:spPr>
          <a:xfrm>
            <a:off x="4895213" y="2897038"/>
            <a:ext cx="2383366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err="1" smtClean="0"/>
              <a:t>classes.dex</a:t>
            </a:r>
            <a:endParaRPr lang="zh-CN" altLang="en-US" sz="3600" b="1" dirty="0"/>
          </a:p>
        </p:txBody>
      </p:sp>
      <p:sp>
        <p:nvSpPr>
          <p:cNvPr id="15" name="圆角矩形 14"/>
          <p:cNvSpPr/>
          <p:nvPr/>
        </p:nvSpPr>
        <p:spPr>
          <a:xfrm>
            <a:off x="8427278" y="2897038"/>
            <a:ext cx="3532202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err="1" smtClean="0"/>
              <a:t>resources.arsc</a:t>
            </a:r>
            <a:endParaRPr lang="zh-CN" altLang="en-US" sz="3600" b="1" dirty="0"/>
          </a:p>
        </p:txBody>
      </p:sp>
      <p:sp>
        <p:nvSpPr>
          <p:cNvPr id="16" name="圆角矩形 15"/>
          <p:cNvSpPr/>
          <p:nvPr/>
        </p:nvSpPr>
        <p:spPr>
          <a:xfrm>
            <a:off x="3164772" y="5222465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META-INF</a:t>
            </a:r>
            <a:endParaRPr lang="zh-CN" altLang="en-US" sz="3600" b="1" dirty="0"/>
          </a:p>
        </p:txBody>
      </p:sp>
      <p:sp>
        <p:nvSpPr>
          <p:cNvPr id="17" name="圆角矩形 16"/>
          <p:cNvSpPr/>
          <p:nvPr/>
        </p:nvSpPr>
        <p:spPr>
          <a:xfrm>
            <a:off x="6180891" y="5222467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res</a:t>
            </a:r>
            <a:endParaRPr lang="zh-CN" altLang="en-US" sz="3600" b="1" dirty="0"/>
          </a:p>
        </p:txBody>
      </p:sp>
      <p:sp>
        <p:nvSpPr>
          <p:cNvPr id="18" name="圆角矩形 17"/>
          <p:cNvSpPr/>
          <p:nvPr/>
        </p:nvSpPr>
        <p:spPr>
          <a:xfrm>
            <a:off x="9241840" y="5222466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lib</a:t>
            </a:r>
            <a:endParaRPr lang="zh-CN" altLang="en-US" sz="3600" b="1" dirty="0"/>
          </a:p>
        </p:txBody>
      </p:sp>
      <p:cxnSp>
        <p:nvCxnSpPr>
          <p:cNvPr id="20" name="肘形连接符 19"/>
          <p:cNvCxnSpPr>
            <a:stCxn id="12" idx="2"/>
            <a:endCxn id="13" idx="0"/>
          </p:cNvCxnSpPr>
          <p:nvPr/>
        </p:nvCxnSpPr>
        <p:spPr>
          <a:xfrm rot="5400000">
            <a:off x="3139095" y="1444725"/>
            <a:ext cx="565462" cy="2298535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12" idx="2"/>
            <a:endCxn id="14" idx="0"/>
          </p:cNvCxnSpPr>
          <p:nvPr/>
        </p:nvCxnSpPr>
        <p:spPr>
          <a:xfrm rot="16200000" flipH="1">
            <a:off x="5036106" y="1846247"/>
            <a:ext cx="585777" cy="1515803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2" idx="2"/>
            <a:endCxn id="15" idx="0"/>
          </p:cNvCxnSpPr>
          <p:nvPr/>
        </p:nvCxnSpPr>
        <p:spPr>
          <a:xfrm rot="16200000" flipH="1">
            <a:off x="7089348" y="-206994"/>
            <a:ext cx="585777" cy="5622286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12" idx="2"/>
            <a:endCxn id="16" idx="0"/>
          </p:cNvCxnSpPr>
          <p:nvPr/>
        </p:nvCxnSpPr>
        <p:spPr>
          <a:xfrm rot="5400000">
            <a:off x="3115491" y="3766863"/>
            <a:ext cx="2911204" cy="1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12" idx="2"/>
            <a:endCxn id="17" idx="0"/>
          </p:cNvCxnSpPr>
          <p:nvPr/>
        </p:nvCxnSpPr>
        <p:spPr>
          <a:xfrm rot="16200000" flipH="1">
            <a:off x="4623549" y="2258805"/>
            <a:ext cx="2911206" cy="3016118"/>
          </a:xfrm>
          <a:prstGeom prst="bentConnector3">
            <a:avLst>
              <a:gd name="adj1" fmla="val 10241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连接符 66"/>
          <p:cNvCxnSpPr>
            <a:endCxn id="18" idx="0"/>
          </p:cNvCxnSpPr>
          <p:nvPr/>
        </p:nvCxnSpPr>
        <p:spPr>
          <a:xfrm>
            <a:off x="7587211" y="4418278"/>
            <a:ext cx="3060949" cy="804188"/>
          </a:xfrm>
          <a:prstGeom prst="bentConnector2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998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139" y="706924"/>
            <a:ext cx="10282419" cy="464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24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43199" y="144853"/>
            <a:ext cx="6609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Bird-eye </a:t>
            </a:r>
            <a:r>
              <a:rPr lang="en-US" altLang="zh-CN" sz="3600" dirty="0" smtClean="0"/>
              <a:t> </a:t>
            </a:r>
            <a:r>
              <a:rPr lang="en-US" altLang="zh-CN" sz="3600" b="1" dirty="0" smtClean="0">
                <a:solidFill>
                  <a:srgbClr val="FF9900"/>
                </a:solidFill>
              </a:rPr>
              <a:t>AndroidManifest.xml</a:t>
            </a:r>
            <a:endParaRPr lang="zh-CN" altLang="en-US" sz="3600" b="1" dirty="0">
              <a:solidFill>
                <a:srgbClr val="FF99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9709" y="881719"/>
            <a:ext cx="2453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a)  permissions</a:t>
            </a:r>
            <a:endParaRPr lang="zh-CN" altLang="en-US" sz="28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672" y="1495474"/>
            <a:ext cx="6689558" cy="489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492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452" y="887239"/>
            <a:ext cx="6510714" cy="573277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8473" y="291592"/>
            <a:ext cx="2453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b)  application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78177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88062" y="266080"/>
            <a:ext cx="2453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c)  activity</a:t>
            </a:r>
            <a:endParaRPr lang="zh-CN" altLang="en-US" sz="28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141" y="879836"/>
            <a:ext cx="8258175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4354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811" y="1020919"/>
            <a:ext cx="6732524" cy="48913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23863" y="383776"/>
            <a:ext cx="2788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d)  service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66397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128" y="1798102"/>
            <a:ext cx="6457950" cy="14382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050" y="4127484"/>
            <a:ext cx="6610350" cy="15906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23862" y="383776"/>
            <a:ext cx="3367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e)  content provider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01908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785" y="1448554"/>
            <a:ext cx="8173183" cy="46196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23862" y="383776"/>
            <a:ext cx="3340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f)  broadcast receiver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06746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025" y="1130503"/>
            <a:ext cx="7964146" cy="504395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9832" y="419992"/>
            <a:ext cx="2453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g)  meta-data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31634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34152" y="383776"/>
            <a:ext cx="2788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h)  intent-filter</a:t>
            </a:r>
            <a:endParaRPr lang="zh-CN" altLang="en-US" sz="2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179" y="906996"/>
            <a:ext cx="6290415" cy="568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51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07" y="744836"/>
            <a:ext cx="1144905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196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65" y="328306"/>
            <a:ext cx="874842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Prerequsite</a:t>
            </a:r>
            <a:r>
              <a:rPr lang="en-US" altLang="zh-CN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analyzing APK </a:t>
            </a:r>
            <a:endParaRPr lang="zh-CN" alt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0" y="1251636"/>
            <a:ext cx="9433367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7442522" y="1375799"/>
            <a:ext cx="4749478" cy="640563"/>
            <a:chOff x="7465671" y="1412110"/>
            <a:chExt cx="4479402" cy="601885"/>
          </a:xfrm>
        </p:grpSpPr>
        <p:sp>
          <p:nvSpPr>
            <p:cNvPr id="5" name="文本框 4"/>
            <p:cNvSpPr txBox="1"/>
            <p:nvPr/>
          </p:nvSpPr>
          <p:spPr>
            <a:xfrm>
              <a:off x="7465671" y="1412110"/>
              <a:ext cx="447940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/>
                <a:t>  APK:  </a:t>
              </a:r>
              <a:r>
                <a:rPr lang="en-US" altLang="zh-CN" sz="3200" dirty="0" smtClean="0">
                  <a:solidFill>
                    <a:schemeClr val="accent2">
                      <a:lumMod val="75000"/>
                    </a:schemeClr>
                  </a:solidFill>
                </a:rPr>
                <a:t>application package</a:t>
              </a:r>
              <a:endParaRPr lang="zh-CN" altLang="en-US" sz="32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8" name="流程图: 过程 7"/>
            <p:cNvSpPr/>
            <p:nvPr/>
          </p:nvSpPr>
          <p:spPr>
            <a:xfrm>
              <a:off x="7465671" y="1412111"/>
              <a:ext cx="4352081" cy="601884"/>
            </a:xfrm>
            <a:prstGeom prst="flowChartProcess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圆角矩形 11"/>
          <p:cNvSpPr/>
          <p:nvPr/>
        </p:nvSpPr>
        <p:spPr>
          <a:xfrm>
            <a:off x="3413624" y="1545743"/>
            <a:ext cx="2314937" cy="765518"/>
          </a:xfrm>
          <a:prstGeom prst="roundRect">
            <a:avLst>
              <a:gd name="adj" fmla="val 28763"/>
            </a:avLst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APK</a:t>
            </a:r>
            <a:endParaRPr lang="zh-CN" altLang="en-US" sz="3600" b="1" dirty="0"/>
          </a:p>
        </p:txBody>
      </p:sp>
      <p:sp>
        <p:nvSpPr>
          <p:cNvPr id="13" name="圆角矩形 12"/>
          <p:cNvSpPr/>
          <p:nvPr/>
        </p:nvSpPr>
        <p:spPr>
          <a:xfrm>
            <a:off x="101344" y="2876723"/>
            <a:ext cx="4342428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AndroidManifest.xml</a:t>
            </a:r>
            <a:endParaRPr lang="zh-CN" altLang="en-US" sz="3600" b="1" dirty="0"/>
          </a:p>
        </p:txBody>
      </p:sp>
      <p:sp>
        <p:nvSpPr>
          <p:cNvPr id="14" name="圆角矩形 13"/>
          <p:cNvSpPr/>
          <p:nvPr/>
        </p:nvSpPr>
        <p:spPr>
          <a:xfrm>
            <a:off x="4895213" y="2897038"/>
            <a:ext cx="2383366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err="1" smtClean="0"/>
              <a:t>classes.dex</a:t>
            </a:r>
            <a:endParaRPr lang="zh-CN" altLang="en-US" sz="3600" b="1" dirty="0"/>
          </a:p>
        </p:txBody>
      </p:sp>
      <p:sp>
        <p:nvSpPr>
          <p:cNvPr id="15" name="圆角矩形 14"/>
          <p:cNvSpPr/>
          <p:nvPr/>
        </p:nvSpPr>
        <p:spPr>
          <a:xfrm>
            <a:off x="8427278" y="2897038"/>
            <a:ext cx="3532202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err="1" smtClean="0"/>
              <a:t>resources.arsc</a:t>
            </a:r>
            <a:endParaRPr lang="zh-CN" altLang="en-US" sz="3600" b="1" dirty="0"/>
          </a:p>
        </p:txBody>
      </p:sp>
      <p:sp>
        <p:nvSpPr>
          <p:cNvPr id="16" name="圆角矩形 15"/>
          <p:cNvSpPr/>
          <p:nvPr/>
        </p:nvSpPr>
        <p:spPr>
          <a:xfrm>
            <a:off x="3164772" y="5222465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META-INF</a:t>
            </a:r>
            <a:endParaRPr lang="zh-CN" altLang="en-US" sz="3600" b="1" dirty="0"/>
          </a:p>
        </p:txBody>
      </p:sp>
      <p:sp>
        <p:nvSpPr>
          <p:cNvPr id="17" name="圆角矩形 16"/>
          <p:cNvSpPr/>
          <p:nvPr/>
        </p:nvSpPr>
        <p:spPr>
          <a:xfrm>
            <a:off x="6180891" y="5222467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res</a:t>
            </a:r>
            <a:endParaRPr lang="zh-CN" altLang="en-US" sz="3600" b="1" dirty="0"/>
          </a:p>
        </p:txBody>
      </p:sp>
      <p:sp>
        <p:nvSpPr>
          <p:cNvPr id="18" name="圆角矩形 17"/>
          <p:cNvSpPr/>
          <p:nvPr/>
        </p:nvSpPr>
        <p:spPr>
          <a:xfrm>
            <a:off x="9241840" y="5222466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lib</a:t>
            </a:r>
            <a:endParaRPr lang="zh-CN" altLang="en-US" sz="3600" b="1" dirty="0"/>
          </a:p>
        </p:txBody>
      </p:sp>
      <p:cxnSp>
        <p:nvCxnSpPr>
          <p:cNvPr id="20" name="肘形连接符 19"/>
          <p:cNvCxnSpPr>
            <a:stCxn id="12" idx="2"/>
            <a:endCxn id="13" idx="0"/>
          </p:cNvCxnSpPr>
          <p:nvPr/>
        </p:nvCxnSpPr>
        <p:spPr>
          <a:xfrm rot="5400000">
            <a:off x="3139095" y="1444725"/>
            <a:ext cx="565462" cy="2298535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12" idx="2"/>
            <a:endCxn id="14" idx="0"/>
          </p:cNvCxnSpPr>
          <p:nvPr/>
        </p:nvCxnSpPr>
        <p:spPr>
          <a:xfrm rot="16200000" flipH="1">
            <a:off x="5036106" y="1846247"/>
            <a:ext cx="585777" cy="1515803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2" idx="2"/>
            <a:endCxn id="15" idx="0"/>
          </p:cNvCxnSpPr>
          <p:nvPr/>
        </p:nvCxnSpPr>
        <p:spPr>
          <a:xfrm rot="16200000" flipH="1">
            <a:off x="7089348" y="-206994"/>
            <a:ext cx="585777" cy="5622286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12" idx="2"/>
            <a:endCxn id="16" idx="0"/>
          </p:cNvCxnSpPr>
          <p:nvPr/>
        </p:nvCxnSpPr>
        <p:spPr>
          <a:xfrm rot="5400000">
            <a:off x="3115491" y="3766863"/>
            <a:ext cx="2911204" cy="1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12" idx="2"/>
            <a:endCxn id="17" idx="0"/>
          </p:cNvCxnSpPr>
          <p:nvPr/>
        </p:nvCxnSpPr>
        <p:spPr>
          <a:xfrm rot="16200000" flipH="1">
            <a:off x="4623549" y="2258805"/>
            <a:ext cx="2911206" cy="3016118"/>
          </a:xfrm>
          <a:prstGeom prst="bentConnector3">
            <a:avLst>
              <a:gd name="adj1" fmla="val 10241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连接符 66"/>
          <p:cNvCxnSpPr>
            <a:endCxn id="18" idx="0"/>
          </p:cNvCxnSpPr>
          <p:nvPr/>
        </p:nvCxnSpPr>
        <p:spPr>
          <a:xfrm>
            <a:off x="7587211" y="4418278"/>
            <a:ext cx="3060949" cy="804188"/>
          </a:xfrm>
          <a:prstGeom prst="bentConnector2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032566" y="4965539"/>
            <a:ext cx="3054329" cy="13310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6354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16039" y="271601"/>
            <a:ext cx="6609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Bird-eye </a:t>
            </a:r>
            <a:r>
              <a:rPr lang="en-US" altLang="zh-CN" sz="4000" dirty="0" smtClean="0"/>
              <a:t> </a:t>
            </a:r>
            <a:r>
              <a:rPr lang="en-US" altLang="zh-CN" sz="4000" b="1" dirty="0" smtClean="0">
                <a:solidFill>
                  <a:srgbClr val="FF9900"/>
                </a:solidFill>
              </a:rPr>
              <a:t>META-INF</a:t>
            </a:r>
            <a:endParaRPr lang="zh-CN" altLang="en-US" sz="4000" b="1" dirty="0">
              <a:solidFill>
                <a:srgbClr val="FF99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86" y="2850146"/>
            <a:ext cx="10459164" cy="268435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49343" y="1530096"/>
            <a:ext cx="1085265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CN" sz="4400" b="1" cap="none" spc="0" dirty="0" smtClean="0">
                <a:ln/>
                <a:solidFill>
                  <a:schemeClr val="accent4"/>
                </a:solidFill>
                <a:effectLst/>
              </a:rPr>
              <a:t>All about Digital Signature and cryptography !</a:t>
            </a:r>
            <a:endParaRPr lang="zh-CN" altLang="en-US" sz="44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03406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26" y="5427729"/>
            <a:ext cx="8841343" cy="11878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670686" y="6018357"/>
            <a:ext cx="3428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smtClean="0"/>
              <a:t>a)  MANIFEST.MF</a:t>
            </a:r>
            <a:endParaRPr lang="zh-CN" altLang="en-US" sz="3600" dirty="0"/>
          </a:p>
        </p:txBody>
      </p:sp>
      <p:sp>
        <p:nvSpPr>
          <p:cNvPr id="5" name="文本框 4"/>
          <p:cNvSpPr txBox="1"/>
          <p:nvPr/>
        </p:nvSpPr>
        <p:spPr>
          <a:xfrm>
            <a:off x="603426" y="484878"/>
            <a:ext cx="3850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chemeClr val="accent5">
                    <a:lumMod val="75000"/>
                  </a:schemeClr>
                </a:solidFill>
              </a:rPr>
              <a:t>All APK file names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04354" y="530601"/>
            <a:ext cx="3076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rgbClr val="CC9900"/>
                </a:solidFill>
              </a:rPr>
              <a:t>SHA-1 hashes</a:t>
            </a:r>
            <a:endParaRPr lang="zh-CN" altLang="en-US" sz="3600" b="1" dirty="0">
              <a:solidFill>
                <a:srgbClr val="CC9900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4453806" y="836273"/>
            <a:ext cx="3150548" cy="10951"/>
          </a:xfrm>
          <a:prstGeom prst="straightConnector1">
            <a:avLst/>
          </a:prstGeom>
          <a:ln w="63500" cap="flat" cmpd="dbl">
            <a:solidFill>
              <a:schemeClr val="tx1"/>
            </a:solidFill>
            <a:round/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27" y="1352205"/>
            <a:ext cx="8841343" cy="3453857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 rot="5400000">
            <a:off x="1861971" y="4701397"/>
            <a:ext cx="553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smtClean="0"/>
              <a:t>…</a:t>
            </a:r>
            <a:endParaRPr lang="zh-CN" altLang="en-US" sz="4800" dirty="0"/>
          </a:p>
        </p:txBody>
      </p:sp>
      <p:sp>
        <p:nvSpPr>
          <p:cNvPr id="25" name="文本框 24"/>
          <p:cNvSpPr txBox="1"/>
          <p:nvPr/>
        </p:nvSpPr>
        <p:spPr>
          <a:xfrm>
            <a:off x="4614827" y="200893"/>
            <a:ext cx="2754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smtClean="0"/>
              <a:t>base64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84426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37" y="1008866"/>
            <a:ext cx="10092414" cy="534796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253998" y="5914185"/>
            <a:ext cx="3428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600" dirty="0" smtClean="0"/>
              <a:t>b)  CERT.SF</a:t>
            </a:r>
            <a:endParaRPr lang="zh-CN" altLang="en-US" sz="3600" dirty="0"/>
          </a:p>
        </p:txBody>
      </p:sp>
      <p:sp>
        <p:nvSpPr>
          <p:cNvPr id="6" name="文本框 5"/>
          <p:cNvSpPr txBox="1"/>
          <p:nvPr/>
        </p:nvSpPr>
        <p:spPr>
          <a:xfrm>
            <a:off x="528037" y="300980"/>
            <a:ext cx="1008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rgbClr val="3333FF"/>
                </a:solidFill>
              </a:rPr>
              <a:t>SHA-1 digest of every 3 lines in </a:t>
            </a:r>
            <a:r>
              <a:rPr lang="en-US" altLang="zh-CN" sz="4000" dirty="0" smtClean="0">
                <a:solidFill>
                  <a:srgbClr val="CC0066"/>
                </a:solidFill>
              </a:rPr>
              <a:t>MANIFEST.MF</a:t>
            </a:r>
            <a:r>
              <a:rPr lang="en-US" altLang="zh-CN" sz="4000" dirty="0" smtClean="0">
                <a:solidFill>
                  <a:srgbClr val="3333FF"/>
                </a:solidFill>
              </a:rPr>
              <a:t> </a:t>
            </a:r>
            <a:endParaRPr lang="zh-CN" altLang="en-US" sz="4000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0243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462342" y="6006783"/>
            <a:ext cx="3428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600" dirty="0" smtClean="0"/>
              <a:t>c)  CERT.RSA</a:t>
            </a:r>
            <a:endParaRPr lang="zh-CN" altLang="en-US" sz="3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54" y="585458"/>
            <a:ext cx="9843778" cy="494727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9184" y="5945228"/>
            <a:ext cx="1008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rgbClr val="3333FF"/>
                </a:solidFill>
              </a:rPr>
              <a:t>Signature of </a:t>
            </a:r>
            <a:r>
              <a:rPr lang="en-US" altLang="zh-CN" sz="4000" dirty="0" smtClean="0">
                <a:solidFill>
                  <a:srgbClr val="CC0066"/>
                </a:solidFill>
              </a:rPr>
              <a:t>CERT.SF</a:t>
            </a:r>
            <a:r>
              <a:rPr lang="en-US" altLang="zh-CN" sz="4000" dirty="0" smtClean="0">
                <a:solidFill>
                  <a:srgbClr val="3333FF"/>
                </a:solidFill>
              </a:rPr>
              <a:t> </a:t>
            </a:r>
            <a:endParaRPr lang="zh-CN" altLang="en-US" sz="4000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7417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78088" y="6090769"/>
            <a:ext cx="3428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600" dirty="0" smtClean="0"/>
              <a:t>c)  CERT.RSA</a:t>
            </a:r>
            <a:endParaRPr lang="zh-CN" altLang="en-US" sz="3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63" y="352785"/>
            <a:ext cx="10093125" cy="585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792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78088" y="6090769"/>
            <a:ext cx="3428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600" dirty="0" smtClean="0"/>
              <a:t>c)  CERT.RSA</a:t>
            </a:r>
            <a:endParaRPr lang="zh-CN" altLang="en-US" sz="3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731" y="103710"/>
            <a:ext cx="7627717" cy="650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560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367" y="265916"/>
            <a:ext cx="6753225" cy="60483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01337" y="5991125"/>
            <a:ext cx="420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600" dirty="0" smtClean="0"/>
              <a:t>d)  </a:t>
            </a:r>
            <a:r>
              <a:rPr lang="en-US" altLang="zh-CN" sz="3600" dirty="0" err="1" smtClean="0"/>
              <a:t>rxjava.properties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9678374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65" y="328306"/>
            <a:ext cx="874842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Prerequsite</a:t>
            </a:r>
            <a:r>
              <a:rPr lang="en-US" altLang="zh-CN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analyzing APK </a:t>
            </a:r>
            <a:endParaRPr lang="zh-CN" alt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0" y="1251636"/>
            <a:ext cx="9433367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3413624" y="1545743"/>
            <a:ext cx="2314937" cy="765518"/>
          </a:xfrm>
          <a:prstGeom prst="roundRect">
            <a:avLst>
              <a:gd name="adj" fmla="val 28763"/>
            </a:avLst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APK</a:t>
            </a:r>
            <a:endParaRPr lang="zh-CN" altLang="en-US" sz="3600" b="1" dirty="0"/>
          </a:p>
        </p:txBody>
      </p:sp>
      <p:sp>
        <p:nvSpPr>
          <p:cNvPr id="13" name="圆角矩形 12"/>
          <p:cNvSpPr/>
          <p:nvPr/>
        </p:nvSpPr>
        <p:spPr>
          <a:xfrm>
            <a:off x="101344" y="2876723"/>
            <a:ext cx="4342428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AndroidManifest.xml</a:t>
            </a:r>
            <a:endParaRPr lang="zh-CN" altLang="en-US" sz="3600" b="1" dirty="0"/>
          </a:p>
        </p:txBody>
      </p:sp>
      <p:sp>
        <p:nvSpPr>
          <p:cNvPr id="14" name="圆角矩形 13"/>
          <p:cNvSpPr/>
          <p:nvPr/>
        </p:nvSpPr>
        <p:spPr>
          <a:xfrm>
            <a:off x="4895213" y="2897038"/>
            <a:ext cx="2383366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err="1" smtClean="0"/>
              <a:t>classes.dex</a:t>
            </a:r>
            <a:endParaRPr lang="zh-CN" altLang="en-US" sz="3600" b="1" dirty="0"/>
          </a:p>
        </p:txBody>
      </p:sp>
      <p:sp>
        <p:nvSpPr>
          <p:cNvPr id="15" name="圆角矩形 14"/>
          <p:cNvSpPr/>
          <p:nvPr/>
        </p:nvSpPr>
        <p:spPr>
          <a:xfrm>
            <a:off x="8427278" y="2897038"/>
            <a:ext cx="3532202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err="1" smtClean="0"/>
              <a:t>resources.arsc</a:t>
            </a:r>
            <a:endParaRPr lang="zh-CN" altLang="en-US" sz="3600" b="1" dirty="0"/>
          </a:p>
        </p:txBody>
      </p:sp>
      <p:sp>
        <p:nvSpPr>
          <p:cNvPr id="16" name="圆角矩形 15"/>
          <p:cNvSpPr/>
          <p:nvPr/>
        </p:nvSpPr>
        <p:spPr>
          <a:xfrm>
            <a:off x="3164772" y="5222465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META-INF</a:t>
            </a:r>
            <a:endParaRPr lang="zh-CN" altLang="en-US" sz="3600" b="1" dirty="0"/>
          </a:p>
        </p:txBody>
      </p:sp>
      <p:sp>
        <p:nvSpPr>
          <p:cNvPr id="17" name="圆角矩形 16"/>
          <p:cNvSpPr/>
          <p:nvPr/>
        </p:nvSpPr>
        <p:spPr>
          <a:xfrm>
            <a:off x="6180891" y="5222467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res</a:t>
            </a:r>
            <a:endParaRPr lang="zh-CN" altLang="en-US" sz="3600" b="1" dirty="0"/>
          </a:p>
        </p:txBody>
      </p:sp>
      <p:sp>
        <p:nvSpPr>
          <p:cNvPr id="18" name="圆角矩形 17"/>
          <p:cNvSpPr/>
          <p:nvPr/>
        </p:nvSpPr>
        <p:spPr>
          <a:xfrm>
            <a:off x="9241840" y="5222466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lib</a:t>
            </a:r>
            <a:endParaRPr lang="zh-CN" altLang="en-US" sz="3600" b="1" dirty="0"/>
          </a:p>
        </p:txBody>
      </p:sp>
      <p:cxnSp>
        <p:nvCxnSpPr>
          <p:cNvPr id="20" name="肘形连接符 19"/>
          <p:cNvCxnSpPr>
            <a:stCxn id="12" idx="2"/>
            <a:endCxn id="13" idx="0"/>
          </p:cNvCxnSpPr>
          <p:nvPr/>
        </p:nvCxnSpPr>
        <p:spPr>
          <a:xfrm rot="5400000">
            <a:off x="3139095" y="1444725"/>
            <a:ext cx="565462" cy="2298535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12" idx="2"/>
            <a:endCxn id="14" idx="0"/>
          </p:cNvCxnSpPr>
          <p:nvPr/>
        </p:nvCxnSpPr>
        <p:spPr>
          <a:xfrm rot="16200000" flipH="1">
            <a:off x="5036106" y="1846247"/>
            <a:ext cx="585777" cy="1515803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2" idx="2"/>
            <a:endCxn id="15" idx="0"/>
          </p:cNvCxnSpPr>
          <p:nvPr/>
        </p:nvCxnSpPr>
        <p:spPr>
          <a:xfrm rot="16200000" flipH="1">
            <a:off x="7089348" y="-206994"/>
            <a:ext cx="585777" cy="5622286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12" idx="2"/>
            <a:endCxn id="16" idx="0"/>
          </p:cNvCxnSpPr>
          <p:nvPr/>
        </p:nvCxnSpPr>
        <p:spPr>
          <a:xfrm rot="5400000">
            <a:off x="3115491" y="3766863"/>
            <a:ext cx="2911204" cy="1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12" idx="2"/>
            <a:endCxn id="17" idx="0"/>
          </p:cNvCxnSpPr>
          <p:nvPr/>
        </p:nvCxnSpPr>
        <p:spPr>
          <a:xfrm rot="16200000" flipH="1">
            <a:off x="4623549" y="2258805"/>
            <a:ext cx="2911206" cy="3016118"/>
          </a:xfrm>
          <a:prstGeom prst="bentConnector3">
            <a:avLst>
              <a:gd name="adj1" fmla="val 10241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连接符 66"/>
          <p:cNvCxnSpPr>
            <a:endCxn id="18" idx="0"/>
          </p:cNvCxnSpPr>
          <p:nvPr/>
        </p:nvCxnSpPr>
        <p:spPr>
          <a:xfrm>
            <a:off x="7587211" y="4418278"/>
            <a:ext cx="3060949" cy="804188"/>
          </a:xfrm>
          <a:prstGeom prst="bentConnector2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4768770" y="2772874"/>
            <a:ext cx="2673752" cy="106992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8527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490" y="1301608"/>
            <a:ext cx="8845061" cy="483297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78490" y="294749"/>
            <a:ext cx="82104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Bird-eye </a:t>
            </a:r>
            <a:r>
              <a:rPr lang="en-US" altLang="zh-CN" sz="4000" dirty="0" smtClean="0"/>
              <a:t> </a:t>
            </a:r>
            <a:r>
              <a:rPr lang="en-US" altLang="zh-CN" sz="4000" b="1" dirty="0" err="1" smtClean="0">
                <a:solidFill>
                  <a:srgbClr val="FF9900"/>
                </a:solidFill>
              </a:rPr>
              <a:t>classes.dex</a:t>
            </a:r>
            <a:r>
              <a:rPr lang="en-US" altLang="zh-CN" sz="4000" b="1" dirty="0" smtClean="0">
                <a:solidFill>
                  <a:srgbClr val="FF9900"/>
                </a:solidFill>
              </a:rPr>
              <a:t> </a:t>
            </a:r>
            <a:r>
              <a:rPr lang="zh-CN" altLang="en-US" sz="4000" b="1" dirty="0" smtClean="0"/>
              <a:t>（</a:t>
            </a:r>
            <a:r>
              <a:rPr lang="en-US" altLang="zh-CN" sz="4000" b="1" dirty="0" smtClean="0"/>
              <a:t>using </a:t>
            </a:r>
            <a:r>
              <a:rPr lang="en-US" altLang="zh-CN" sz="4000" b="1" dirty="0" err="1" smtClean="0"/>
              <a:t>jadx</a:t>
            </a:r>
            <a:r>
              <a:rPr lang="zh-CN" altLang="en-US" sz="4000" b="1" dirty="0" smtClean="0"/>
              <a:t>）</a:t>
            </a:r>
            <a:endParaRPr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1321145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58" y="1571142"/>
            <a:ext cx="10675037" cy="451714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55413" y="462988"/>
            <a:ext cx="107065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rgbClr val="CC0066"/>
                </a:solidFill>
              </a:rPr>
              <a:t>All leaf files are Java source files </a:t>
            </a:r>
            <a:endParaRPr lang="zh-CN" altLang="en-US" sz="4400" b="1" dirty="0">
              <a:solidFill>
                <a:srgbClr val="CC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428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968" y="1544678"/>
            <a:ext cx="8741031" cy="1291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968" y="4577725"/>
            <a:ext cx="8741031" cy="140614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3366"/>
            <a:ext cx="11632557" cy="63835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3466556"/>
            <a:ext cx="11632558" cy="58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9697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65" y="328306"/>
            <a:ext cx="874842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Prerequsite</a:t>
            </a:r>
            <a:r>
              <a:rPr lang="en-US" altLang="zh-CN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analyzing APK </a:t>
            </a:r>
            <a:endParaRPr lang="zh-CN" alt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0" y="1251636"/>
            <a:ext cx="9433367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3413624" y="1545743"/>
            <a:ext cx="2314937" cy="765518"/>
          </a:xfrm>
          <a:prstGeom prst="roundRect">
            <a:avLst>
              <a:gd name="adj" fmla="val 28763"/>
            </a:avLst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APK</a:t>
            </a:r>
            <a:endParaRPr lang="zh-CN" altLang="en-US" sz="3600" b="1" dirty="0"/>
          </a:p>
        </p:txBody>
      </p:sp>
      <p:sp>
        <p:nvSpPr>
          <p:cNvPr id="13" name="圆角矩形 12"/>
          <p:cNvSpPr/>
          <p:nvPr/>
        </p:nvSpPr>
        <p:spPr>
          <a:xfrm>
            <a:off x="101344" y="2876723"/>
            <a:ext cx="4342428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AndroidManifest.xml</a:t>
            </a:r>
            <a:endParaRPr lang="zh-CN" altLang="en-US" sz="3600" b="1" dirty="0"/>
          </a:p>
        </p:txBody>
      </p:sp>
      <p:sp>
        <p:nvSpPr>
          <p:cNvPr id="14" name="圆角矩形 13"/>
          <p:cNvSpPr/>
          <p:nvPr/>
        </p:nvSpPr>
        <p:spPr>
          <a:xfrm>
            <a:off x="4895213" y="2897038"/>
            <a:ext cx="2383366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err="1" smtClean="0"/>
              <a:t>classes.dex</a:t>
            </a:r>
            <a:endParaRPr lang="zh-CN" altLang="en-US" sz="3600" b="1" dirty="0"/>
          </a:p>
        </p:txBody>
      </p:sp>
      <p:sp>
        <p:nvSpPr>
          <p:cNvPr id="15" name="圆角矩形 14"/>
          <p:cNvSpPr/>
          <p:nvPr/>
        </p:nvSpPr>
        <p:spPr>
          <a:xfrm>
            <a:off x="8427278" y="2897038"/>
            <a:ext cx="3532202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err="1" smtClean="0"/>
              <a:t>resources.arsc</a:t>
            </a:r>
            <a:endParaRPr lang="zh-CN" altLang="en-US" sz="3600" b="1" dirty="0"/>
          </a:p>
        </p:txBody>
      </p:sp>
      <p:sp>
        <p:nvSpPr>
          <p:cNvPr id="16" name="圆角矩形 15"/>
          <p:cNvSpPr/>
          <p:nvPr/>
        </p:nvSpPr>
        <p:spPr>
          <a:xfrm>
            <a:off x="3164772" y="5222465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META-INF</a:t>
            </a:r>
            <a:endParaRPr lang="zh-CN" altLang="en-US" sz="3600" b="1" dirty="0"/>
          </a:p>
        </p:txBody>
      </p:sp>
      <p:sp>
        <p:nvSpPr>
          <p:cNvPr id="17" name="圆角矩形 16"/>
          <p:cNvSpPr/>
          <p:nvPr/>
        </p:nvSpPr>
        <p:spPr>
          <a:xfrm>
            <a:off x="6180891" y="5222467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res</a:t>
            </a:r>
            <a:endParaRPr lang="zh-CN" altLang="en-US" sz="3600" b="1" dirty="0"/>
          </a:p>
        </p:txBody>
      </p:sp>
      <p:sp>
        <p:nvSpPr>
          <p:cNvPr id="18" name="圆角矩形 17"/>
          <p:cNvSpPr/>
          <p:nvPr/>
        </p:nvSpPr>
        <p:spPr>
          <a:xfrm>
            <a:off x="9241840" y="5222466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lib</a:t>
            </a:r>
            <a:endParaRPr lang="zh-CN" altLang="en-US" sz="3600" b="1" dirty="0"/>
          </a:p>
        </p:txBody>
      </p:sp>
      <p:cxnSp>
        <p:nvCxnSpPr>
          <p:cNvPr id="20" name="肘形连接符 19"/>
          <p:cNvCxnSpPr>
            <a:stCxn id="12" idx="2"/>
            <a:endCxn id="13" idx="0"/>
          </p:cNvCxnSpPr>
          <p:nvPr/>
        </p:nvCxnSpPr>
        <p:spPr>
          <a:xfrm rot="5400000">
            <a:off x="3139095" y="1444725"/>
            <a:ext cx="565462" cy="2298535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12" idx="2"/>
            <a:endCxn id="14" idx="0"/>
          </p:cNvCxnSpPr>
          <p:nvPr/>
        </p:nvCxnSpPr>
        <p:spPr>
          <a:xfrm rot="16200000" flipH="1">
            <a:off x="5036106" y="1846247"/>
            <a:ext cx="585777" cy="1515803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2" idx="2"/>
            <a:endCxn id="15" idx="0"/>
          </p:cNvCxnSpPr>
          <p:nvPr/>
        </p:nvCxnSpPr>
        <p:spPr>
          <a:xfrm rot="16200000" flipH="1">
            <a:off x="7089348" y="-206994"/>
            <a:ext cx="585777" cy="5622286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12" idx="2"/>
            <a:endCxn id="16" idx="0"/>
          </p:cNvCxnSpPr>
          <p:nvPr/>
        </p:nvCxnSpPr>
        <p:spPr>
          <a:xfrm rot="5400000">
            <a:off x="3115491" y="3766863"/>
            <a:ext cx="2911204" cy="1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12" idx="2"/>
            <a:endCxn id="17" idx="0"/>
          </p:cNvCxnSpPr>
          <p:nvPr/>
        </p:nvCxnSpPr>
        <p:spPr>
          <a:xfrm rot="16200000" flipH="1">
            <a:off x="4623549" y="2258805"/>
            <a:ext cx="2911206" cy="3016118"/>
          </a:xfrm>
          <a:prstGeom prst="bentConnector3">
            <a:avLst>
              <a:gd name="adj1" fmla="val 10241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连接符 66"/>
          <p:cNvCxnSpPr>
            <a:endCxn id="18" idx="0"/>
          </p:cNvCxnSpPr>
          <p:nvPr/>
        </p:nvCxnSpPr>
        <p:spPr>
          <a:xfrm>
            <a:off x="7587211" y="4418278"/>
            <a:ext cx="3060949" cy="804188"/>
          </a:xfrm>
          <a:prstGeom prst="bentConnector2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6070927" y="5000614"/>
            <a:ext cx="3026773" cy="119184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6497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20617" y="202152"/>
            <a:ext cx="82104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Bird-eye </a:t>
            </a:r>
            <a:r>
              <a:rPr lang="en-US" altLang="zh-CN" sz="4000" dirty="0" smtClean="0"/>
              <a:t> </a:t>
            </a:r>
            <a:r>
              <a:rPr lang="en-US" altLang="zh-CN" sz="4000" b="1" dirty="0" smtClean="0">
                <a:solidFill>
                  <a:srgbClr val="FF9900"/>
                </a:solidFill>
              </a:rPr>
              <a:t>res </a:t>
            </a:r>
            <a:endParaRPr lang="zh-CN" altLang="en-US" sz="40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041" y="960440"/>
            <a:ext cx="7755038" cy="589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05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896392"/>
              </p:ext>
            </p:extLst>
          </p:nvPr>
        </p:nvGraphicFramePr>
        <p:xfrm>
          <a:off x="1869952" y="627066"/>
          <a:ext cx="8674585" cy="550751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734917"/>
                <a:gridCol w="1734917"/>
                <a:gridCol w="1734917"/>
                <a:gridCol w="1734917"/>
                <a:gridCol w="1734917"/>
              </a:tblGrid>
              <a:tr h="24309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800" dirty="0" smtClean="0"/>
                        <a:t>.xml</a:t>
                      </a:r>
                      <a:endParaRPr lang="zh-CN" altLang="en-US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800" dirty="0" smtClean="0"/>
                        <a:t>.</a:t>
                      </a:r>
                      <a:r>
                        <a:rPr lang="en-US" altLang="zh-CN" sz="4800" dirty="0" err="1" smtClean="0"/>
                        <a:t>png</a:t>
                      </a:r>
                      <a:endParaRPr lang="zh-CN" altLang="en-US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800" dirty="0" smtClean="0"/>
                        <a:t>.jpg</a:t>
                      </a:r>
                      <a:endParaRPr lang="zh-CN" altLang="en-US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800" dirty="0" smtClean="0"/>
                        <a:t>.gif</a:t>
                      </a:r>
                      <a:endParaRPr lang="zh-CN" altLang="en-US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800" dirty="0" smtClean="0"/>
                        <a:t>Total</a:t>
                      </a:r>
                      <a:r>
                        <a:rPr lang="en-US" altLang="zh-CN" sz="4800" baseline="0" dirty="0" smtClean="0"/>
                        <a:t> leaf files</a:t>
                      </a:r>
                      <a:endParaRPr lang="zh-CN" altLang="en-US" sz="4800" dirty="0"/>
                    </a:p>
                  </a:txBody>
                  <a:tcPr anchor="ctr"/>
                </a:tc>
              </a:tr>
              <a:tr h="30765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800" dirty="0" smtClean="0"/>
                        <a:t>1171</a:t>
                      </a:r>
                      <a:endParaRPr lang="zh-CN" altLang="en-US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800" dirty="0" smtClean="0"/>
                        <a:t>1575</a:t>
                      </a:r>
                      <a:endParaRPr lang="zh-CN" altLang="en-US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800" dirty="0" smtClean="0"/>
                        <a:t>13</a:t>
                      </a:r>
                      <a:endParaRPr lang="zh-CN" altLang="en-US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800" dirty="0" smtClean="0"/>
                        <a:t>9</a:t>
                      </a:r>
                      <a:endParaRPr lang="zh-CN" altLang="en-US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800" dirty="0" smtClean="0"/>
                        <a:t>2768</a:t>
                      </a:r>
                      <a:endParaRPr lang="zh-CN" altLang="en-US" sz="48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8428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65" y="328306"/>
            <a:ext cx="874842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Prerequsite</a:t>
            </a:r>
            <a:r>
              <a:rPr lang="en-US" altLang="zh-CN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analyzing APK </a:t>
            </a:r>
            <a:endParaRPr lang="zh-CN" alt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0" y="1251636"/>
            <a:ext cx="9433367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3413624" y="1545743"/>
            <a:ext cx="2314937" cy="765518"/>
          </a:xfrm>
          <a:prstGeom prst="roundRect">
            <a:avLst>
              <a:gd name="adj" fmla="val 28763"/>
            </a:avLst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APK</a:t>
            </a:r>
            <a:endParaRPr lang="zh-CN" altLang="en-US" sz="3600" b="1" dirty="0"/>
          </a:p>
        </p:txBody>
      </p:sp>
      <p:sp>
        <p:nvSpPr>
          <p:cNvPr id="13" name="圆角矩形 12"/>
          <p:cNvSpPr/>
          <p:nvPr/>
        </p:nvSpPr>
        <p:spPr>
          <a:xfrm>
            <a:off x="101344" y="2876723"/>
            <a:ext cx="4342428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AndroidManifest.xml</a:t>
            </a:r>
            <a:endParaRPr lang="zh-CN" altLang="en-US" sz="3600" b="1" dirty="0"/>
          </a:p>
        </p:txBody>
      </p:sp>
      <p:sp>
        <p:nvSpPr>
          <p:cNvPr id="14" name="圆角矩形 13"/>
          <p:cNvSpPr/>
          <p:nvPr/>
        </p:nvSpPr>
        <p:spPr>
          <a:xfrm>
            <a:off x="4895213" y="2897038"/>
            <a:ext cx="2383366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err="1" smtClean="0"/>
              <a:t>classes.dex</a:t>
            </a:r>
            <a:endParaRPr lang="zh-CN" altLang="en-US" sz="3600" b="1" dirty="0"/>
          </a:p>
        </p:txBody>
      </p:sp>
      <p:sp>
        <p:nvSpPr>
          <p:cNvPr id="15" name="圆角矩形 14"/>
          <p:cNvSpPr/>
          <p:nvPr/>
        </p:nvSpPr>
        <p:spPr>
          <a:xfrm>
            <a:off x="8427278" y="2897038"/>
            <a:ext cx="3532202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err="1" smtClean="0"/>
              <a:t>resources.arsc</a:t>
            </a:r>
            <a:endParaRPr lang="zh-CN" altLang="en-US" sz="3600" b="1" dirty="0"/>
          </a:p>
        </p:txBody>
      </p:sp>
      <p:sp>
        <p:nvSpPr>
          <p:cNvPr id="16" name="圆角矩形 15"/>
          <p:cNvSpPr/>
          <p:nvPr/>
        </p:nvSpPr>
        <p:spPr>
          <a:xfrm>
            <a:off x="3164772" y="5222465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META-INF</a:t>
            </a:r>
            <a:endParaRPr lang="zh-CN" altLang="en-US" sz="3600" b="1" dirty="0"/>
          </a:p>
        </p:txBody>
      </p:sp>
      <p:sp>
        <p:nvSpPr>
          <p:cNvPr id="17" name="圆角矩形 16"/>
          <p:cNvSpPr/>
          <p:nvPr/>
        </p:nvSpPr>
        <p:spPr>
          <a:xfrm>
            <a:off x="6180891" y="5222467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res</a:t>
            </a:r>
            <a:endParaRPr lang="zh-CN" altLang="en-US" sz="3600" b="1" dirty="0"/>
          </a:p>
        </p:txBody>
      </p:sp>
      <p:sp>
        <p:nvSpPr>
          <p:cNvPr id="18" name="圆角矩形 17"/>
          <p:cNvSpPr/>
          <p:nvPr/>
        </p:nvSpPr>
        <p:spPr>
          <a:xfrm>
            <a:off x="9241840" y="5222466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lib</a:t>
            </a:r>
            <a:endParaRPr lang="zh-CN" altLang="en-US" sz="3600" b="1" dirty="0"/>
          </a:p>
        </p:txBody>
      </p:sp>
      <p:cxnSp>
        <p:nvCxnSpPr>
          <p:cNvPr id="20" name="肘形连接符 19"/>
          <p:cNvCxnSpPr>
            <a:stCxn id="12" idx="2"/>
            <a:endCxn id="13" idx="0"/>
          </p:cNvCxnSpPr>
          <p:nvPr/>
        </p:nvCxnSpPr>
        <p:spPr>
          <a:xfrm rot="5400000">
            <a:off x="3139095" y="1444725"/>
            <a:ext cx="565462" cy="2298535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12" idx="2"/>
            <a:endCxn id="14" idx="0"/>
          </p:cNvCxnSpPr>
          <p:nvPr/>
        </p:nvCxnSpPr>
        <p:spPr>
          <a:xfrm rot="16200000" flipH="1">
            <a:off x="5036106" y="1846247"/>
            <a:ext cx="585777" cy="1515803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2" idx="2"/>
            <a:endCxn id="15" idx="0"/>
          </p:cNvCxnSpPr>
          <p:nvPr/>
        </p:nvCxnSpPr>
        <p:spPr>
          <a:xfrm rot="16200000" flipH="1">
            <a:off x="7089348" y="-206994"/>
            <a:ext cx="585777" cy="5622286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12" idx="2"/>
            <a:endCxn id="16" idx="0"/>
          </p:cNvCxnSpPr>
          <p:nvPr/>
        </p:nvCxnSpPr>
        <p:spPr>
          <a:xfrm rot="5400000">
            <a:off x="3115491" y="3766863"/>
            <a:ext cx="2911204" cy="1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12" idx="2"/>
            <a:endCxn id="17" idx="0"/>
          </p:cNvCxnSpPr>
          <p:nvPr/>
        </p:nvCxnSpPr>
        <p:spPr>
          <a:xfrm rot="16200000" flipH="1">
            <a:off x="4623549" y="2258805"/>
            <a:ext cx="2911206" cy="3016118"/>
          </a:xfrm>
          <a:prstGeom prst="bentConnector3">
            <a:avLst>
              <a:gd name="adj1" fmla="val 10241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连接符 66"/>
          <p:cNvCxnSpPr>
            <a:endCxn id="18" idx="0"/>
          </p:cNvCxnSpPr>
          <p:nvPr/>
        </p:nvCxnSpPr>
        <p:spPr>
          <a:xfrm>
            <a:off x="7587211" y="4418278"/>
            <a:ext cx="3060949" cy="804188"/>
          </a:xfrm>
          <a:prstGeom prst="bentConnector2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8310622" y="2715203"/>
            <a:ext cx="3743857" cy="119184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7237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97467" y="260025"/>
            <a:ext cx="8742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Bird-eye </a:t>
            </a:r>
            <a:r>
              <a:rPr lang="en-US" altLang="zh-CN" sz="4000" dirty="0" smtClean="0"/>
              <a:t> </a:t>
            </a:r>
            <a:r>
              <a:rPr lang="en-US" altLang="zh-CN" sz="4000" b="1" dirty="0" err="1" smtClean="0">
                <a:solidFill>
                  <a:srgbClr val="FF9900"/>
                </a:solidFill>
              </a:rPr>
              <a:t>resources.arsc</a:t>
            </a:r>
            <a:r>
              <a:rPr lang="en-US" altLang="zh-CN" sz="4000" b="1" dirty="0" smtClean="0">
                <a:solidFill>
                  <a:srgbClr val="FF9900"/>
                </a:solidFill>
              </a:rPr>
              <a:t> </a:t>
            </a:r>
            <a:r>
              <a:rPr lang="zh-CN" altLang="en-US" sz="4000" b="1" dirty="0"/>
              <a:t>（</a:t>
            </a:r>
            <a:r>
              <a:rPr lang="en-US" altLang="zh-CN" sz="4000" b="1" dirty="0"/>
              <a:t>using </a:t>
            </a:r>
            <a:r>
              <a:rPr lang="en-US" altLang="zh-CN" sz="4000" b="1" dirty="0" smtClean="0"/>
              <a:t>AAPT</a:t>
            </a:r>
            <a:r>
              <a:rPr lang="zh-CN" altLang="en-US" sz="4000" b="1" dirty="0" smtClean="0"/>
              <a:t>）</a:t>
            </a:r>
          </a:p>
        </p:txBody>
      </p:sp>
      <p:sp>
        <p:nvSpPr>
          <p:cNvPr id="5" name="矩形 4"/>
          <p:cNvSpPr/>
          <p:nvPr/>
        </p:nvSpPr>
        <p:spPr>
          <a:xfrm>
            <a:off x="8137003" y="967910"/>
            <a:ext cx="3935392" cy="90718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solidFill>
                  <a:schemeClr val="tx1"/>
                </a:solidFill>
              </a:rPr>
              <a:t>AAPT: Android Asset Packaging Tool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0" y="2187614"/>
            <a:ext cx="12006805" cy="3692324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V="1">
            <a:off x="1099595" y="3808072"/>
            <a:ext cx="1782501" cy="11574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8623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97467" y="260025"/>
            <a:ext cx="8742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Bird-eye </a:t>
            </a:r>
            <a:r>
              <a:rPr lang="en-US" altLang="zh-CN" sz="4000" dirty="0" smtClean="0"/>
              <a:t> </a:t>
            </a:r>
            <a:r>
              <a:rPr lang="en-US" altLang="zh-CN" sz="4000" b="1" dirty="0" err="1" smtClean="0">
                <a:solidFill>
                  <a:srgbClr val="FF9900"/>
                </a:solidFill>
              </a:rPr>
              <a:t>resources.arsc</a:t>
            </a:r>
            <a:r>
              <a:rPr lang="en-US" altLang="zh-CN" sz="4000" b="1" dirty="0" smtClean="0">
                <a:solidFill>
                  <a:srgbClr val="FF9900"/>
                </a:solidFill>
              </a:rPr>
              <a:t> </a:t>
            </a:r>
            <a:r>
              <a:rPr lang="zh-CN" altLang="en-US" sz="4000" b="1" dirty="0"/>
              <a:t>（</a:t>
            </a:r>
            <a:r>
              <a:rPr lang="en-US" altLang="zh-CN" sz="4000" b="1" dirty="0"/>
              <a:t>using </a:t>
            </a:r>
            <a:r>
              <a:rPr lang="en-US" altLang="zh-CN" sz="4000" b="1" dirty="0" smtClean="0"/>
              <a:t>AAPT</a:t>
            </a:r>
            <a:r>
              <a:rPr lang="zh-CN" altLang="en-US" sz="4000" b="1" dirty="0" smtClean="0"/>
              <a:t>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27" y="2025932"/>
            <a:ext cx="11915775" cy="41719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09286" y="3113590"/>
            <a:ext cx="2152891" cy="30094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847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97467" y="260025"/>
            <a:ext cx="8742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Bird-eye </a:t>
            </a:r>
            <a:r>
              <a:rPr lang="en-US" altLang="zh-CN" sz="4000" dirty="0" smtClean="0"/>
              <a:t> </a:t>
            </a:r>
            <a:r>
              <a:rPr lang="en-US" altLang="zh-CN" sz="4000" b="1" dirty="0" err="1" smtClean="0">
                <a:solidFill>
                  <a:srgbClr val="FF9900"/>
                </a:solidFill>
              </a:rPr>
              <a:t>resources.arsc</a:t>
            </a:r>
            <a:r>
              <a:rPr lang="en-US" altLang="zh-CN" sz="4000" b="1" dirty="0" smtClean="0">
                <a:solidFill>
                  <a:srgbClr val="FF9900"/>
                </a:solidFill>
              </a:rPr>
              <a:t> </a:t>
            </a:r>
            <a:r>
              <a:rPr lang="zh-CN" altLang="en-US" sz="4000" b="1" dirty="0"/>
              <a:t>（</a:t>
            </a:r>
            <a:r>
              <a:rPr lang="en-US" altLang="zh-CN" sz="4000" b="1" dirty="0"/>
              <a:t>using </a:t>
            </a:r>
            <a:r>
              <a:rPr lang="en-US" altLang="zh-CN" sz="4000" b="1" dirty="0" smtClean="0"/>
              <a:t>AAPT</a:t>
            </a:r>
            <a:r>
              <a:rPr lang="zh-CN" altLang="en-US" sz="4000" b="1" dirty="0" smtClean="0"/>
              <a:t>）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95" y="1921394"/>
            <a:ext cx="12006805" cy="369232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032567" y="3122985"/>
            <a:ext cx="2013995" cy="37256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2222339" y="3495554"/>
            <a:ext cx="1423686" cy="2858947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45800" y="5613718"/>
            <a:ext cx="1200329" cy="14584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6600" dirty="0" smtClean="0"/>
              <a:t>…</a:t>
            </a:r>
            <a:endParaRPr lang="zh-CN" altLang="en-US" sz="6600" dirty="0"/>
          </a:p>
        </p:txBody>
      </p:sp>
    </p:spTree>
    <p:extLst>
      <p:ext uri="{BB962C8B-B14F-4D97-AF65-F5344CB8AC3E}">
        <p14:creationId xmlns:p14="http://schemas.microsoft.com/office/powerpoint/2010/main" val="14637820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961472"/>
              </p:ext>
            </p:extLst>
          </p:nvPr>
        </p:nvGraphicFramePr>
        <p:xfrm>
          <a:off x="381962" y="405115"/>
          <a:ext cx="11470512" cy="603049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67628"/>
                <a:gridCol w="2867628"/>
                <a:gridCol w="2867628"/>
                <a:gridCol w="2867628"/>
              </a:tblGrid>
              <a:tr h="7051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Type id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Type name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err="1" smtClean="0"/>
                        <a:t>entryCount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err="1" smtClean="0"/>
                        <a:t>configCount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7051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0 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err="1" smtClean="0"/>
                        <a:t>attr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341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1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60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1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err="1" smtClean="0"/>
                        <a:t>drawable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1599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8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60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2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err="1" smtClean="0"/>
                        <a:t>mipmap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1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5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60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3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layout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590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2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60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4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err="1" smtClean="0"/>
                        <a:t>anim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57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1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60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5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xml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2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1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60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6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string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938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6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60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7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err="1" smtClean="0"/>
                        <a:t>bool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8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4</a:t>
                      </a:r>
                      <a:endParaRPr lang="zh-CN" altLang="en-US" sz="36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6701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359496"/>
              </p:ext>
            </p:extLst>
          </p:nvPr>
        </p:nvGraphicFramePr>
        <p:xfrm>
          <a:off x="393537" y="636609"/>
          <a:ext cx="11470512" cy="537047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67628"/>
                <a:gridCol w="2867628"/>
                <a:gridCol w="2867628"/>
                <a:gridCol w="2867628"/>
              </a:tblGrid>
              <a:tr h="7051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Type id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Type name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err="1" smtClean="0"/>
                        <a:t>entryCount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err="1" smtClean="0"/>
                        <a:t>configCount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7051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8 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err="1" smtClean="0"/>
                        <a:t>dimen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2634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5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60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9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fraction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3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4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60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10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integer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9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4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60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11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color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973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2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60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12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style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150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2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60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13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array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10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1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60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14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id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2468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1</a:t>
                      </a:r>
                      <a:endParaRPr lang="zh-CN" altLang="en-US" sz="36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3578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53261"/>
              </p:ext>
            </p:extLst>
          </p:nvPr>
        </p:nvGraphicFramePr>
        <p:xfrm>
          <a:off x="115746" y="1053296"/>
          <a:ext cx="11910348" cy="5264168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616573"/>
                <a:gridCol w="1129224"/>
                <a:gridCol w="1224319"/>
                <a:gridCol w="1323372"/>
                <a:gridCol w="1323372"/>
                <a:gridCol w="1323372"/>
                <a:gridCol w="1323372"/>
                <a:gridCol w="1323372"/>
                <a:gridCol w="1323372"/>
              </a:tblGrid>
              <a:tr h="6988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err="1" smtClean="0"/>
                        <a:t>attr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default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</a:tr>
              <a:tr h="6988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err="1" smtClean="0"/>
                        <a:t>drawable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default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hdpi-v4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xhdpi-v4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xxhdpi-v4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mdpi-v4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ldpi-v4</a:t>
                      </a:r>
                      <a:endParaRPr kumimoji="0" lang="zh-CN" altLang="en-US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nodpi-v4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v21</a:t>
                      </a:r>
                      <a:endParaRPr lang="zh-CN" altLang="en-US" sz="2400" dirty="0" smtClean="0"/>
                    </a:p>
                  </a:txBody>
                  <a:tcPr anchor="ctr"/>
                </a:tc>
              </a:tr>
              <a:tr h="6988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err="1" smtClean="0"/>
                        <a:t>mipmap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default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hdpi-v4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xhdpi-v4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xxhdpi-v4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xxxhdpi-v4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</a:tr>
              <a:tr h="6988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/>
                        <a:t>layout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default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v17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</a:tr>
              <a:tr h="6988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err="1" smtClean="0"/>
                        <a:t>anim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default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</a:tr>
              <a:tr h="6988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/>
                        <a:t>xml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default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</a:tr>
              <a:tr h="6988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/>
                        <a:t>string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default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sw360dp-v13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en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 smtClean="0"/>
                        <a:t>zh-rHK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 smtClean="0"/>
                        <a:t>zh-rCN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 smtClean="0"/>
                        <a:t>zh-rTW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539433" y="254643"/>
            <a:ext cx="8993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/>
              <a:t>Configurations   w.r.t.  different types</a:t>
            </a:r>
            <a:endParaRPr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0626602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336112"/>
              </p:ext>
            </p:extLst>
          </p:nvPr>
        </p:nvGraphicFramePr>
        <p:xfrm>
          <a:off x="138894" y="196770"/>
          <a:ext cx="11910348" cy="639764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616573"/>
                <a:gridCol w="1129224"/>
                <a:gridCol w="1224319"/>
                <a:gridCol w="1323372"/>
                <a:gridCol w="1323372"/>
                <a:gridCol w="1323372"/>
                <a:gridCol w="1323372"/>
                <a:gridCol w="1323372"/>
                <a:gridCol w="1323372"/>
              </a:tblGrid>
              <a:tr h="864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err="1" smtClean="0"/>
                        <a:t>bool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default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sw360dp-v13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sw480dp-v13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sw600dp-v13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</a:tr>
              <a:tr h="864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err="1" smtClean="0"/>
                        <a:t>dimen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default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sw360dp-v13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sw480dp-v13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sw600dp-v13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v21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</a:tr>
              <a:tr h="864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/>
                        <a:t>fraction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default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sw360dp-v13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sw480dp-v13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sw600dp-v13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</a:tr>
              <a:tr h="864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/>
                        <a:t>integer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default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sw360dp-v13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sw480dp-v13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sw600dp-v13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</a:tr>
              <a:tr h="7344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/>
                        <a:t>color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default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v21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</a:tr>
              <a:tr h="7344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/>
                        <a:t>style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default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v21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</a:tr>
              <a:tr h="7344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/>
                        <a:t>array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default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anchor="ctr"/>
                </a:tc>
              </a:tr>
              <a:tr h="7344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/>
                        <a:t>id</a:t>
                      </a:r>
                      <a:endParaRPr lang="zh-CN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default</a:t>
                      </a:r>
                      <a:endParaRPr lang="zh-CN" altLang="en-US" sz="2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4858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65" y="328306"/>
            <a:ext cx="874842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Prerequsite</a:t>
            </a:r>
            <a:r>
              <a:rPr lang="en-US" altLang="zh-CN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analyzing APK </a:t>
            </a:r>
            <a:endParaRPr lang="zh-CN" alt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0" y="1251636"/>
            <a:ext cx="9433367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3413624" y="1545743"/>
            <a:ext cx="2314937" cy="765518"/>
          </a:xfrm>
          <a:prstGeom prst="roundRect">
            <a:avLst>
              <a:gd name="adj" fmla="val 28763"/>
            </a:avLst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APK</a:t>
            </a:r>
            <a:endParaRPr lang="zh-CN" altLang="en-US" sz="3600" b="1" dirty="0"/>
          </a:p>
        </p:txBody>
      </p:sp>
      <p:sp>
        <p:nvSpPr>
          <p:cNvPr id="13" name="圆角矩形 12"/>
          <p:cNvSpPr/>
          <p:nvPr/>
        </p:nvSpPr>
        <p:spPr>
          <a:xfrm>
            <a:off x="101344" y="2876723"/>
            <a:ext cx="4342428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AndroidManifest.xml</a:t>
            </a:r>
            <a:endParaRPr lang="zh-CN" altLang="en-US" sz="3600" b="1" dirty="0"/>
          </a:p>
        </p:txBody>
      </p:sp>
      <p:sp>
        <p:nvSpPr>
          <p:cNvPr id="14" name="圆角矩形 13"/>
          <p:cNvSpPr/>
          <p:nvPr/>
        </p:nvSpPr>
        <p:spPr>
          <a:xfrm>
            <a:off x="4895213" y="2897038"/>
            <a:ext cx="2383366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err="1" smtClean="0"/>
              <a:t>classes.dex</a:t>
            </a:r>
            <a:endParaRPr lang="zh-CN" altLang="en-US" sz="3600" b="1" dirty="0"/>
          </a:p>
        </p:txBody>
      </p:sp>
      <p:sp>
        <p:nvSpPr>
          <p:cNvPr id="15" name="圆角矩形 14"/>
          <p:cNvSpPr/>
          <p:nvPr/>
        </p:nvSpPr>
        <p:spPr>
          <a:xfrm>
            <a:off x="8427278" y="2897038"/>
            <a:ext cx="3532202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err="1" smtClean="0"/>
              <a:t>resources.arsc</a:t>
            </a:r>
            <a:endParaRPr lang="zh-CN" altLang="en-US" sz="3600" b="1" dirty="0"/>
          </a:p>
        </p:txBody>
      </p:sp>
      <p:sp>
        <p:nvSpPr>
          <p:cNvPr id="16" name="圆角矩形 15"/>
          <p:cNvSpPr/>
          <p:nvPr/>
        </p:nvSpPr>
        <p:spPr>
          <a:xfrm>
            <a:off x="3164772" y="5222465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META-INF</a:t>
            </a:r>
            <a:endParaRPr lang="zh-CN" altLang="en-US" sz="3600" b="1" dirty="0"/>
          </a:p>
        </p:txBody>
      </p:sp>
      <p:sp>
        <p:nvSpPr>
          <p:cNvPr id="17" name="圆角矩形 16"/>
          <p:cNvSpPr/>
          <p:nvPr/>
        </p:nvSpPr>
        <p:spPr>
          <a:xfrm>
            <a:off x="6180891" y="5222467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res</a:t>
            </a:r>
            <a:endParaRPr lang="zh-CN" altLang="en-US" sz="3600" b="1" dirty="0"/>
          </a:p>
        </p:txBody>
      </p:sp>
      <p:sp>
        <p:nvSpPr>
          <p:cNvPr id="18" name="圆角矩形 17"/>
          <p:cNvSpPr/>
          <p:nvPr/>
        </p:nvSpPr>
        <p:spPr>
          <a:xfrm>
            <a:off x="9241840" y="5222466"/>
            <a:ext cx="2812640" cy="804189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/>
              <a:t>lib</a:t>
            </a:r>
            <a:endParaRPr lang="zh-CN" altLang="en-US" sz="3600" b="1" dirty="0"/>
          </a:p>
        </p:txBody>
      </p:sp>
      <p:cxnSp>
        <p:nvCxnSpPr>
          <p:cNvPr id="20" name="肘形连接符 19"/>
          <p:cNvCxnSpPr>
            <a:stCxn id="12" idx="2"/>
            <a:endCxn id="13" idx="0"/>
          </p:cNvCxnSpPr>
          <p:nvPr/>
        </p:nvCxnSpPr>
        <p:spPr>
          <a:xfrm rot="5400000">
            <a:off x="3139095" y="1444725"/>
            <a:ext cx="565462" cy="2298535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12" idx="2"/>
            <a:endCxn id="14" idx="0"/>
          </p:cNvCxnSpPr>
          <p:nvPr/>
        </p:nvCxnSpPr>
        <p:spPr>
          <a:xfrm rot="16200000" flipH="1">
            <a:off x="5036106" y="1846247"/>
            <a:ext cx="585777" cy="1515803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2" idx="2"/>
            <a:endCxn id="15" idx="0"/>
          </p:cNvCxnSpPr>
          <p:nvPr/>
        </p:nvCxnSpPr>
        <p:spPr>
          <a:xfrm rot="16200000" flipH="1">
            <a:off x="7089348" y="-206994"/>
            <a:ext cx="585777" cy="5622286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12" idx="2"/>
            <a:endCxn id="16" idx="0"/>
          </p:cNvCxnSpPr>
          <p:nvPr/>
        </p:nvCxnSpPr>
        <p:spPr>
          <a:xfrm rot="5400000">
            <a:off x="3115491" y="3766863"/>
            <a:ext cx="2911204" cy="1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12" idx="2"/>
            <a:endCxn id="17" idx="0"/>
          </p:cNvCxnSpPr>
          <p:nvPr/>
        </p:nvCxnSpPr>
        <p:spPr>
          <a:xfrm rot="16200000" flipH="1">
            <a:off x="4623549" y="2258805"/>
            <a:ext cx="2911206" cy="3016118"/>
          </a:xfrm>
          <a:prstGeom prst="bentConnector3">
            <a:avLst>
              <a:gd name="adj1" fmla="val 10241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连接符 66"/>
          <p:cNvCxnSpPr>
            <a:endCxn id="18" idx="0"/>
          </p:cNvCxnSpPr>
          <p:nvPr/>
        </p:nvCxnSpPr>
        <p:spPr>
          <a:xfrm>
            <a:off x="7587211" y="4418278"/>
            <a:ext cx="3060949" cy="804188"/>
          </a:xfrm>
          <a:prstGeom prst="bentConnector2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9109275" y="5065696"/>
            <a:ext cx="3045405" cy="111772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4341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110" y="960699"/>
            <a:ext cx="8470312" cy="589730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15817" y="109553"/>
            <a:ext cx="8742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Bird-eye </a:t>
            </a:r>
            <a:r>
              <a:rPr lang="en-US" altLang="zh-CN" sz="4000" dirty="0" smtClean="0"/>
              <a:t> </a:t>
            </a:r>
            <a:r>
              <a:rPr lang="en-US" altLang="zh-CN" sz="4000" b="1" dirty="0" smtClean="0">
                <a:solidFill>
                  <a:srgbClr val="FF9900"/>
                </a:solidFill>
              </a:rPr>
              <a:t>lib</a:t>
            </a:r>
            <a:endParaRPr lang="zh-CN" altLang="en-US" sz="4000" b="1" dirty="0" smtClean="0"/>
          </a:p>
        </p:txBody>
      </p:sp>
    </p:spTree>
    <p:extLst>
      <p:ext uri="{BB962C8B-B14F-4D97-AF65-F5344CB8AC3E}">
        <p14:creationId xmlns:p14="http://schemas.microsoft.com/office/powerpoint/2010/main" val="28788918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96363" y="127320"/>
            <a:ext cx="944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/>
              <a:t>.so files    =    shared </a:t>
            </a:r>
            <a:r>
              <a:rPr lang="en-US" altLang="zh-CN" sz="5400" dirty="0" err="1" smtClean="0"/>
              <a:t>libraray</a:t>
            </a:r>
            <a:r>
              <a:rPr lang="en-US" altLang="zh-CN" sz="5400" dirty="0" smtClean="0"/>
              <a:t> files</a:t>
            </a:r>
            <a:endParaRPr lang="zh-CN" altLang="en-US" sz="5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76" y="1050650"/>
            <a:ext cx="11458575" cy="45243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62748" y="5737069"/>
            <a:ext cx="103160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Garbled! Not intended to be viewed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89788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42840" y="2087658"/>
            <a:ext cx="5613722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8000" b="0" cap="none" spc="0" dirty="0" smtClean="0">
                <a:ln w="0"/>
                <a:solidFill>
                  <a:srgbClr val="0066FF">
                    <a:alpha val="38000"/>
                  </a:srgbClr>
                </a:solidFill>
                <a:effectLst/>
              </a:rPr>
              <a:t>Additional </a:t>
            </a:r>
            <a:endParaRPr lang="zh-CN" altLang="en-US" sz="8000" b="0" cap="none" spc="0" dirty="0">
              <a:ln w="0"/>
              <a:solidFill>
                <a:srgbClr val="0066FF">
                  <a:alpha val="38000"/>
                </a:srgbClr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16415" y="4456252"/>
            <a:ext cx="4066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smtClean="0"/>
              <a:t>When Time permitting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0768961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42208" y="2191830"/>
            <a:ext cx="4522392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dugi" panose="020B0502040204020203" pitchFamily="34" charset="0"/>
                <a:ea typeface="Gadugi" panose="020B0502040204020203" pitchFamily="34" charset="0"/>
              </a:rPr>
              <a:t>Q   &amp;   A</a:t>
            </a:r>
            <a:endParaRPr lang="zh-CN" altLang="en-US" sz="8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adugi" panose="020B0502040204020203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9758" y="2376496"/>
            <a:ext cx="28837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&gt;  &gt;  &gt;</a:t>
            </a:r>
            <a:endParaRPr lang="zh-CN" altLang="en-US" sz="8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 rot="10800000">
            <a:off x="8843059" y="2473303"/>
            <a:ext cx="27255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&gt;  &gt;  &gt;</a:t>
            </a:r>
            <a:endParaRPr lang="zh-CN" altLang="en-US" sz="8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2910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81746" y="2400175"/>
            <a:ext cx="413779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Thanks</a:t>
            </a:r>
            <a:r>
              <a:rPr lang="zh-CN" altLang="en-US" sz="8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！</a:t>
            </a:r>
            <a:endParaRPr lang="zh-CN" altLang="en-US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684388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336888" y="269511"/>
            <a:ext cx="51783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ctr">
              <a:buAutoNum type="arabicPlain" startAt="2015"/>
            </a:pPr>
            <a:r>
              <a:rPr lang="en-US" altLang="zh-CN" sz="4800" dirty="0" smtClean="0"/>
              <a:t>      NDSS  </a:t>
            </a:r>
          </a:p>
        </p:txBody>
      </p:sp>
      <p:graphicFrame>
        <p:nvGraphicFramePr>
          <p:cNvPr id="8" name="图示 7"/>
          <p:cNvGraphicFramePr/>
          <p:nvPr>
            <p:extLst>
              <p:ext uri="{D42A27DB-BD31-4B8C-83A1-F6EECF244321}">
                <p14:modId xmlns:p14="http://schemas.microsoft.com/office/powerpoint/2010/main" val="2306957647"/>
              </p:ext>
            </p:extLst>
          </p:nvPr>
        </p:nvGraphicFramePr>
        <p:xfrm>
          <a:off x="1264473" y="1243802"/>
          <a:ext cx="9206570" cy="5155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346828" y="269511"/>
            <a:ext cx="85376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4400" dirty="0" err="1">
                <a:solidFill>
                  <a:prstClr val="black"/>
                </a:solidFill>
              </a:rPr>
              <a:t>CopperDroid</a:t>
            </a:r>
            <a:endParaRPr lang="en-US" altLang="zh-CN" sz="4400" dirty="0">
              <a:solidFill>
                <a:prstClr val="black"/>
              </a:solidFill>
            </a:endParaRPr>
          </a:p>
          <a:p>
            <a:endParaRPr lang="zh-CN" altLang="en-US" sz="2000" dirty="0"/>
          </a:p>
        </p:txBody>
      </p:sp>
      <p:sp>
        <p:nvSpPr>
          <p:cNvPr id="10" name="矩形 9"/>
          <p:cNvSpPr/>
          <p:nvPr/>
        </p:nvSpPr>
        <p:spPr>
          <a:xfrm>
            <a:off x="3828517" y="3272492"/>
            <a:ext cx="405533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System Call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153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248" y="-400542"/>
            <a:ext cx="8016948" cy="758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60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60697" y="208344"/>
            <a:ext cx="10799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 smtClean="0"/>
              <a:t>Search by </a:t>
            </a:r>
            <a:r>
              <a:rPr lang="en-US" altLang="zh-CN" sz="4800" b="1" dirty="0" err="1" smtClean="0"/>
              <a:t>entryCount</a:t>
            </a:r>
            <a:r>
              <a:rPr lang="en-US" altLang="zh-CN" sz="4800" b="1" dirty="0" smtClean="0"/>
              <a:t> (resource numbers)</a:t>
            </a:r>
            <a:endParaRPr lang="zh-CN" altLang="en-US" sz="4800" b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541731"/>
              </p:ext>
            </p:extLst>
          </p:nvPr>
        </p:nvGraphicFramePr>
        <p:xfrm>
          <a:off x="150470" y="1039341"/>
          <a:ext cx="5347506" cy="5578146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2673753"/>
                <a:gridCol w="2673753"/>
              </a:tblGrid>
              <a:tr h="7386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0 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341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913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1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1599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913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2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1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913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3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590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913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4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57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913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5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xml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913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6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string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913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7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err="1" smtClean="0"/>
                        <a:t>bool</a:t>
                      </a:r>
                      <a:endParaRPr lang="zh-CN" altLang="en-US" sz="36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282860"/>
              </p:ext>
            </p:extLst>
          </p:nvPr>
        </p:nvGraphicFramePr>
        <p:xfrm>
          <a:off x="6310131" y="1039341"/>
          <a:ext cx="5347506" cy="4886788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2673753"/>
                <a:gridCol w="2673753"/>
              </a:tblGrid>
              <a:tr h="7386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8 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err="1" smtClean="0"/>
                        <a:t>dimen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913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9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fraction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913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10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integer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913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11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color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913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12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style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913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13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array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913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dirty="0" smtClean="0"/>
                        <a:t>Type</a:t>
                      </a:r>
                      <a:r>
                        <a:rPr lang="en-US" altLang="zh-CN" sz="3600" baseline="0" dirty="0" smtClean="0"/>
                        <a:t> 14 </a:t>
                      </a:r>
                      <a:endParaRPr lang="zh-CN" altLang="en-US" sz="3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 smtClean="0"/>
                        <a:t>id</a:t>
                      </a:r>
                      <a:endParaRPr lang="zh-CN" altLang="en-US" sz="36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804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9105</TotalTime>
  <Words>770</Words>
  <Application>Microsoft Office PowerPoint</Application>
  <PresentationFormat>宽屏</PresentationFormat>
  <Paragraphs>423</Paragraphs>
  <Slides>63</Slides>
  <Notes>3</Notes>
  <HiddenSlides>3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4" baseType="lpstr">
      <vt:lpstr>Arial Unicode MS</vt:lpstr>
      <vt:lpstr>Malgun Gothic</vt:lpstr>
      <vt:lpstr>宋体</vt:lpstr>
      <vt:lpstr>Arial</vt:lpstr>
      <vt:lpstr>Calibri</vt:lpstr>
      <vt:lpstr>Calibri Light</vt:lpstr>
      <vt:lpstr>Cambria</vt:lpstr>
      <vt:lpstr>Gadugi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用户</cp:lastModifiedBy>
  <cp:revision>174</cp:revision>
  <dcterms:created xsi:type="dcterms:W3CDTF">2019-04-05T11:28:09Z</dcterms:created>
  <dcterms:modified xsi:type="dcterms:W3CDTF">2019-04-11T22:09:29Z</dcterms:modified>
</cp:coreProperties>
</file>