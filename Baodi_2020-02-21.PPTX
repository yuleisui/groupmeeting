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92" r:id="rId3"/>
    <p:sldId id="257" r:id="rId4"/>
    <p:sldId id="258" r:id="rId5"/>
    <p:sldId id="260" r:id="rId6"/>
    <p:sldId id="291" r:id="rId7"/>
    <p:sldId id="280" r:id="rId8"/>
    <p:sldId id="259" r:id="rId9"/>
    <p:sldId id="279" r:id="rId10"/>
    <p:sldId id="261" r:id="rId11"/>
    <p:sldId id="282" r:id="rId12"/>
    <p:sldId id="264" r:id="rId13"/>
    <p:sldId id="262" r:id="rId14"/>
    <p:sldId id="265" r:id="rId15"/>
    <p:sldId id="267" r:id="rId16"/>
    <p:sldId id="268" r:id="rId17"/>
    <p:sldId id="269" r:id="rId18"/>
    <p:sldId id="275" r:id="rId19"/>
    <p:sldId id="276" r:id="rId20"/>
    <p:sldId id="274" r:id="rId21"/>
    <p:sldId id="270" r:id="rId22"/>
    <p:sldId id="271" r:id="rId23"/>
    <p:sldId id="272" r:id="rId24"/>
    <p:sldId id="266" r:id="rId25"/>
    <p:sldId id="277" r:id="rId26"/>
    <p:sldId id="283" r:id="rId27"/>
    <p:sldId id="285" r:id="rId28"/>
    <p:sldId id="286" r:id="rId29"/>
    <p:sldId id="287" r:id="rId30"/>
    <p:sldId id="288" r:id="rId31"/>
    <p:sldId id="289" r:id="rId32"/>
    <p:sldId id="290" r:id="rId33"/>
    <p:sldId id="284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FF66CC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22" autoAdjust="0"/>
    <p:restoredTop sz="94660"/>
  </p:normalViewPr>
  <p:slideViewPr>
    <p:cSldViewPr snapToGrid="0">
      <p:cViewPr varScale="1">
        <p:scale>
          <a:sx n="66" d="100"/>
          <a:sy n="66" d="100"/>
        </p:scale>
        <p:origin x="8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4994A-9C71-44B1-A5B1-C57023B4DCFB}" type="datetimeFigureOut">
              <a:rPr lang="zh-CN" altLang="en-US" smtClean="0"/>
              <a:t>2020/2/21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0AB75-DFED-4C65-9566-548A15D9B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438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205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618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720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92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989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023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693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998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546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17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596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321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249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789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317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1258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3113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491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6192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5524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10AB75-DFED-4C65-9566-548A15D9B47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210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C5F9-DAA4-42F8-A33D-B1CA1FACF78A}" type="datetime1">
              <a:rPr lang="zh-CN" altLang="en-US" smtClean="0"/>
              <a:t>2020/2/21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387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B89D-2693-4C26-B833-D716833A29A6}" type="datetime1">
              <a:rPr lang="zh-CN" altLang="en-US" smtClean="0"/>
              <a:t>2020/2/21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286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6FB3-104C-4806-AD90-51E45A6E03DC}" type="datetime1">
              <a:rPr lang="zh-CN" altLang="en-US" smtClean="0"/>
              <a:t>2020/2/21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46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7DC87-4E5D-421E-B6DF-F2C0D737C2A2}" type="datetime1">
              <a:rPr lang="zh-CN" altLang="en-US" smtClean="0"/>
              <a:t>2020/2/21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62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7BEC-7F60-4341-B165-062C098F5C3B}" type="datetime1">
              <a:rPr lang="zh-CN" altLang="en-US" smtClean="0"/>
              <a:t>2020/2/21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575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CC65F-340E-470D-880A-635D701750B3}" type="datetime1">
              <a:rPr lang="zh-CN" altLang="en-US" smtClean="0"/>
              <a:t>2020/2/21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68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5E10-4ADC-4917-B884-77F486C05E88}" type="datetime1">
              <a:rPr lang="zh-CN" altLang="en-US" smtClean="0"/>
              <a:t>2020/2/21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675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3397-B459-4EA7-AD36-B1A19418EFCF}" type="datetime1">
              <a:rPr lang="zh-CN" altLang="en-US" smtClean="0"/>
              <a:t>2020/2/21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660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113F-24FD-4D13-8C7E-1EF36AA26CC9}" type="datetime1">
              <a:rPr lang="zh-CN" altLang="en-US" smtClean="0"/>
              <a:t>2020/2/21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82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87041-48B5-440F-9B52-056EFD8BD7AB}" type="datetime1">
              <a:rPr lang="zh-CN" altLang="en-US" smtClean="0"/>
              <a:t>2020/2/21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519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9979-479E-4DD0-9C44-F3B56BB31B34}" type="datetime1">
              <a:rPr lang="zh-CN" altLang="en-US" smtClean="0"/>
              <a:t>2020/2/21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249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AC677-3F93-4B45-A664-117481DA6721}" type="datetime1">
              <a:rPr lang="zh-CN" altLang="en-US" smtClean="0"/>
              <a:t>2020/2/21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0463C-8A0A-499B-AF6A-65198AF8B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141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ess.avast.com/hubfs/media-materials/kits/2019-Predictions-Report/Avast%202019%20Threat%20Landscape%20Report.pdf?hsLang=e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reatfabric.com/blogs/anubis_2_malware_and_afterlife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log.trendmicro.com/trendlabs-security-intelligence/anubis-android-malware-returns-with-over-17000-samples/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39139" y="2013666"/>
            <a:ext cx="6777788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In-depth analysis of </a:t>
            </a:r>
          </a:p>
          <a:p>
            <a:pPr algn="ctr"/>
            <a:endParaRPr lang="en-US" altLang="zh-CN" sz="40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Anubis Banking Trojan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484017" y="2973203"/>
            <a:ext cx="648607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11479" y="5103674"/>
            <a:ext cx="57270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Background: Anubis attack pictures (payload)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Aims and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What is payload (define)?  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Methodologies: break down into parts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Steps correspond to figures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Try to be well-</a:t>
            </a:r>
            <a:r>
              <a:rPr lang="en-US" altLang="zh-CN" dirty="0" err="1" smtClean="0"/>
              <a:t>organised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016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93143" y="2379426"/>
            <a:ext cx="677778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Motivation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94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43" y="1325283"/>
            <a:ext cx="5666024" cy="4723626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V="1">
            <a:off x="0" y="858302"/>
            <a:ext cx="3724918" cy="56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201953"/>
            <a:ext cx="3724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Why Banking Trojans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4980108" y="6211669"/>
            <a:ext cx="72118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altLang="zh-CN" sz="1400" dirty="0" smtClean="0">
                <a:hlinkClick r:id="rId4"/>
              </a:rPr>
              <a:t>https://press.avast.com/hubfs/media-materials/kits/2019-Predictions-Report/Avast%202019%20Threat%20Landscape%20Report.pdf?hsLang=en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6186235" y="2434151"/>
            <a:ext cx="515845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altLang="zh-CN" sz="2400" dirty="0" smtClean="0"/>
              <a:t>“we believe that cybercriminals are finding bankers to be a more reliable way to make money than </a:t>
            </a:r>
            <a:r>
              <a:rPr lang="en-AU" altLang="zh-CN" sz="2400" dirty="0" err="1" smtClean="0"/>
              <a:t>cryptomining</a:t>
            </a:r>
            <a:r>
              <a:rPr lang="en-AU" altLang="zh-CN" sz="2400" dirty="0" smtClean="0"/>
              <a:t>. ”</a:t>
            </a:r>
          </a:p>
          <a:p>
            <a:r>
              <a:rPr lang="en-AU" altLang="zh-CN" sz="2400" dirty="0"/>
              <a:t> </a:t>
            </a:r>
            <a:r>
              <a:rPr lang="en-AU" altLang="zh-CN" sz="2400" dirty="0" smtClean="0"/>
              <a:t>                                                    ------ </a:t>
            </a:r>
            <a:r>
              <a:rPr lang="en-AU" altLang="zh-CN" sz="2400" dirty="0" err="1" smtClean="0"/>
              <a:t>Avast</a:t>
            </a:r>
            <a:endParaRPr lang="zh-CN" altLang="en-US" sz="2400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84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56" y="1355086"/>
            <a:ext cx="5789254" cy="2673752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V="1">
            <a:off x="0" y="858302"/>
            <a:ext cx="3724918" cy="56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201953"/>
            <a:ext cx="3724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Why 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  Anubis</a:t>
            </a:r>
            <a:endParaRPr lang="zh-CN" altLang="en-US" sz="2800" dirty="0"/>
          </a:p>
        </p:txBody>
      </p:sp>
      <p:sp>
        <p:nvSpPr>
          <p:cNvPr id="8" name="矩形 7"/>
          <p:cNvSpPr/>
          <p:nvPr/>
        </p:nvSpPr>
        <p:spPr>
          <a:xfrm>
            <a:off x="7046719" y="2045631"/>
            <a:ext cx="38048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altLang="zh-CN" sz="1600" dirty="0" smtClean="0">
                <a:hlinkClick r:id="rId3"/>
              </a:rPr>
              <a:t>https://www.threatfabric.com/blogs/anubis_2_malware_and_afterlife.html</a:t>
            </a:r>
            <a:endParaRPr lang="zh-CN" altLang="en-US" sz="16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56" y="4658751"/>
            <a:ext cx="6487569" cy="106287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7006208" y="4890633"/>
            <a:ext cx="43655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altLang="zh-CN" sz="1600" dirty="0" smtClean="0">
                <a:hlinkClick r:id="rId5"/>
              </a:rPr>
              <a:t>https://blog.trendmicro.com/trendlabs-security-intelligence/anubis-android-malware-returns-with-over-17000-samples/</a:t>
            </a:r>
            <a:endParaRPr lang="zh-CN" altLang="en-US" sz="1600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6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74" y="1925053"/>
            <a:ext cx="11842648" cy="2868328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0" y="863912"/>
            <a:ext cx="512758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0" y="201953"/>
            <a:ext cx="5087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Workflow</a:t>
            </a:r>
            <a:endParaRPr lang="zh-CN" altLang="en-US" sz="2800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43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93143" y="2379426"/>
            <a:ext cx="6777788" cy="218521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Existing work</a:t>
            </a:r>
          </a:p>
          <a:p>
            <a:pPr algn="ctr"/>
            <a:r>
              <a:rPr lang="en-US" altLang="zh-CN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(under construction)</a:t>
            </a:r>
          </a:p>
          <a:p>
            <a:pPr algn="ctr"/>
            <a:r>
              <a:rPr lang="en-US" altLang="zh-CN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--- Should be in forms</a:t>
            </a:r>
            <a:endParaRPr lang="zh-CN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600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93143" y="2379426"/>
            <a:ext cx="677778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Background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846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39" y="1256145"/>
            <a:ext cx="9675833" cy="434359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0" y="863912"/>
            <a:ext cx="512758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0" y="201953"/>
            <a:ext cx="5087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Anubis Attack Mechanism</a:t>
            </a:r>
            <a:endParaRPr lang="zh-CN" altLang="en-US" sz="2800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074568" y="5871411"/>
            <a:ext cx="4042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* Steps correspond to figures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5935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93143" y="2379426"/>
            <a:ext cx="677778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Dataset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37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493" y="1402452"/>
            <a:ext cx="6420838" cy="384833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Data taxonomy based on App type</a:t>
            </a:r>
            <a:endParaRPr lang="zh-CN" altLang="en-US" sz="2800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92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93143" y="2379426"/>
            <a:ext cx="677778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Results and analysis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920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Implementation Details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782569" y="1025092"/>
            <a:ext cx="3915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/>
              <a:t>Downloader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2981618" y="1835577"/>
            <a:ext cx="4701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669900"/>
                </a:solidFill>
              </a:rPr>
              <a:t>AndroidManifest.xml</a:t>
            </a:r>
            <a:endParaRPr lang="zh-CN" altLang="en-US" sz="2400" b="1" dirty="0">
              <a:solidFill>
                <a:srgbClr val="669900"/>
              </a:solidFill>
            </a:endParaRPr>
          </a:p>
        </p:txBody>
      </p:sp>
      <p:cxnSp>
        <p:nvCxnSpPr>
          <p:cNvPr id="9" name="直接箭头连接符 8"/>
          <p:cNvCxnSpPr>
            <a:stCxn id="7" idx="2"/>
            <a:endCxn id="10" idx="0"/>
          </p:cNvCxnSpPr>
          <p:nvPr/>
        </p:nvCxnSpPr>
        <p:spPr>
          <a:xfrm flipH="1">
            <a:off x="2852592" y="2297242"/>
            <a:ext cx="2479539" cy="8947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69272" y="3191983"/>
            <a:ext cx="5166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altLang="zh-CN" sz="2000" dirty="0" err="1" smtClean="0"/>
              <a:t>android.permission.BIND_DEVICE_ADMIN</a:t>
            </a:r>
            <a:endParaRPr lang="en-AU" altLang="zh-CN" sz="2000" dirty="0" smtClean="0"/>
          </a:p>
          <a:p>
            <a:pPr algn="ctr"/>
            <a:r>
              <a:rPr lang="en-AU" altLang="zh-CN" sz="2000" dirty="0" smtClean="0"/>
              <a:t>&amp;</a:t>
            </a:r>
            <a:endParaRPr lang="en-AU" altLang="zh-CN" sz="2000" dirty="0"/>
          </a:p>
          <a:p>
            <a:pPr algn="ctr"/>
            <a:r>
              <a:rPr lang="en-AU" altLang="zh-CN" sz="2000" dirty="0" err="1" smtClean="0"/>
              <a:t>android.intent.action.PACKAGE_ADDED</a:t>
            </a:r>
            <a:r>
              <a:rPr lang="en-AU" altLang="zh-CN" sz="2000" dirty="0" smtClean="0"/>
              <a:t> </a:t>
            </a:r>
            <a:endParaRPr lang="zh-CN" altLang="en-US" sz="2000" dirty="0"/>
          </a:p>
        </p:txBody>
      </p:sp>
      <p:cxnSp>
        <p:nvCxnSpPr>
          <p:cNvPr id="12" name="直接箭头连接符 11"/>
          <p:cNvCxnSpPr>
            <a:stCxn id="10" idx="2"/>
          </p:cNvCxnSpPr>
          <p:nvPr/>
        </p:nvCxnSpPr>
        <p:spPr>
          <a:xfrm>
            <a:off x="2852592" y="4207646"/>
            <a:ext cx="0" cy="10150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026597" y="5300443"/>
            <a:ext cx="36519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i="1" dirty="0" smtClean="0">
                <a:solidFill>
                  <a:srgbClr val="CC3300"/>
                </a:solidFill>
              </a:rPr>
              <a:t>Receivers</a:t>
            </a:r>
            <a:endParaRPr lang="zh-CN" altLang="en-US" sz="2200" i="1" dirty="0">
              <a:solidFill>
                <a:srgbClr val="CC3300"/>
              </a:solidFill>
            </a:endParaRPr>
          </a:p>
        </p:txBody>
      </p:sp>
      <p:cxnSp>
        <p:nvCxnSpPr>
          <p:cNvPr id="19" name="直接箭头连接符 18"/>
          <p:cNvCxnSpPr>
            <a:stCxn id="7" idx="2"/>
            <a:endCxn id="22" idx="0"/>
          </p:cNvCxnSpPr>
          <p:nvPr/>
        </p:nvCxnSpPr>
        <p:spPr>
          <a:xfrm>
            <a:off x="5332131" y="2297242"/>
            <a:ext cx="3251846" cy="8744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5634172" y="3171722"/>
            <a:ext cx="58996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altLang="zh-CN" sz="2000" b="0" i="0" dirty="0" err="1" smtClean="0">
                <a:effectLst/>
              </a:rPr>
              <a:t>android.permission.REQUEST_INSTALL_PACKAGES</a:t>
            </a:r>
            <a:r>
              <a:rPr lang="en-AU" altLang="zh-CN" sz="2000" dirty="0" smtClean="0"/>
              <a:t>                             &amp;</a:t>
            </a:r>
            <a:endParaRPr lang="zh-CN" altLang="en-US" sz="2000" dirty="0"/>
          </a:p>
        </p:txBody>
      </p:sp>
      <p:sp>
        <p:nvSpPr>
          <p:cNvPr id="23" name="矩形 22"/>
          <p:cNvSpPr/>
          <p:nvPr/>
        </p:nvSpPr>
        <p:spPr>
          <a:xfrm>
            <a:off x="5535976" y="3879608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altLang="zh-CN" sz="2000" b="0" i="0" dirty="0" smtClean="0">
                <a:effectLst/>
              </a:rPr>
              <a:t>com.google.android.finsky.permission.BIND_GET_INSTALL_REFERRER_SERVICE (get referrer URL)</a:t>
            </a:r>
          </a:p>
          <a:p>
            <a:pPr algn="ctr"/>
            <a:r>
              <a:rPr lang="en-AU" altLang="zh-CN" sz="2000" dirty="0" smtClean="0"/>
              <a:t>&amp;</a:t>
            </a:r>
            <a:endParaRPr lang="zh-CN" altLang="en-US" sz="2000" dirty="0"/>
          </a:p>
        </p:txBody>
      </p:sp>
      <p:sp>
        <p:nvSpPr>
          <p:cNvPr id="24" name="矩形 23"/>
          <p:cNvSpPr/>
          <p:nvPr/>
        </p:nvSpPr>
        <p:spPr>
          <a:xfrm>
            <a:off x="5435912" y="4868796"/>
            <a:ext cx="616732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altLang="zh-CN" sz="2000" b="0" i="1" dirty="0" smtClean="0">
                <a:solidFill>
                  <a:srgbClr val="CC3300"/>
                </a:solidFill>
                <a:effectLst/>
              </a:rPr>
              <a:t>Receiver</a:t>
            </a:r>
            <a:r>
              <a:rPr lang="en-AU" altLang="zh-CN" sz="2000" b="0" i="0" dirty="0" smtClean="0">
                <a:effectLst/>
              </a:rPr>
              <a:t> for </a:t>
            </a:r>
            <a:r>
              <a:rPr lang="en-AU" altLang="zh-CN" sz="2000" b="0" i="0" dirty="0" err="1" smtClean="0">
                <a:effectLst/>
              </a:rPr>
              <a:t>com.android.vending.INSTALL_REFERRER</a:t>
            </a:r>
            <a:endParaRPr lang="en-AU" altLang="zh-CN" sz="2000" b="0" i="0" dirty="0" smtClean="0">
              <a:effectLst/>
            </a:endParaRPr>
          </a:p>
          <a:p>
            <a:pPr algn="ctr"/>
            <a:r>
              <a:rPr lang="en-AU" altLang="zh-CN" sz="2000" i="1" dirty="0" smtClean="0">
                <a:solidFill>
                  <a:srgbClr val="CC3300"/>
                </a:solidFill>
              </a:rPr>
              <a:t>-uses permission</a:t>
            </a:r>
            <a:r>
              <a:rPr lang="en-AU" altLang="zh-CN" sz="2000" dirty="0" smtClean="0"/>
              <a:t>: </a:t>
            </a:r>
            <a:r>
              <a:rPr lang="en-AU" altLang="zh-CN" sz="2000" dirty="0" err="1" smtClean="0"/>
              <a:t>android.permission.INSTALL_PACKAGES</a:t>
            </a:r>
            <a:endParaRPr lang="zh-CN" altLang="en-US" sz="2000" dirty="0"/>
          </a:p>
        </p:txBody>
      </p:sp>
      <p:sp>
        <p:nvSpPr>
          <p:cNvPr id="25" name="文本框 24"/>
          <p:cNvSpPr txBox="1"/>
          <p:nvPr/>
        </p:nvSpPr>
        <p:spPr>
          <a:xfrm>
            <a:off x="3576258" y="2474308"/>
            <a:ext cx="294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①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077718" y="2472990"/>
            <a:ext cx="294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②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63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Implementation Details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782569" y="1025092"/>
            <a:ext cx="3915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/>
              <a:t>Downloader</a:t>
            </a:r>
            <a:endParaRPr lang="zh-CN" altLang="en-US" sz="2400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3206933" y="1805729"/>
            <a:ext cx="4701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solidFill>
                  <a:srgbClr val="669900"/>
                </a:solidFill>
              </a:rPr>
              <a:t>Code      Details</a:t>
            </a:r>
            <a:endParaRPr lang="zh-CN" altLang="en-US" sz="2800" b="1" dirty="0">
              <a:solidFill>
                <a:srgbClr val="669900"/>
              </a:solidFill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24" y="3768478"/>
            <a:ext cx="9120846" cy="1535921"/>
          </a:xfrm>
          <a:prstGeom prst="rect">
            <a:avLst/>
          </a:prstGeom>
        </p:spPr>
      </p:pic>
      <p:cxnSp>
        <p:nvCxnSpPr>
          <p:cNvPr id="45" name="直接连接符 44"/>
          <p:cNvCxnSpPr/>
          <p:nvPr/>
        </p:nvCxnSpPr>
        <p:spPr>
          <a:xfrm>
            <a:off x="214132" y="3145634"/>
            <a:ext cx="178828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318303" y="3367483"/>
            <a:ext cx="152785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670351" y="2647922"/>
            <a:ext cx="823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A</a:t>
            </a:r>
            <a:endParaRPr lang="zh-CN" altLang="en-US" sz="2800" dirty="0"/>
          </a:p>
        </p:txBody>
      </p:sp>
      <p:sp>
        <p:nvSpPr>
          <p:cNvPr id="51" name="文本框 50"/>
          <p:cNvSpPr txBox="1"/>
          <p:nvPr/>
        </p:nvSpPr>
        <p:spPr>
          <a:xfrm>
            <a:off x="2192107" y="5549663"/>
            <a:ext cx="6730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/>
              <a:t>res.values.strings.xml</a:t>
            </a:r>
            <a:endParaRPr lang="zh-CN" altLang="en-US" sz="2400" dirty="0"/>
          </a:p>
        </p:txBody>
      </p:sp>
      <p:cxnSp>
        <p:nvCxnSpPr>
          <p:cNvPr id="54" name="直接连接符 53"/>
          <p:cNvCxnSpPr/>
          <p:nvPr/>
        </p:nvCxnSpPr>
        <p:spPr>
          <a:xfrm>
            <a:off x="4594439" y="3971750"/>
            <a:ext cx="3444427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灯片编号占位符 5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622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Implementation Details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782569" y="1025092"/>
            <a:ext cx="3915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/>
              <a:t>Downloader</a:t>
            </a:r>
            <a:endParaRPr lang="zh-CN" altLang="en-US" sz="2400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3206933" y="1743163"/>
            <a:ext cx="4701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solidFill>
                  <a:srgbClr val="669900"/>
                </a:solidFill>
              </a:rPr>
              <a:t>Code      Details</a:t>
            </a:r>
            <a:endParaRPr lang="zh-CN" altLang="en-US" sz="2800" b="1" dirty="0">
              <a:solidFill>
                <a:srgbClr val="669900"/>
              </a:solidFill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214132" y="3145634"/>
            <a:ext cx="178828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318303" y="3367483"/>
            <a:ext cx="152785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670351" y="2647922"/>
            <a:ext cx="823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B</a:t>
            </a:r>
            <a:endParaRPr lang="zh-CN" altLang="en-US" sz="2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994" y="3809087"/>
            <a:ext cx="8542905" cy="1936745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>
          <a:xfrm>
            <a:off x="6752337" y="5127372"/>
            <a:ext cx="2311244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21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Implementation Details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782569" y="1025092"/>
            <a:ext cx="3915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/>
              <a:t>Downloader</a:t>
            </a:r>
            <a:endParaRPr lang="zh-CN" altLang="en-US" sz="2400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3296691" y="1737572"/>
            <a:ext cx="4701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solidFill>
                  <a:srgbClr val="669900"/>
                </a:solidFill>
              </a:rPr>
              <a:t>Code      Details</a:t>
            </a:r>
            <a:endParaRPr lang="zh-CN" altLang="en-US" sz="2800" b="1" dirty="0">
              <a:solidFill>
                <a:srgbClr val="669900"/>
              </a:solidFill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214132" y="3145634"/>
            <a:ext cx="178828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318303" y="3367483"/>
            <a:ext cx="152785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670351" y="2647922"/>
            <a:ext cx="823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C</a:t>
            </a:r>
            <a:endParaRPr lang="zh-CN" altLang="en-US" sz="2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958" y="3563825"/>
            <a:ext cx="8088491" cy="2623970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>
          <a:xfrm>
            <a:off x="6254945" y="4499072"/>
            <a:ext cx="1912947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497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Implementation Details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782569" y="1025092"/>
            <a:ext cx="3915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/>
              <a:t>Dropper</a:t>
            </a:r>
            <a:endParaRPr lang="zh-CN" altLang="en-US" sz="24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462686"/>
              </p:ext>
            </p:extLst>
          </p:nvPr>
        </p:nvGraphicFramePr>
        <p:xfrm>
          <a:off x="1495328" y="2578887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Directory</a:t>
                      </a:r>
                      <a:r>
                        <a:rPr lang="en-US" altLang="zh-CN" b="1" baseline="0" dirty="0" smtClean="0">
                          <a:solidFill>
                            <a:schemeClr val="tx1"/>
                          </a:solidFill>
                        </a:rPr>
                        <a:t> names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Files names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image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images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templates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main.tpl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assets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extand.bak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layout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about.xml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files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3264913" y="1647936"/>
            <a:ext cx="4701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solidFill>
                  <a:srgbClr val="669900"/>
                </a:solidFill>
              </a:rPr>
              <a:t>Real </a:t>
            </a:r>
            <a:r>
              <a:rPr lang="en-US" altLang="zh-CN" sz="2800" b="1" i="1" dirty="0" smtClean="0">
                <a:solidFill>
                  <a:srgbClr val="669900"/>
                </a:solidFill>
              </a:rPr>
              <a:t>Payload to be dropped</a:t>
            </a:r>
            <a:endParaRPr lang="zh-CN" altLang="en-US" sz="2800" b="1" i="1" dirty="0">
              <a:solidFill>
                <a:srgbClr val="6699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04183" y="5273366"/>
            <a:ext cx="461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CC3300"/>
                </a:solidFill>
              </a:rPr>
              <a:t>Others are all junk classes (codes) !</a:t>
            </a:r>
            <a:endParaRPr lang="zh-CN" altLang="en-US" sz="2400" b="1" dirty="0">
              <a:solidFill>
                <a:srgbClr val="CC33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59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Implementation Details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782569" y="1025092"/>
            <a:ext cx="3915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/>
              <a:t>Dropper</a:t>
            </a:r>
            <a:endParaRPr lang="zh-CN" altLang="en-US" sz="2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3220035" y="1486757"/>
            <a:ext cx="4701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solidFill>
                  <a:srgbClr val="669900"/>
                </a:solidFill>
              </a:rPr>
              <a:t>Code      details</a:t>
            </a:r>
            <a:endParaRPr lang="zh-CN" altLang="en-US" sz="2800" b="1" i="1" dirty="0">
              <a:solidFill>
                <a:srgbClr val="6699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983" y="4020313"/>
            <a:ext cx="8601075" cy="2276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658" y="2178288"/>
            <a:ext cx="8534400" cy="12477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543983" y="3353856"/>
            <a:ext cx="842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RC4 key to decrypt payload and literals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483210" y="6288143"/>
            <a:ext cx="842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Classes’ and methods’ names in bytes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77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Implementation Details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782569" y="1025092"/>
            <a:ext cx="3915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/>
              <a:t>Payload</a:t>
            </a:r>
            <a:endParaRPr lang="zh-CN" altLang="en-US" sz="2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3203205" y="1412370"/>
            <a:ext cx="4701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 smtClean="0">
                <a:solidFill>
                  <a:srgbClr val="669900"/>
                </a:solidFill>
              </a:rPr>
              <a:t>Functionalities</a:t>
            </a:r>
            <a:endParaRPr lang="zh-CN" altLang="en-US" sz="2800" b="1" i="1" dirty="0">
              <a:solidFill>
                <a:srgbClr val="6699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149" y="2029569"/>
            <a:ext cx="2431855" cy="395176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843" y="2027994"/>
            <a:ext cx="2517373" cy="3953339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44528" y="6154813"/>
            <a:ext cx="842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Request privilege escalation for Accessibility</a:t>
            </a:r>
            <a:endParaRPr lang="zh-CN" altLang="en-US" dirty="0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45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Implementation Details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782569" y="1025092"/>
            <a:ext cx="3915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/>
              <a:t>Payload</a:t>
            </a:r>
            <a:endParaRPr lang="zh-CN" altLang="en-US" sz="2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3203205" y="1412370"/>
            <a:ext cx="4701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 smtClean="0">
                <a:solidFill>
                  <a:srgbClr val="669900"/>
                </a:solidFill>
              </a:rPr>
              <a:t>Functionalities</a:t>
            </a:r>
            <a:endParaRPr lang="zh-CN" altLang="en-US" sz="2800" b="1" i="1" dirty="0">
              <a:solidFill>
                <a:srgbClr val="6699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450137" y="5469570"/>
            <a:ext cx="842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Using  self-made  toast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41" y="2830350"/>
            <a:ext cx="10986798" cy="2639220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782569" y="4583219"/>
            <a:ext cx="10734382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74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714" y="2248956"/>
            <a:ext cx="6583843" cy="345306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Implementation Details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782569" y="1025092"/>
            <a:ext cx="3915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/>
              <a:t>Payload</a:t>
            </a:r>
            <a:endParaRPr lang="zh-CN" altLang="en-US" sz="2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3208815" y="1524675"/>
            <a:ext cx="4701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 smtClean="0">
                <a:solidFill>
                  <a:srgbClr val="669900"/>
                </a:solidFill>
              </a:rPr>
              <a:t>Functionalities</a:t>
            </a:r>
            <a:endParaRPr lang="zh-CN" altLang="en-US" sz="2800" b="1" i="1" dirty="0">
              <a:solidFill>
                <a:srgbClr val="6699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49161" y="5992055"/>
            <a:ext cx="842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Real C&amp;C address fetching through intermediate social server (twitter) </a:t>
            </a:r>
            <a:endParaRPr lang="zh-CN" altLang="en-US" dirty="0"/>
          </a:p>
        </p:txBody>
      </p:sp>
      <p:cxnSp>
        <p:nvCxnSpPr>
          <p:cNvPr id="14" name="直接连接符 13"/>
          <p:cNvCxnSpPr/>
          <p:nvPr/>
        </p:nvCxnSpPr>
        <p:spPr>
          <a:xfrm>
            <a:off x="5480790" y="2838567"/>
            <a:ext cx="2008314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43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Implementation Details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782569" y="1025092"/>
            <a:ext cx="3915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/>
              <a:t>Payload</a:t>
            </a:r>
            <a:endParaRPr lang="zh-CN" altLang="en-US" sz="2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3208815" y="1524675"/>
            <a:ext cx="4701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 smtClean="0">
                <a:solidFill>
                  <a:srgbClr val="669900"/>
                </a:solidFill>
              </a:rPr>
              <a:t>Functionalities</a:t>
            </a:r>
            <a:endParaRPr lang="zh-CN" altLang="en-US" sz="2800" b="1" i="1" dirty="0">
              <a:solidFill>
                <a:srgbClr val="6699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49161" y="5992055"/>
            <a:ext cx="842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Real C&amp;C address fetching through intermediate social server (twitter) </a:t>
            </a:r>
            <a:endParaRPr lang="zh-CN" altLang="en-US" dirty="0"/>
          </a:p>
        </p:txBody>
      </p:sp>
      <p:pic>
        <p:nvPicPr>
          <p:cNvPr id="1028" name="Picture 4" descr="https://ti.qianxin.com/uploads/2019/05/05/101e0db3e9f0a5a8603a804c804d856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384" y="2448207"/>
            <a:ext cx="7468939" cy="258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16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Implementation Details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782569" y="1025092"/>
            <a:ext cx="3915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/>
              <a:t>Payload</a:t>
            </a:r>
            <a:endParaRPr lang="zh-CN" altLang="en-US" sz="2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3208815" y="1524675"/>
            <a:ext cx="4701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 smtClean="0">
                <a:solidFill>
                  <a:srgbClr val="669900"/>
                </a:solidFill>
              </a:rPr>
              <a:t>Functionalities</a:t>
            </a:r>
            <a:endParaRPr lang="zh-CN" altLang="en-US" sz="2800" b="1" i="1" dirty="0">
              <a:solidFill>
                <a:srgbClr val="6699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821" y="2269430"/>
            <a:ext cx="6957667" cy="3222580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2468319" y="3960530"/>
            <a:ext cx="6726169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349161" y="5492010"/>
            <a:ext cx="84203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/>
              <a:t>Self-hiding (icon hidden)</a:t>
            </a:r>
          </a:p>
          <a:p>
            <a:pPr algn="ctr"/>
            <a:endParaRPr lang="en-US" altLang="zh-CN" sz="1000" dirty="0"/>
          </a:p>
          <a:p>
            <a:pPr algn="ctr"/>
            <a:r>
              <a:rPr lang="en-US" altLang="zh-CN" dirty="0" smtClean="0">
                <a:solidFill>
                  <a:srgbClr val="FF66CC"/>
                </a:solidFill>
              </a:rPr>
              <a:t>2</a:t>
            </a:r>
            <a:r>
              <a:rPr lang="en-US" altLang="zh-CN" dirty="0" smtClean="0"/>
              <a:t>:  </a:t>
            </a:r>
            <a:r>
              <a:rPr lang="en-AU" altLang="zh-CN" dirty="0" smtClean="0"/>
              <a:t>COMPONENT_ENABLED_STATE_DISABLED</a:t>
            </a:r>
          </a:p>
          <a:p>
            <a:r>
              <a:rPr lang="en-AU" altLang="zh-CN" dirty="0">
                <a:solidFill>
                  <a:srgbClr val="FF66CC"/>
                </a:solidFill>
              </a:rPr>
              <a:t> </a:t>
            </a:r>
            <a:r>
              <a:rPr lang="en-AU" altLang="zh-CN" dirty="0" smtClean="0">
                <a:solidFill>
                  <a:srgbClr val="FF66CC"/>
                </a:solidFill>
              </a:rPr>
              <a:t>                                      </a:t>
            </a:r>
            <a:r>
              <a:rPr lang="en-US" altLang="zh-CN" dirty="0" smtClean="0">
                <a:solidFill>
                  <a:srgbClr val="FF66CC"/>
                </a:solidFill>
              </a:rPr>
              <a:t>1</a:t>
            </a:r>
            <a:r>
              <a:rPr lang="en-US" altLang="zh-CN" dirty="0" smtClean="0"/>
              <a:t>:  </a:t>
            </a:r>
            <a:r>
              <a:rPr lang="en-AU" altLang="zh-CN" dirty="0" smtClean="0"/>
              <a:t>DONT_KILL_APP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85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Implementation Details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782569" y="1025092"/>
            <a:ext cx="3915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/>
              <a:t>Payload</a:t>
            </a:r>
            <a:endParaRPr lang="zh-CN" altLang="en-US" sz="2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3289242" y="1255924"/>
            <a:ext cx="52283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 smtClean="0">
                <a:solidFill>
                  <a:srgbClr val="669900"/>
                </a:solidFill>
              </a:rPr>
              <a:t>Functionalities via </a:t>
            </a:r>
          </a:p>
          <a:p>
            <a:pPr algn="ctr"/>
            <a:r>
              <a:rPr lang="en-US" altLang="zh-CN" sz="2800" b="1" i="1" dirty="0" smtClean="0">
                <a:solidFill>
                  <a:srgbClr val="CC3300"/>
                </a:solidFill>
              </a:rPr>
              <a:t>RAT(Remote Access Tool)</a:t>
            </a:r>
            <a:endParaRPr lang="zh-CN" altLang="en-US" sz="2800" b="1" i="1" dirty="0">
              <a:solidFill>
                <a:srgbClr val="CC3300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966688"/>
              </p:ext>
            </p:extLst>
          </p:nvPr>
        </p:nvGraphicFramePr>
        <p:xfrm>
          <a:off x="1907529" y="2210031"/>
          <a:ext cx="7991773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128"/>
                <a:gridCol w="5351645"/>
              </a:tblGrid>
              <a:tr h="286898">
                <a:tc>
                  <a:txBody>
                    <a:bodyPr/>
                    <a:lstStyle/>
                    <a:p>
                      <a:pPr algn="ctr"/>
                      <a:r>
                        <a:rPr lang="en-AU" altLang="zh-CN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Send_GO_SMS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 smtClean="0">
                          <a:solidFill>
                            <a:schemeClr val="tx1"/>
                          </a:solidFill>
                        </a:rPr>
                        <a:t>Send certain</a:t>
                      </a:r>
                      <a:r>
                        <a:rPr lang="en-US" altLang="zh-CN" sz="1800" b="0" baseline="0" dirty="0" smtClean="0">
                          <a:solidFill>
                            <a:schemeClr val="tx1"/>
                          </a:solidFill>
                        </a:rPr>
                        <a:t> SMS to certain telephone number</a:t>
                      </a:r>
                      <a:r>
                        <a:rPr lang="en-US" altLang="zh-CN" sz="1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 dirty="0">
                          <a:effectLst/>
                        </a:rPr>
                        <a:t>nymBePsG0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Steal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contacts info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 dirty="0" err="1">
                          <a:effectLst/>
                        </a:rPr>
                        <a:t>GetSWSGO</a:t>
                      </a:r>
                      <a:endParaRPr lang="en-AU" u="none" strike="noStrike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Steal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local SMS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 dirty="0" err="1">
                          <a:effectLst/>
                        </a:rPr>
                        <a:t>getapps</a:t>
                      </a:r>
                      <a:endParaRPr lang="en-AU" u="none" strike="noStrike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Acquire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installed App list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 dirty="0" err="1">
                          <a:effectLst/>
                        </a:rPr>
                        <a:t>getpermissions</a:t>
                      </a:r>
                      <a:endParaRPr lang="en-AU" u="none" strike="noStrike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Acquire granted permissions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>
                          <a:effectLst/>
                        </a:rPr>
                        <a:t>startaccessibility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Request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accessibility privilege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>
                          <a:effectLst/>
                        </a:rPr>
                        <a:t>startpermission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Request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specified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permissions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>
                          <a:effectLst/>
                        </a:rPr>
                        <a:t>=ALERT|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Popup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specified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alert window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>
                          <a:effectLst/>
                        </a:rPr>
                        <a:t>=PUSH|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Push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specified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notifications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>
                          <a:effectLst/>
                        </a:rPr>
                        <a:t>startAutoPush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Push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notifications automatically based on country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9081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 dirty="0" err="1">
                          <a:effectLst/>
                        </a:rPr>
                        <a:t>RequestPermissionGPS</a:t>
                      </a:r>
                      <a:endParaRPr lang="en-AU" u="none" strike="noStrike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Request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GPS-related permissions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9081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>
                          <a:effectLst/>
                        </a:rPr>
                        <a:t>|ussd=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Call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forward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17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492813"/>
              </p:ext>
            </p:extLst>
          </p:nvPr>
        </p:nvGraphicFramePr>
        <p:xfrm>
          <a:off x="1907528" y="1449635"/>
          <a:ext cx="7991773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128"/>
                <a:gridCol w="5351645"/>
              </a:tblGrid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|</a:t>
                      </a:r>
                      <a:r>
                        <a:rPr lang="en-AU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recordsound</a:t>
                      </a:r>
                      <a:r>
                        <a:rPr lang="en-AU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=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b="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Record</a:t>
                      </a:r>
                      <a:r>
                        <a:rPr lang="en-US" altLang="zh-CN" b="0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sound</a:t>
                      </a:r>
                      <a:endParaRPr lang="zh-CN" altLang="en-US" b="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 dirty="0">
                          <a:solidFill>
                            <a:schemeClr val="tx1"/>
                          </a:solidFill>
                          <a:effectLst/>
                        </a:rPr>
                        <a:t>|</a:t>
                      </a:r>
                      <a:r>
                        <a:rPr lang="en-AU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replaceurl</a:t>
                      </a:r>
                      <a:r>
                        <a:rPr lang="en-AU" u="none" strike="noStrike" dirty="0">
                          <a:solidFill>
                            <a:schemeClr val="tx1"/>
                          </a:solidFill>
                          <a:effectLst/>
                        </a:rPr>
                        <a:t>=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Replace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C&amp;C server</a:t>
                      </a:r>
                      <a:endParaRPr lang="en-AU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 dirty="0">
                          <a:solidFill>
                            <a:schemeClr val="tx1"/>
                          </a:solidFill>
                          <a:effectLst/>
                        </a:rPr>
                        <a:t>|</a:t>
                      </a:r>
                      <a:r>
                        <a:rPr lang="en-AU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startapplication</a:t>
                      </a:r>
                      <a:r>
                        <a:rPr lang="en-AU" u="none" strike="noStrike" dirty="0">
                          <a:solidFill>
                            <a:schemeClr val="tx1"/>
                          </a:solidFill>
                          <a:effectLst/>
                        </a:rPr>
                        <a:t>=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Start specified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application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getkeylogger</a:t>
                      </a:r>
                      <a:endParaRPr lang="en-AU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Steal key log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>
                          <a:solidFill>
                            <a:schemeClr val="tx1"/>
                          </a:solidFill>
                          <a:effectLst/>
                        </a:rPr>
                        <a:t>stopsound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Stop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recording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>
                          <a:solidFill>
                            <a:schemeClr val="tx1"/>
                          </a:solidFill>
                          <a:effectLst/>
                        </a:rPr>
                        <a:t>startsound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Start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recording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>
                          <a:solidFill>
                            <a:schemeClr val="tx1"/>
                          </a:solidFill>
                          <a:effectLst/>
                        </a:rPr>
                        <a:t>startscreenVNC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Start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VNC (remote control)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>
                          <a:solidFill>
                            <a:schemeClr val="tx1"/>
                          </a:solidFill>
                          <a:effectLst/>
                        </a:rPr>
                        <a:t>deletefilefolder: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Delete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certain file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>
                          <a:solidFill>
                            <a:schemeClr val="tx1"/>
                          </a:solidFill>
                          <a:effectLst/>
                        </a:rPr>
                        <a:t>downloadfile: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Download certain file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>
                          <a:solidFill>
                            <a:schemeClr val="tx1"/>
                          </a:solidFill>
                          <a:effectLst/>
                        </a:rPr>
                        <a:t>opendir: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Acquire file path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9081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>
                          <a:solidFill>
                            <a:schemeClr val="tx1"/>
                          </a:solidFill>
                          <a:effectLst/>
                        </a:rPr>
                        <a:t>startforward=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Start to forward calls to certain number and set device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to silent mode</a:t>
                      </a:r>
                      <a:endParaRPr lang="zh-CN" altLang="en-US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9081">
                <a:tc>
                  <a:txBody>
                    <a:bodyPr/>
                    <a:lstStyle/>
                    <a:p>
                      <a:pPr algn="ctr" latinLnBrk="1"/>
                      <a:r>
                        <a:rPr lang="en-AU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stopforward</a:t>
                      </a:r>
                      <a:endParaRPr lang="en-AU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Stop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forwarding</a:t>
                      </a:r>
                      <a:r>
                        <a:rPr lang="en-US" altLang="zh-CN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 calls to certain number and set device</a:t>
                      </a:r>
                      <a:r>
                        <a:rPr lang="en-US" altLang="zh-CN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to silent mode</a:t>
                      </a:r>
                      <a:endParaRPr lang="zh-CN" altLang="en-US" u="none" strike="noStrike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298867" y="274147"/>
            <a:ext cx="52283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 smtClean="0">
                <a:solidFill>
                  <a:srgbClr val="669900"/>
                </a:solidFill>
              </a:rPr>
              <a:t>Functionalities via </a:t>
            </a:r>
          </a:p>
          <a:p>
            <a:pPr algn="ctr"/>
            <a:r>
              <a:rPr lang="en-US" altLang="zh-CN" sz="2800" b="1" i="1" dirty="0" smtClean="0">
                <a:solidFill>
                  <a:srgbClr val="CC3300"/>
                </a:solidFill>
              </a:rPr>
              <a:t>RAT(Remote Access Tool)</a:t>
            </a:r>
            <a:endParaRPr lang="zh-CN" altLang="en-US" sz="2800" b="1" i="1" dirty="0">
              <a:solidFill>
                <a:srgbClr val="CC33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98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690209"/>
              </p:ext>
            </p:extLst>
          </p:nvPr>
        </p:nvGraphicFramePr>
        <p:xfrm>
          <a:off x="1897902" y="1613265"/>
          <a:ext cx="799177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128"/>
                <a:gridCol w="5351645"/>
              </a:tblGrid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|</a:t>
                      </a:r>
                      <a:r>
                        <a:rPr lang="en-AU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openbrowser</a:t>
                      </a:r>
                      <a:r>
                        <a:rPr lang="en-AU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=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b="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Open browser</a:t>
                      </a:r>
                      <a:endParaRPr lang="zh-CN" altLang="en-US" b="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b="0" u="none" strike="noStrike">
                          <a:solidFill>
                            <a:schemeClr val="tx1"/>
                          </a:solidFill>
                          <a:effectLst/>
                        </a:rPr>
                        <a:t>|openactivity=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b="0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Invoke the activity to open certain webpage</a:t>
                      </a:r>
                      <a:endParaRPr lang="zh-CN" altLang="en-US" b="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|</a:t>
                      </a:r>
                      <a:r>
                        <a:rPr lang="en-AU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cryptokey</a:t>
                      </a:r>
                      <a:r>
                        <a:rPr lang="en-AU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=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b="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Crypt</a:t>
                      </a:r>
                      <a:r>
                        <a:rPr lang="en-US" altLang="zh-CN" b="0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 files(/</a:t>
                      </a:r>
                      <a:r>
                        <a:rPr lang="en-US" altLang="zh-CN" b="0" u="none" strike="noStrike" baseline="0" dirty="0" err="1" smtClean="0">
                          <a:solidFill>
                            <a:schemeClr val="tx1"/>
                          </a:solidFill>
                          <a:effectLst/>
                        </a:rPr>
                        <a:t>mnt</a:t>
                      </a:r>
                      <a:r>
                        <a:rPr lang="en-US" altLang="zh-CN" b="0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, /mount, /</a:t>
                      </a:r>
                      <a:r>
                        <a:rPr lang="en-US" altLang="zh-CN" b="0" u="none" strike="noStrike" baseline="0" dirty="0" err="1" smtClean="0">
                          <a:solidFill>
                            <a:schemeClr val="tx1"/>
                          </a:solidFill>
                          <a:effectLst/>
                        </a:rPr>
                        <a:t>sdcard</a:t>
                      </a:r>
                      <a:r>
                        <a:rPr lang="en-US" altLang="zh-CN" b="0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, /storage)</a:t>
                      </a:r>
                      <a:endParaRPr lang="zh-CN" altLang="en-US" b="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|</a:t>
                      </a:r>
                      <a:r>
                        <a:rPr lang="en-AU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decryptokey</a:t>
                      </a:r>
                      <a:r>
                        <a:rPr lang="en-AU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=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b="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Decrypt files(</a:t>
                      </a:r>
                      <a:r>
                        <a:rPr lang="en-US" altLang="zh-CN" b="0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en-US" altLang="zh-CN" b="0" u="none" strike="noStrike" baseline="0" dirty="0" err="1" smtClean="0">
                          <a:solidFill>
                            <a:schemeClr val="tx1"/>
                          </a:solidFill>
                          <a:effectLst/>
                        </a:rPr>
                        <a:t>mnt</a:t>
                      </a:r>
                      <a:r>
                        <a:rPr lang="en-US" altLang="zh-CN" b="0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, /mount, /</a:t>
                      </a:r>
                      <a:r>
                        <a:rPr lang="en-US" altLang="zh-CN" b="0" u="none" strike="noStrike" baseline="0" dirty="0" err="1" smtClean="0">
                          <a:solidFill>
                            <a:schemeClr val="tx1"/>
                          </a:solidFill>
                          <a:effectLst/>
                        </a:rPr>
                        <a:t>sdcard</a:t>
                      </a:r>
                      <a:r>
                        <a:rPr lang="en-US" altLang="zh-CN" b="0" u="none" strike="noStrike" baseline="0" dirty="0" smtClean="0">
                          <a:solidFill>
                            <a:schemeClr val="tx1"/>
                          </a:solidFill>
                          <a:effectLst/>
                        </a:rPr>
                        <a:t>, /storage</a:t>
                      </a:r>
                      <a:r>
                        <a:rPr lang="en-US" altLang="zh-CN" b="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zh-CN" altLang="en-US" b="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6898">
                <a:tc>
                  <a:txBody>
                    <a:bodyPr/>
                    <a:lstStyle/>
                    <a:p>
                      <a:pPr algn="ctr" latinLnBrk="1"/>
                      <a:r>
                        <a:rPr lang="en-AU" b="0" u="none" strike="noStrike">
                          <a:solidFill>
                            <a:schemeClr val="tx1"/>
                          </a:solidFill>
                          <a:effectLst/>
                        </a:rPr>
                        <a:t>getip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b="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Get the device’s IP address</a:t>
                      </a:r>
                      <a:endParaRPr lang="zh-CN" altLang="en-US" b="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298867" y="274147"/>
            <a:ext cx="52283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 smtClean="0">
                <a:solidFill>
                  <a:srgbClr val="669900"/>
                </a:solidFill>
              </a:rPr>
              <a:t>Functionalities via </a:t>
            </a:r>
          </a:p>
          <a:p>
            <a:pPr algn="ctr"/>
            <a:r>
              <a:rPr lang="en-US" altLang="zh-CN" sz="2800" b="1" i="1" dirty="0" smtClean="0">
                <a:solidFill>
                  <a:srgbClr val="CC3300"/>
                </a:solidFill>
              </a:rPr>
              <a:t>RAT(Remote Access Tool)</a:t>
            </a:r>
            <a:endParaRPr lang="zh-CN" altLang="en-US" sz="2800" b="1" i="1" dirty="0">
              <a:solidFill>
                <a:srgbClr val="CC33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507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Comparisons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8930" y="1110802"/>
            <a:ext cx="8766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RQ1: Does </a:t>
            </a:r>
            <a:r>
              <a:rPr lang="en-US" altLang="zh-CN" sz="2000" dirty="0" smtClean="0"/>
              <a:t>different </a:t>
            </a:r>
            <a:r>
              <a:rPr lang="en-US" altLang="zh-CN" sz="2000" dirty="0" smtClean="0"/>
              <a:t>Anubis payload have similar/different AndroidManifest.xml ?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41896"/>
              </p:ext>
            </p:extLst>
          </p:nvPr>
        </p:nvGraphicFramePr>
        <p:xfrm>
          <a:off x="1444837" y="1901726"/>
          <a:ext cx="7699162" cy="3405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9581"/>
                <a:gridCol w="3849581"/>
              </a:tblGrid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Percentage of samples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Similarity scores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2.7%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87.1%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&gt;=90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7.6%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&gt;=80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1.9%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&gt;=70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0.7%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others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75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Comparisons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129026" y="1153661"/>
            <a:ext cx="8723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RQ2: Does different Anubis payloads have similar or different API methods/classes?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734793"/>
              </p:ext>
            </p:extLst>
          </p:nvPr>
        </p:nvGraphicFramePr>
        <p:xfrm>
          <a:off x="1764596" y="2255144"/>
          <a:ext cx="7699162" cy="3405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9581"/>
                <a:gridCol w="3849581"/>
              </a:tblGrid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Percentage of samples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Similarity scores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1.8%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73.6%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&gt;=90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14.7%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&gt;=80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6.8%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&gt;=70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3.1%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others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360279" y="1675682"/>
            <a:ext cx="441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/>
              <a:t>API  methods</a:t>
            </a:r>
            <a:endParaRPr lang="zh-CN" altLang="en-US" sz="2000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10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Comparisons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129026" y="1024176"/>
            <a:ext cx="8723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RQ2: Does different Anubis payloads have similar or different API methods/classes?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758306"/>
              </p:ext>
            </p:extLst>
          </p:nvPr>
        </p:nvGraphicFramePr>
        <p:xfrm>
          <a:off x="1764596" y="2255144"/>
          <a:ext cx="7699162" cy="2837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9581"/>
                <a:gridCol w="3849581"/>
              </a:tblGrid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Percentage of samples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Similarity scores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15.7%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81.2%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&gt;=90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2.5%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&gt;=80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5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0.6%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others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360279" y="1675682"/>
            <a:ext cx="441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/>
              <a:t>API  </a:t>
            </a:r>
            <a:r>
              <a:rPr lang="en-US" altLang="zh-CN" sz="2000" dirty="0" err="1" smtClean="0"/>
              <a:t>classess</a:t>
            </a:r>
            <a:endParaRPr lang="zh-CN" altLang="en-US" sz="200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38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Comparisons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129026" y="1024176"/>
            <a:ext cx="8723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RQ3: Does different Anubis payloads have similar or different </a:t>
            </a:r>
            <a:r>
              <a:rPr lang="en-US" altLang="zh-CN" dirty="0" err="1" smtClean="0"/>
              <a:t>opcodes</a:t>
            </a:r>
            <a:r>
              <a:rPr lang="en-US" altLang="zh-CN" dirty="0" smtClean="0"/>
              <a:t>?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60278" y="1737390"/>
            <a:ext cx="4633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/>
              <a:t>Op-codes in length (Longest shared string)</a:t>
            </a:r>
            <a:endParaRPr lang="zh-CN" altLang="en-US" sz="20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126345"/>
              </p:ext>
            </p:extLst>
          </p:nvPr>
        </p:nvGraphicFramePr>
        <p:xfrm>
          <a:off x="1560776" y="2357966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Percentage of samples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Similarity scores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0.3%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1.5%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&gt;=90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4.6%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&gt;=80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13.9%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&gt;=70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15.2%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&gt;=60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26.9%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&gt;=50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37.6%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others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02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Comparisons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129026" y="1024176"/>
            <a:ext cx="8723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RQ3: Does different Anubis payloads have similar or different </a:t>
            </a:r>
            <a:r>
              <a:rPr lang="en-US" altLang="zh-CN" dirty="0" err="1" smtClean="0"/>
              <a:t>opcodes</a:t>
            </a:r>
            <a:r>
              <a:rPr lang="en-US" altLang="zh-CN" dirty="0" smtClean="0"/>
              <a:t>?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60278" y="1737390"/>
            <a:ext cx="4633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/>
              <a:t>Op-codes in length (3-gram)</a:t>
            </a:r>
            <a:endParaRPr lang="zh-CN" altLang="en-US" sz="20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874291"/>
              </p:ext>
            </p:extLst>
          </p:nvPr>
        </p:nvGraphicFramePr>
        <p:xfrm>
          <a:off x="1560776" y="2357966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Percentage of samples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Similarity scores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3.6%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6.5</a:t>
                      </a:r>
                      <a:r>
                        <a:rPr lang="en-US" altLang="zh-CN" dirty="0" smtClean="0"/>
                        <a:t>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&gt;=90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4.6</a:t>
                      </a:r>
                      <a:r>
                        <a:rPr lang="en-US" altLang="zh-CN" dirty="0" smtClean="0"/>
                        <a:t>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&gt;=80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17.3%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&gt;=70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32.5%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&gt;=60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21.4%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&gt;=50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14.1%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others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55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Comparisons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129026" y="1024176"/>
            <a:ext cx="8723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RQ4: Does different Anubis payloads have similar or different numbers of classes?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11894"/>
              </p:ext>
            </p:extLst>
          </p:nvPr>
        </p:nvGraphicFramePr>
        <p:xfrm>
          <a:off x="1577606" y="204381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Percentage of samples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Similarity scores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16.2%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43.6%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&gt;=90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31.7%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&gt;=80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5.3%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&gt;=70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3.2%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others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34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863912"/>
            <a:ext cx="5435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18782"/>
            <a:ext cx="54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Comparisons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129026" y="1024176"/>
            <a:ext cx="8723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RQ5: Does different Anubis payloads have similar or different reference maps?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06837" y="1509040"/>
            <a:ext cx="72591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AndroidManifest.xml:</a:t>
            </a:r>
          </a:p>
          <a:p>
            <a:r>
              <a:rPr lang="en-US" altLang="zh-CN" dirty="0" smtClean="0"/>
              <a:t>a. Declared and existing classes</a:t>
            </a:r>
          </a:p>
          <a:p>
            <a:r>
              <a:rPr lang="en-US" altLang="zh-CN" dirty="0" smtClean="0"/>
              <a:t>b. Declared but not existing classes</a:t>
            </a:r>
          </a:p>
          <a:p>
            <a:r>
              <a:rPr lang="en-US" altLang="zh-CN" dirty="0" smtClean="0"/>
              <a:t>c. Not declared but existing classes</a:t>
            </a:r>
          </a:p>
          <a:p>
            <a:endParaRPr lang="en-US" altLang="zh-CN" dirty="0"/>
          </a:p>
          <a:p>
            <a:r>
              <a:rPr lang="en-US" altLang="zh-CN" dirty="0" smtClean="0"/>
              <a:t>Code Segments:</a:t>
            </a:r>
          </a:p>
          <a:p>
            <a:pPr marL="342900" indent="-342900">
              <a:buAutoNum type="alphaLcPeriod"/>
            </a:pPr>
            <a:r>
              <a:rPr lang="en-US" altLang="zh-CN" dirty="0" smtClean="0"/>
              <a:t>Import maps</a:t>
            </a:r>
          </a:p>
          <a:p>
            <a:pPr marL="342900" indent="-342900">
              <a:buAutoNum type="alphaLcPeriod"/>
            </a:pPr>
            <a:r>
              <a:rPr lang="en-US" altLang="zh-CN" dirty="0" smtClean="0"/>
              <a:t>“</a:t>
            </a:r>
            <a:r>
              <a:rPr lang="en-US" altLang="zh-CN" dirty="0" err="1" smtClean="0"/>
              <a:t>startactivity</a:t>
            </a:r>
            <a:r>
              <a:rPr lang="en-US" altLang="zh-CN" dirty="0" smtClean="0"/>
              <a:t>” and “</a:t>
            </a:r>
            <a:r>
              <a:rPr lang="en-US" altLang="zh-CN" dirty="0" err="1" smtClean="0"/>
              <a:t>startservice</a:t>
            </a:r>
            <a:r>
              <a:rPr lang="en-US" altLang="zh-CN" dirty="0" smtClean="0"/>
              <a:t>” invocation maps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470784"/>
              </p:ext>
            </p:extLst>
          </p:nvPr>
        </p:nvGraphicFramePr>
        <p:xfrm>
          <a:off x="1583215" y="3817364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Percentage of samples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Overall similarity scores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0.6%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13.6%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&gt;=90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17.2%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&gt;=80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15.6%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&gt;=70</a:t>
                      </a:r>
                      <a:endParaRPr lang="zh-CN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16.4%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</a:t>
                      </a:r>
                      <a:r>
                        <a:rPr lang="en-US" altLang="zh-CN" baseline="0" dirty="0" smtClean="0"/>
                        <a:t>60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10.5%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&gt;=50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26.1%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others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8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176517" y="2967335"/>
            <a:ext cx="18389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 &amp; A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463C-8A0A-499B-AF6A-65198AF8BB25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135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868</Words>
  <Application>Microsoft Office PowerPoint</Application>
  <PresentationFormat>宽屏</PresentationFormat>
  <Paragraphs>338</Paragraphs>
  <Slides>33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SimSun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用户</cp:lastModifiedBy>
  <cp:revision>33</cp:revision>
  <dcterms:created xsi:type="dcterms:W3CDTF">2020-02-20T22:35:31Z</dcterms:created>
  <dcterms:modified xsi:type="dcterms:W3CDTF">2020-02-21T06:17:04Z</dcterms:modified>
</cp:coreProperties>
</file>