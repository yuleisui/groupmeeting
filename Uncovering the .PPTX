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64" r:id="rId4"/>
    <p:sldId id="258" r:id="rId5"/>
    <p:sldId id="259" r:id="rId6"/>
    <p:sldId id="260" r:id="rId7"/>
    <p:sldId id="265" r:id="rId8"/>
    <p:sldId id="266" r:id="rId9"/>
    <p:sldId id="269" r:id="rId10"/>
    <p:sldId id="270" r:id="rId11"/>
    <p:sldId id="267" r:id="rId12"/>
    <p:sldId id="268" r:id="rId13"/>
    <p:sldId id="271" r:id="rId14"/>
    <p:sldId id="262" r:id="rId15"/>
    <p:sldId id="272" r:id="rId16"/>
    <p:sldId id="263" r:id="rId17"/>
    <p:sldId id="273" r:id="rId18"/>
    <p:sldId id="274" r:id="rId19"/>
    <p:sldId id="282" r:id="rId20"/>
    <p:sldId id="276" r:id="rId21"/>
    <p:sldId id="280" r:id="rId22"/>
    <p:sldId id="278" r:id="rId23"/>
    <p:sldId id="281" r:id="rId24"/>
    <p:sldId id="279" r:id="rId25"/>
    <p:sldId id="284" r:id="rId26"/>
    <p:sldId id="283" r:id="rId27"/>
    <p:sldId id="285" r:id="rId28"/>
    <p:sldId id="287" r:id="rId29"/>
    <p:sldId id="277" r:id="rId30"/>
    <p:sldId id="286" r:id="rId31"/>
    <p:sldId id="288" r:id="rId32"/>
    <p:sldId id="298" r:id="rId33"/>
    <p:sldId id="290" r:id="rId34"/>
    <p:sldId id="289" r:id="rId35"/>
    <p:sldId id="291" r:id="rId36"/>
    <p:sldId id="292" r:id="rId37"/>
    <p:sldId id="294" r:id="rId38"/>
    <p:sldId id="293" r:id="rId39"/>
    <p:sldId id="296" r:id="rId4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00"/>
    <a:srgbClr val="FF9933"/>
    <a:srgbClr val="99CC00"/>
    <a:srgbClr val="FF9900"/>
    <a:srgbClr val="00DE00"/>
    <a:srgbClr val="00CC66"/>
    <a:srgbClr val="CC00CC"/>
    <a:srgbClr val="5BFF5B"/>
    <a:srgbClr val="FF9393"/>
    <a:srgbClr val="8FFF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10A14A-4EA4-4D94-B24D-8238DA3E8143}" type="datetimeFigureOut">
              <a:rPr lang="zh-CN" altLang="en-US" smtClean="0"/>
              <a:t>2019/4/26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D73A7C-7D5B-4110-BDE7-32A23067C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2679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D73A7C-7D5B-4110-BDE7-32A23067C56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59871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D73A7C-7D5B-4110-BDE7-32A23067C56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511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3EB-9AF7-4FA2-A5ED-525AB7EB46B7}" type="datetimeFigureOut">
              <a:rPr lang="zh-CN" altLang="en-US" smtClean="0"/>
              <a:t>2019/4/26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E382A-4248-48AB-8806-38D262146F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961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3EB-9AF7-4FA2-A5ED-525AB7EB46B7}" type="datetimeFigureOut">
              <a:rPr lang="zh-CN" altLang="en-US" smtClean="0"/>
              <a:t>2019/4/26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E382A-4248-48AB-8806-38D262146F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128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3EB-9AF7-4FA2-A5ED-525AB7EB46B7}" type="datetimeFigureOut">
              <a:rPr lang="zh-CN" altLang="en-US" smtClean="0"/>
              <a:t>2019/4/26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E382A-4248-48AB-8806-38D262146F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5237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3EB-9AF7-4FA2-A5ED-525AB7EB46B7}" type="datetimeFigureOut">
              <a:rPr lang="zh-CN" altLang="en-US" smtClean="0"/>
              <a:t>2019/4/26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E382A-4248-48AB-8806-38D262146F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1969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3EB-9AF7-4FA2-A5ED-525AB7EB46B7}" type="datetimeFigureOut">
              <a:rPr lang="zh-CN" altLang="en-US" smtClean="0"/>
              <a:t>2019/4/26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E382A-4248-48AB-8806-38D262146F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9621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3EB-9AF7-4FA2-A5ED-525AB7EB46B7}" type="datetimeFigureOut">
              <a:rPr lang="zh-CN" altLang="en-US" smtClean="0"/>
              <a:t>2019/4/26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E382A-4248-48AB-8806-38D262146F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1072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3EB-9AF7-4FA2-A5ED-525AB7EB46B7}" type="datetimeFigureOut">
              <a:rPr lang="zh-CN" altLang="en-US" smtClean="0"/>
              <a:t>2019/4/26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E382A-4248-48AB-8806-38D262146F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2743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3EB-9AF7-4FA2-A5ED-525AB7EB46B7}" type="datetimeFigureOut">
              <a:rPr lang="zh-CN" altLang="en-US" smtClean="0"/>
              <a:t>2019/4/26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E382A-4248-48AB-8806-38D262146F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4921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3EB-9AF7-4FA2-A5ED-525AB7EB46B7}" type="datetimeFigureOut">
              <a:rPr lang="zh-CN" altLang="en-US" smtClean="0"/>
              <a:t>2019/4/26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E382A-4248-48AB-8806-38D262146F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8284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3EB-9AF7-4FA2-A5ED-525AB7EB46B7}" type="datetimeFigureOut">
              <a:rPr lang="zh-CN" altLang="en-US" smtClean="0"/>
              <a:t>2019/4/26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E382A-4248-48AB-8806-38D262146F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3841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3EB-9AF7-4FA2-A5ED-525AB7EB46B7}" type="datetimeFigureOut">
              <a:rPr lang="zh-CN" altLang="en-US" smtClean="0"/>
              <a:t>2019/4/26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E382A-4248-48AB-8806-38D262146F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6382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8E33EB-9AF7-4FA2-A5ED-525AB7EB46B7}" type="datetimeFigureOut">
              <a:rPr lang="zh-CN" altLang="en-US" smtClean="0"/>
              <a:t>2019/4/26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3E382A-4248-48AB-8806-38D262146F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9690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88759" y="1549668"/>
            <a:ext cx="1141556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 smtClean="0">
                <a:solidFill>
                  <a:schemeClr val="accent1">
                    <a:lumMod val="75000"/>
                  </a:schemeClr>
                </a:solidFill>
              </a:rPr>
              <a:t>Uncovering the Face of Android </a:t>
            </a:r>
            <a:r>
              <a:rPr lang="en-US" altLang="zh-CN" sz="4800" dirty="0" err="1" smtClean="0">
                <a:solidFill>
                  <a:schemeClr val="accent1">
                    <a:lumMod val="75000"/>
                  </a:schemeClr>
                </a:solidFill>
              </a:rPr>
              <a:t>Ransomware</a:t>
            </a:r>
            <a:r>
              <a:rPr lang="en-US" altLang="zh-CN" sz="4800" dirty="0" smtClean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altLang="zh-CN" sz="4800" dirty="0" smtClean="0">
                <a:solidFill>
                  <a:schemeClr val="accent1">
                    <a:lumMod val="75000"/>
                  </a:schemeClr>
                </a:solidFill>
              </a:rPr>
              <a:t>Characterization and Real-Time Detection</a:t>
            </a:r>
            <a:endParaRPr lang="zh-CN" altLang="en-US" sz="4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161197" y="4100362"/>
            <a:ext cx="4389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4000" dirty="0" smtClean="0"/>
              <a:t>2018     TIFS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522195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16292" y="231007"/>
            <a:ext cx="30800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dirty="0" smtClean="0"/>
              <a:t>Challenges</a:t>
            </a:r>
            <a:endParaRPr lang="zh-CN" altLang="en-US" sz="4400" dirty="0"/>
          </a:p>
        </p:txBody>
      </p:sp>
      <p:cxnSp>
        <p:nvCxnSpPr>
          <p:cNvPr id="6" name="直接连接符 5"/>
          <p:cNvCxnSpPr/>
          <p:nvPr/>
        </p:nvCxnSpPr>
        <p:spPr>
          <a:xfrm flipV="1">
            <a:off x="139566" y="1000448"/>
            <a:ext cx="3633537" cy="28876"/>
          </a:xfrm>
          <a:prstGeom prst="line">
            <a:avLst/>
          </a:prstGeom>
          <a:ln w="82550" cmpd="dbl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731518" y="1798765"/>
            <a:ext cx="1121343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Wingdings" panose="05000000000000000000" pitchFamily="2" charset="2"/>
              <a:buChar char="Ø"/>
            </a:pPr>
            <a:r>
              <a:rPr lang="en-US" altLang="zh-CN" sz="4800" dirty="0" smtClean="0">
                <a:solidFill>
                  <a:schemeClr val="bg2">
                    <a:lumMod val="50000"/>
                  </a:schemeClr>
                </a:solidFill>
              </a:rPr>
              <a:t>Lack of Android </a:t>
            </a:r>
            <a:r>
              <a:rPr lang="en-US" altLang="zh-CN" sz="4800" dirty="0" err="1" smtClean="0">
                <a:solidFill>
                  <a:schemeClr val="bg2">
                    <a:lumMod val="50000"/>
                  </a:schemeClr>
                </a:solidFill>
              </a:rPr>
              <a:t>ransomware</a:t>
            </a:r>
            <a:r>
              <a:rPr lang="en-US" altLang="zh-CN" sz="4800" dirty="0" smtClean="0">
                <a:solidFill>
                  <a:schemeClr val="bg2">
                    <a:lumMod val="50000"/>
                  </a:schemeClr>
                </a:solidFill>
              </a:rPr>
              <a:t> dataset</a:t>
            </a:r>
          </a:p>
          <a:p>
            <a:pPr marL="685800" indent="-685800">
              <a:buFont typeface="Wingdings" panose="05000000000000000000" pitchFamily="2" charset="2"/>
              <a:buChar char="Ø"/>
            </a:pPr>
            <a:endParaRPr lang="en-US" altLang="zh-CN" sz="4800" dirty="0">
              <a:solidFill>
                <a:schemeClr val="bg2">
                  <a:lumMod val="50000"/>
                </a:schemeClr>
              </a:solidFill>
            </a:endParaRPr>
          </a:p>
          <a:p>
            <a:pPr marL="685800" indent="-685800">
              <a:buFont typeface="Wingdings" panose="05000000000000000000" pitchFamily="2" charset="2"/>
              <a:buChar char="Ø"/>
            </a:pPr>
            <a:r>
              <a:rPr lang="en-US" altLang="zh-CN" sz="4800" dirty="0" smtClean="0">
                <a:solidFill>
                  <a:schemeClr val="bg2">
                    <a:lumMod val="50000"/>
                  </a:schemeClr>
                </a:solidFill>
              </a:rPr>
              <a:t>Infeasible of transplanting PC solutions</a:t>
            </a:r>
          </a:p>
          <a:p>
            <a:r>
              <a:rPr lang="en-US" altLang="zh-CN" sz="4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zh-CN" sz="4800" dirty="0" smtClean="0">
                <a:solidFill>
                  <a:schemeClr val="bg2">
                    <a:lumMod val="50000"/>
                  </a:schemeClr>
                </a:solidFill>
              </a:rPr>
              <a:t>   directly</a:t>
            </a:r>
            <a:endParaRPr lang="zh-CN" altLang="en-US" sz="48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863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16292" y="231007"/>
            <a:ext cx="30800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dirty="0" smtClean="0"/>
              <a:t>Insights</a:t>
            </a:r>
            <a:endParaRPr lang="zh-CN" altLang="en-US" sz="4400" dirty="0"/>
          </a:p>
        </p:txBody>
      </p:sp>
      <p:cxnSp>
        <p:nvCxnSpPr>
          <p:cNvPr id="6" name="直接连接符 5"/>
          <p:cNvCxnSpPr/>
          <p:nvPr/>
        </p:nvCxnSpPr>
        <p:spPr>
          <a:xfrm flipV="1">
            <a:off x="139566" y="1000448"/>
            <a:ext cx="3633537" cy="28876"/>
          </a:xfrm>
          <a:prstGeom prst="line">
            <a:avLst/>
          </a:prstGeom>
          <a:ln w="82550" cmpd="dbl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721893" y="1769889"/>
            <a:ext cx="1121343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Wingdings" panose="05000000000000000000" pitchFamily="2" charset="2"/>
              <a:buChar char="Ø"/>
            </a:pPr>
            <a:r>
              <a:rPr lang="en-US" altLang="zh-CN" sz="4800" dirty="0" smtClean="0">
                <a:solidFill>
                  <a:schemeClr val="accent1">
                    <a:lumMod val="75000"/>
                  </a:schemeClr>
                </a:solidFill>
              </a:rPr>
              <a:t>Collecting real-world dataset</a:t>
            </a:r>
          </a:p>
          <a:p>
            <a:r>
              <a:rPr lang="en-US" altLang="zh-CN" sz="48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sz="4800" dirty="0" smtClean="0">
                <a:solidFill>
                  <a:schemeClr val="accent1">
                    <a:lumMod val="75000"/>
                  </a:schemeClr>
                </a:solidFill>
              </a:rPr>
              <a:t>    (2,721 samples from 15 families)</a:t>
            </a:r>
          </a:p>
          <a:p>
            <a:endParaRPr lang="en-US" altLang="zh-CN" sz="48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685800" indent="-685800">
              <a:buFont typeface="Wingdings" panose="05000000000000000000" pitchFamily="2" charset="2"/>
              <a:buChar char="Ø"/>
            </a:pPr>
            <a:r>
              <a:rPr lang="en-US" altLang="zh-CN" sz="4800" dirty="0" smtClean="0">
                <a:solidFill>
                  <a:schemeClr val="accent1">
                    <a:lumMod val="75000"/>
                  </a:schemeClr>
                </a:solidFill>
              </a:rPr>
              <a:t>Implement a real-time UI-based  detection system(</a:t>
            </a:r>
            <a:r>
              <a:rPr lang="en-US" altLang="zh-CN" sz="4800" dirty="0" err="1" smtClean="0">
                <a:solidFill>
                  <a:schemeClr val="accent1">
                    <a:lumMod val="75000"/>
                  </a:schemeClr>
                </a:solidFill>
              </a:rPr>
              <a:t>RansomProber</a:t>
            </a:r>
            <a:r>
              <a:rPr lang="en-US" altLang="zh-CN" sz="4800" dirty="0" smtClean="0">
                <a:solidFill>
                  <a:schemeClr val="accent1">
                    <a:lumMod val="75000"/>
                  </a:schemeClr>
                </a:solidFill>
              </a:rPr>
              <a:t>)</a:t>
            </a:r>
            <a:endParaRPr lang="en-US" altLang="zh-CN" sz="48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9257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273616" y="616016"/>
            <a:ext cx="3484346" cy="133791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400" dirty="0" err="1" smtClean="0">
                <a:solidFill>
                  <a:schemeClr val="tx1"/>
                </a:solidFill>
              </a:rPr>
              <a:t>Ransomware</a:t>
            </a:r>
            <a:endParaRPr lang="zh-CN" altLang="en-US" sz="4400" dirty="0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7669730" y="3856520"/>
            <a:ext cx="3484346" cy="133791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400" dirty="0" err="1" smtClean="0">
                <a:solidFill>
                  <a:schemeClr val="tx1"/>
                </a:solidFill>
              </a:rPr>
              <a:t>Encrypter</a:t>
            </a:r>
            <a:endParaRPr lang="zh-CN" altLang="en-US" sz="4400" dirty="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951296" y="3856521"/>
            <a:ext cx="3484346" cy="133791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400" dirty="0" smtClean="0">
                <a:solidFill>
                  <a:schemeClr val="tx1"/>
                </a:solidFill>
              </a:rPr>
              <a:t>Locker</a:t>
            </a:r>
            <a:endParaRPr lang="zh-CN" altLang="en-US" sz="4400" dirty="0">
              <a:solidFill>
                <a:schemeClr val="tx1"/>
              </a:solidFill>
            </a:endParaRPr>
          </a:p>
        </p:txBody>
      </p:sp>
      <p:cxnSp>
        <p:nvCxnSpPr>
          <p:cNvPr id="8" name="直接连接符 7"/>
          <p:cNvCxnSpPr>
            <a:stCxn id="4" idx="2"/>
            <a:endCxn id="6" idx="0"/>
          </p:cNvCxnSpPr>
          <p:nvPr/>
        </p:nvCxnSpPr>
        <p:spPr>
          <a:xfrm flipH="1">
            <a:off x="2693469" y="1953927"/>
            <a:ext cx="3322320" cy="1902594"/>
          </a:xfrm>
          <a:prstGeom prst="line">
            <a:avLst/>
          </a:prstGeom>
          <a:ln w="38100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>
            <a:stCxn id="4" idx="2"/>
            <a:endCxn id="5" idx="0"/>
          </p:cNvCxnSpPr>
          <p:nvPr/>
        </p:nvCxnSpPr>
        <p:spPr>
          <a:xfrm>
            <a:off x="6015789" y="1953927"/>
            <a:ext cx="3396114" cy="1902593"/>
          </a:xfrm>
          <a:prstGeom prst="line">
            <a:avLst/>
          </a:prstGeom>
          <a:ln w="38100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下箭头 12"/>
          <p:cNvSpPr/>
          <p:nvPr/>
        </p:nvSpPr>
        <p:spPr>
          <a:xfrm>
            <a:off x="9338109" y="2059806"/>
            <a:ext cx="588744" cy="1529614"/>
          </a:xfrm>
          <a:prstGeom prst="downArrow">
            <a:avLst/>
          </a:prstGeom>
          <a:solidFill>
            <a:srgbClr val="CC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1783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393" y="604937"/>
            <a:ext cx="7515225" cy="5667375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2791326" y="604937"/>
            <a:ext cx="2310063" cy="1194987"/>
          </a:xfrm>
          <a:prstGeom prst="ellipse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3514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667225" y="77001"/>
            <a:ext cx="51495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/>
              <a:t>File   Monitor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49153" y="798549"/>
            <a:ext cx="10096901" cy="5771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lnSpc>
                <a:spcPts val="7500"/>
              </a:lnSpc>
              <a:buFont typeface="+mj-lt"/>
              <a:buAutoNum type="alphaLcPeriod"/>
            </a:pPr>
            <a:r>
              <a:rPr lang="en-US" altLang="zh-CN" sz="4400" dirty="0" smtClean="0">
                <a:solidFill>
                  <a:schemeClr val="accent1">
                    <a:lumMod val="75000"/>
                  </a:schemeClr>
                </a:solidFill>
              </a:rPr>
              <a:t>/Android/data</a:t>
            </a:r>
          </a:p>
          <a:p>
            <a:pPr marL="742950" indent="-742950">
              <a:lnSpc>
                <a:spcPts val="7500"/>
              </a:lnSpc>
              <a:buFont typeface="+mj-lt"/>
              <a:buAutoNum type="alphaLcPeriod"/>
            </a:pPr>
            <a:r>
              <a:rPr lang="en-US" altLang="zh-CN" sz="4400" dirty="0" smtClean="0">
                <a:solidFill>
                  <a:schemeClr val="accent1">
                    <a:lumMod val="75000"/>
                  </a:schemeClr>
                </a:solidFill>
              </a:rPr>
              <a:t>/data/system/</a:t>
            </a:r>
            <a:r>
              <a:rPr lang="en-US" altLang="zh-CN" sz="4400" dirty="0" err="1" smtClean="0">
                <a:solidFill>
                  <a:schemeClr val="accent1">
                    <a:lumMod val="75000"/>
                  </a:schemeClr>
                </a:solidFill>
              </a:rPr>
              <a:t>accounts.db</a:t>
            </a:r>
            <a:endParaRPr lang="en-US" altLang="zh-CN" sz="4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742950" indent="-742950">
              <a:lnSpc>
                <a:spcPts val="7500"/>
              </a:lnSpc>
              <a:buFont typeface="+mj-lt"/>
              <a:buAutoNum type="alphaLcPeriod"/>
            </a:pPr>
            <a:r>
              <a:rPr lang="en-US" altLang="zh-CN" sz="4400" dirty="0" smtClean="0">
                <a:solidFill>
                  <a:schemeClr val="accent1">
                    <a:lumMod val="75000"/>
                  </a:schemeClr>
                </a:solidFill>
              </a:rPr>
              <a:t>/data/… /contacts2.db</a:t>
            </a:r>
          </a:p>
          <a:p>
            <a:pPr marL="742950" indent="-742950">
              <a:lnSpc>
                <a:spcPts val="7500"/>
              </a:lnSpc>
              <a:buFont typeface="+mj-lt"/>
              <a:buAutoNum type="alphaLcPeriod"/>
            </a:pPr>
            <a:r>
              <a:rPr lang="en-US" altLang="zh-CN" sz="4400" dirty="0" smtClean="0">
                <a:solidFill>
                  <a:schemeClr val="accent1">
                    <a:lumMod val="75000"/>
                  </a:schemeClr>
                </a:solidFill>
              </a:rPr>
              <a:t>/data/… /</a:t>
            </a:r>
            <a:r>
              <a:rPr lang="en-US" altLang="zh-CN" sz="4400" dirty="0" err="1" smtClean="0">
                <a:solidFill>
                  <a:schemeClr val="accent1">
                    <a:lumMod val="75000"/>
                  </a:schemeClr>
                </a:solidFill>
              </a:rPr>
              <a:t>mmssms.db</a:t>
            </a:r>
            <a:endParaRPr lang="en-US" altLang="zh-CN" sz="4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742950" indent="-742950">
              <a:lnSpc>
                <a:spcPts val="7500"/>
              </a:lnSpc>
              <a:buFont typeface="+mj-lt"/>
              <a:buAutoNum type="alphaLcPeriod"/>
            </a:pPr>
            <a:r>
              <a:rPr lang="en-US" altLang="zh-CN" sz="4400" dirty="0" smtClean="0">
                <a:solidFill>
                  <a:schemeClr val="accent1">
                    <a:lumMod val="75000"/>
                  </a:schemeClr>
                </a:solidFill>
              </a:rPr>
              <a:t>/</a:t>
            </a:r>
            <a:r>
              <a:rPr lang="en-US" altLang="zh-CN" sz="4400" dirty="0" err="1" smtClean="0">
                <a:solidFill>
                  <a:schemeClr val="accent1">
                    <a:lumMod val="75000"/>
                  </a:schemeClr>
                </a:solidFill>
              </a:rPr>
              <a:t>sdcard</a:t>
            </a:r>
            <a:r>
              <a:rPr lang="en-US" altLang="zh-CN" sz="4400" dirty="0" smtClean="0">
                <a:solidFill>
                  <a:schemeClr val="accent1">
                    <a:lumMod val="75000"/>
                  </a:schemeClr>
                </a:solidFill>
              </a:rPr>
              <a:t>/Pictures</a:t>
            </a:r>
          </a:p>
          <a:p>
            <a:pPr marL="742950" indent="-742950">
              <a:lnSpc>
                <a:spcPts val="7500"/>
              </a:lnSpc>
              <a:buFont typeface="+mj-lt"/>
              <a:buAutoNum type="alphaLcPeriod"/>
            </a:pPr>
            <a:r>
              <a:rPr lang="en-US" altLang="zh-CN" sz="4400" dirty="0" smtClean="0">
                <a:solidFill>
                  <a:schemeClr val="accent1">
                    <a:lumMod val="75000"/>
                  </a:schemeClr>
                </a:solidFill>
              </a:rPr>
              <a:t>/</a:t>
            </a:r>
            <a:r>
              <a:rPr lang="en-US" altLang="zh-CN" sz="4400" dirty="0" err="1" smtClean="0">
                <a:solidFill>
                  <a:schemeClr val="accent1">
                    <a:lumMod val="75000"/>
                  </a:schemeClr>
                </a:solidFill>
              </a:rPr>
              <a:t>sdcard</a:t>
            </a:r>
            <a:r>
              <a:rPr lang="en-US" altLang="zh-CN" sz="4400" dirty="0" smtClean="0">
                <a:solidFill>
                  <a:schemeClr val="accent1">
                    <a:lumMod val="75000"/>
                  </a:schemeClr>
                </a:solidFill>
              </a:rPr>
              <a:t>/Downloads</a:t>
            </a:r>
            <a:endParaRPr lang="zh-CN" altLang="en-US" sz="44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3528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393" y="604937"/>
            <a:ext cx="7515225" cy="5667375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7382577" y="604937"/>
            <a:ext cx="2310063" cy="1194987"/>
          </a:xfrm>
          <a:prstGeom prst="ellipse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104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003081" y="184012"/>
            <a:ext cx="61890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/>
              <a:t>Information Entropy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059" y="1468692"/>
            <a:ext cx="4263040" cy="15523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1241785" y="3166107"/>
                <a:ext cx="4245567" cy="84863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sz="3600" dirty="0" smtClean="0"/>
                  <a:t> </a:t>
                </a:r>
                <a:r>
                  <a:rPr lang="en-US" altLang="zh-CN" sz="3600" dirty="0" smtClean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3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𝑡𝑜𝑡𝑎𝑙𝑏𝑦𝑡𝑒𝑠</m:t>
                        </m:r>
                      </m:den>
                    </m:f>
                  </m:oMath>
                </a14:m>
                <a:endParaRPr lang="zh-CN" altLang="en-US" sz="3600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785" y="3166107"/>
                <a:ext cx="4245567" cy="848630"/>
              </a:xfrm>
              <a:prstGeom prst="rect">
                <a:avLst/>
              </a:prstGeom>
              <a:blipFill rotWithShape="0">
                <a:blip r:embed="rId3"/>
                <a:stretch>
                  <a:fillRect t="-2143" b="-1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1128059" y="4466881"/>
                <a:ext cx="1090031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  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𝑛𝑢𝑚𝑏𝑒𝑟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𝑜𝑓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𝑖𝑛𝑠𝑡𝑎𝑛𝑐𝑒𝑠</m:t>
                    </m:r>
                  </m:oMath>
                </a14:m>
                <a:r>
                  <a:rPr lang="zh-CN" altLang="en-US" sz="3600" dirty="0" smtClean="0">
                    <a:latin typeface="Cambria" panose="02040503050406030204" pitchFamily="18" charset="0"/>
                  </a:rPr>
                  <a:t> </a:t>
                </a:r>
                <a:r>
                  <a:rPr lang="en-US" altLang="zh-CN" sz="3600" dirty="0" smtClean="0">
                    <a:latin typeface="Cambria" panose="02040503050406030204" pitchFamily="18" charset="0"/>
                  </a:rPr>
                  <a:t>of byte value </a:t>
                </a:r>
                <a14:m>
                  <m:oMath xmlns:m="http://schemas.openxmlformats.org/officeDocument/2006/math"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3600" i="1" dirty="0" smtClean="0">
                    <a:latin typeface="Cambria Math" panose="02040503050406030204" pitchFamily="18" charset="0"/>
                  </a:rPr>
                  <a:t> </a:t>
                </a:r>
                <a:r>
                  <a:rPr lang="en-US" altLang="zh-CN" sz="36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in the file</a:t>
                </a:r>
                <a:endParaRPr lang="zh-CN" altLang="en-US" sz="3600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059" y="4466881"/>
                <a:ext cx="10900311" cy="646331"/>
              </a:xfrm>
              <a:prstGeom prst="rect">
                <a:avLst/>
              </a:prstGeom>
              <a:blipFill rotWithShape="0">
                <a:blip r:embed="rId4"/>
                <a:stretch>
                  <a:fillRect t="-15094" b="-349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1128059" y="5460580"/>
                <a:ext cx="852608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5400" dirty="0" smtClean="0">
                    <a:solidFill>
                      <a:srgbClr val="FF0000"/>
                    </a:solidFill>
                  </a:rPr>
                  <a:t>e </a:t>
                </a:r>
                <a14:m>
                  <m:oMath xmlns:m="http://schemas.openxmlformats.org/officeDocument/2006/math">
                    <m:r>
                      <a:rPr lang="en-US" altLang="zh-CN" sz="5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5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 ?</m:t>
                    </m:r>
                  </m:oMath>
                </a14:m>
                <a:endParaRPr lang="zh-CN" altLang="en-US" sz="5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059" y="5460580"/>
                <a:ext cx="8526080" cy="923330"/>
              </a:xfrm>
              <a:prstGeom prst="rect">
                <a:avLst/>
              </a:prstGeom>
              <a:blipFill rotWithShape="0">
                <a:blip r:embed="rId5"/>
                <a:stretch>
                  <a:fillRect l="-3788" t="-17881" b="-403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/>
          <p:cNvSpPr txBox="1"/>
          <p:nvPr/>
        </p:nvSpPr>
        <p:spPr>
          <a:xfrm>
            <a:off x="6622182" y="1952478"/>
            <a:ext cx="3262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 smtClean="0">
                <a:solidFill>
                  <a:schemeClr val="accent1">
                    <a:lumMod val="75000"/>
                  </a:schemeClr>
                </a:solidFill>
              </a:rPr>
              <a:t>Shannon entropy</a:t>
            </a:r>
            <a:endParaRPr lang="zh-CN" altLang="en-US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4" name="直接箭头连接符 13"/>
          <p:cNvCxnSpPr>
            <a:stCxn id="12" idx="1"/>
            <a:endCxn id="8" idx="3"/>
          </p:cNvCxnSpPr>
          <p:nvPr/>
        </p:nvCxnSpPr>
        <p:spPr>
          <a:xfrm flipH="1" flipV="1">
            <a:off x="5391099" y="2244865"/>
            <a:ext cx="1231083" cy="1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4149192" y="5565356"/>
            <a:ext cx="76475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 smtClean="0">
                <a:solidFill>
                  <a:srgbClr val="3333CC"/>
                </a:solidFill>
              </a:rPr>
              <a:t>Yes</a:t>
            </a:r>
            <a:r>
              <a:rPr lang="en-US" altLang="zh-CN" sz="4000" dirty="0" smtClean="0"/>
              <a:t>: Encrypted     </a:t>
            </a:r>
            <a:r>
              <a:rPr lang="en-US" altLang="zh-CN" sz="4000" dirty="0" smtClean="0">
                <a:solidFill>
                  <a:srgbClr val="FF9900"/>
                </a:solidFill>
              </a:rPr>
              <a:t>No</a:t>
            </a:r>
            <a:r>
              <a:rPr lang="en-US" altLang="zh-CN" sz="4000" dirty="0" smtClean="0"/>
              <a:t>: Not encrypted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392196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10652" y="789270"/>
            <a:ext cx="390785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dirty="0" smtClean="0">
                <a:solidFill>
                  <a:srgbClr val="00CC00"/>
                </a:solidFill>
              </a:rPr>
              <a:t>Normal</a:t>
            </a:r>
            <a:r>
              <a:rPr lang="en-US" altLang="zh-CN" sz="6000" dirty="0" smtClean="0">
                <a:solidFill>
                  <a:srgbClr val="00CC00"/>
                </a:solidFill>
              </a:rPr>
              <a:t> </a:t>
            </a:r>
          </a:p>
          <a:p>
            <a:pPr algn="ctr"/>
            <a:endParaRPr lang="en-US" altLang="zh-CN" sz="6000" dirty="0" smtClean="0"/>
          </a:p>
          <a:p>
            <a:pPr algn="ctr"/>
            <a:r>
              <a:rPr lang="en-US" altLang="zh-CN" sz="6000" dirty="0" smtClean="0"/>
              <a:t>or   </a:t>
            </a:r>
          </a:p>
          <a:p>
            <a:pPr algn="ctr"/>
            <a:r>
              <a:rPr lang="en-US" altLang="zh-CN" sz="6000" dirty="0" smtClean="0"/>
              <a:t>     </a:t>
            </a:r>
            <a:r>
              <a:rPr lang="en-US" altLang="zh-CN" sz="7200" dirty="0" smtClean="0">
                <a:solidFill>
                  <a:srgbClr val="FF5050"/>
                </a:solidFill>
              </a:rPr>
              <a:t>Abnormal</a:t>
            </a:r>
            <a:endParaRPr lang="zh-CN" altLang="en-US" sz="7200" dirty="0">
              <a:solidFill>
                <a:srgbClr val="FF5050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112042" y="96253"/>
            <a:ext cx="0" cy="6858000"/>
          </a:xfrm>
          <a:prstGeom prst="line">
            <a:avLst/>
          </a:prstGeom>
          <a:ln w="53975" cmpd="dbl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6883543" y="789270"/>
            <a:ext cx="488642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dirty="0" smtClean="0">
                <a:solidFill>
                  <a:srgbClr val="5BFF5B"/>
                </a:solidFill>
              </a:rPr>
              <a:t>Conscious</a:t>
            </a:r>
            <a:r>
              <a:rPr lang="en-US" altLang="zh-CN" sz="6000" dirty="0" smtClean="0">
                <a:solidFill>
                  <a:srgbClr val="00DE00"/>
                </a:solidFill>
              </a:rPr>
              <a:t> </a:t>
            </a:r>
          </a:p>
          <a:p>
            <a:pPr algn="ctr"/>
            <a:endParaRPr lang="en-US" altLang="zh-CN" sz="6000" dirty="0" smtClean="0"/>
          </a:p>
          <a:p>
            <a:pPr algn="ctr"/>
            <a:r>
              <a:rPr lang="en-US" altLang="zh-CN" sz="6000" dirty="0" smtClean="0"/>
              <a:t>or   </a:t>
            </a:r>
          </a:p>
          <a:p>
            <a:pPr algn="ctr"/>
            <a:r>
              <a:rPr lang="en-US" altLang="zh-CN" sz="6000" dirty="0" smtClean="0"/>
              <a:t>     </a:t>
            </a:r>
            <a:r>
              <a:rPr lang="en-US" altLang="zh-CN" sz="7200" dirty="0" smtClean="0">
                <a:solidFill>
                  <a:srgbClr val="FF9393"/>
                </a:solidFill>
              </a:rPr>
              <a:t>Unconscious</a:t>
            </a:r>
            <a:endParaRPr lang="zh-CN" altLang="en-US" sz="7200" dirty="0">
              <a:solidFill>
                <a:srgbClr val="FF939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479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393" y="604937"/>
            <a:ext cx="7515225" cy="5667375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4995510" y="2443363"/>
            <a:ext cx="2310063" cy="1243114"/>
          </a:xfrm>
          <a:prstGeom prst="ellipse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0112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393" y="604937"/>
            <a:ext cx="7515225" cy="5667375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2800951" y="2472238"/>
            <a:ext cx="2310063" cy="1243114"/>
          </a:xfrm>
          <a:prstGeom prst="ellipse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7226968" y="2472238"/>
            <a:ext cx="2484924" cy="1166112"/>
          </a:xfrm>
          <a:prstGeom prst="ellipse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6803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454441" y="179617"/>
            <a:ext cx="71419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dirty="0" smtClean="0"/>
              <a:t>Foreground Analysis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107931" y="5479151"/>
            <a:ext cx="75654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 smtClean="0">
                <a:solidFill>
                  <a:schemeClr val="accent1">
                    <a:lumMod val="75000"/>
                  </a:schemeClr>
                </a:solidFill>
              </a:rPr>
              <a:t>Foreground Application</a:t>
            </a:r>
            <a:endParaRPr lang="zh-CN" altLang="en-US" sz="6000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2531443" y="1195280"/>
            <a:ext cx="7064944" cy="0"/>
          </a:xfrm>
          <a:prstGeom prst="line">
            <a:avLst/>
          </a:prstGeom>
          <a:ln w="88900" cmpd="dbl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428324" y="1286344"/>
            <a:ext cx="1092467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dirty="0" smtClean="0">
                <a:solidFill>
                  <a:srgbClr val="00CC66"/>
                </a:solidFill>
              </a:rPr>
              <a:t>Package name </a:t>
            </a:r>
          </a:p>
          <a:p>
            <a:pPr algn="ctr"/>
            <a:r>
              <a:rPr lang="en-US" altLang="zh-CN" sz="6000" dirty="0" smtClean="0">
                <a:solidFill>
                  <a:srgbClr val="00CC66"/>
                </a:solidFill>
              </a:rPr>
              <a:t>of encryption process</a:t>
            </a:r>
            <a:endParaRPr lang="zh-CN" altLang="en-US" sz="6000" dirty="0">
              <a:solidFill>
                <a:srgbClr val="00CC66"/>
              </a:solidFill>
            </a:endParaRPr>
          </a:p>
        </p:txBody>
      </p:sp>
      <p:cxnSp>
        <p:nvCxnSpPr>
          <p:cNvPr id="13" name="直接箭头连接符 12"/>
          <p:cNvCxnSpPr>
            <a:stCxn id="6" idx="2"/>
          </p:cNvCxnSpPr>
          <p:nvPr/>
        </p:nvCxnSpPr>
        <p:spPr>
          <a:xfrm>
            <a:off x="5890660" y="3225336"/>
            <a:ext cx="0" cy="2141283"/>
          </a:xfrm>
          <a:prstGeom prst="straightConnector1">
            <a:avLst/>
          </a:prstGeom>
          <a:ln w="101600" cmpd="dbl">
            <a:solidFill>
              <a:schemeClr val="accent4">
                <a:lumMod val="75000"/>
              </a:schemeClr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6084711" y="3567289"/>
            <a:ext cx="48542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dirty="0" smtClean="0">
                <a:solidFill>
                  <a:srgbClr val="FF0000">
                    <a:alpha val="60000"/>
                  </a:srgbClr>
                </a:solidFill>
              </a:rPr>
              <a:t>?</a:t>
            </a:r>
            <a:endParaRPr lang="zh-CN" altLang="en-US" sz="8800" dirty="0">
              <a:solidFill>
                <a:srgbClr val="FF0000">
                  <a:alpha val="60000"/>
                </a:srgbClr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984045" y="3567289"/>
            <a:ext cx="48542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dirty="0" smtClean="0">
                <a:solidFill>
                  <a:srgbClr val="FF0000">
                    <a:alpha val="60000"/>
                  </a:srgbClr>
                </a:solidFill>
              </a:rPr>
              <a:t>?</a:t>
            </a:r>
            <a:endParaRPr lang="zh-CN" altLang="en-US" sz="8800" dirty="0">
              <a:solidFill>
                <a:srgbClr val="FF0000">
                  <a:alpha val="60000"/>
                </a:srgbClr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80125" y="3717548"/>
            <a:ext cx="40596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dirty="0" smtClean="0">
                <a:solidFill>
                  <a:schemeClr val="accent5"/>
                </a:solidFill>
              </a:rPr>
              <a:t>Y</a:t>
            </a:r>
            <a:r>
              <a:rPr lang="en-US" altLang="zh-CN" sz="6000" dirty="0" smtClean="0"/>
              <a:t>: Conscious</a:t>
            </a:r>
            <a:endParaRPr lang="zh-CN" altLang="en-US" sz="6000" dirty="0"/>
          </a:p>
        </p:txBody>
      </p:sp>
      <p:sp>
        <p:nvSpPr>
          <p:cNvPr id="19" name="文本框 18"/>
          <p:cNvSpPr txBox="1"/>
          <p:nvPr/>
        </p:nvSpPr>
        <p:spPr>
          <a:xfrm>
            <a:off x="7102821" y="3751841"/>
            <a:ext cx="49871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dirty="0" smtClean="0">
                <a:solidFill>
                  <a:srgbClr val="C00000"/>
                </a:solidFill>
              </a:rPr>
              <a:t>N</a:t>
            </a:r>
            <a:r>
              <a:rPr lang="en-US" altLang="zh-CN" sz="6000" dirty="0" smtClean="0"/>
              <a:t>: Unconscious</a:t>
            </a:r>
            <a:endParaRPr lang="zh-CN" altLang="en-US" sz="6000" dirty="0"/>
          </a:p>
        </p:txBody>
      </p:sp>
    </p:spTree>
    <p:extLst>
      <p:ext uri="{BB962C8B-B14F-4D97-AF65-F5344CB8AC3E}">
        <p14:creationId xmlns:p14="http://schemas.microsoft.com/office/powerpoint/2010/main" val="1449920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393" y="604937"/>
            <a:ext cx="7515225" cy="5667375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>
          <a:xfrm>
            <a:off x="6776185" y="3676850"/>
            <a:ext cx="1896177" cy="741145"/>
          </a:xfrm>
          <a:prstGeom prst="ellipse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76118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06389" y="856648"/>
            <a:ext cx="10690457" cy="1458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6600" dirty="0" err="1" smtClean="0">
                <a:solidFill>
                  <a:srgbClr val="FF0000"/>
                </a:solidFill>
              </a:rPr>
              <a:t>ransomware</a:t>
            </a:r>
            <a:r>
              <a:rPr lang="en-US" altLang="zh-CN" sz="6600" dirty="0" smtClean="0"/>
              <a:t> can </a:t>
            </a:r>
            <a:r>
              <a:rPr lang="en-US" altLang="zh-CN" sz="6600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masquerade</a:t>
            </a:r>
            <a:r>
              <a:rPr lang="en-US" altLang="zh-CN" sz="6600" dirty="0" smtClean="0"/>
              <a:t> ?</a:t>
            </a:r>
            <a:endParaRPr lang="zh-CN" altLang="en-US" sz="6600" dirty="0"/>
          </a:p>
        </p:txBody>
      </p:sp>
      <p:sp>
        <p:nvSpPr>
          <p:cNvPr id="5" name="文本框 4"/>
          <p:cNvSpPr txBox="1"/>
          <p:nvPr/>
        </p:nvSpPr>
        <p:spPr>
          <a:xfrm>
            <a:off x="635264" y="4982280"/>
            <a:ext cx="106327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dirty="0" smtClean="0"/>
              <a:t>Foreground Analysis  </a:t>
            </a:r>
            <a:r>
              <a:rPr lang="en-US" altLang="zh-CN" sz="6000" dirty="0" smtClean="0">
                <a:solidFill>
                  <a:srgbClr val="CC00CC"/>
                </a:solidFill>
              </a:rPr>
              <a:t>Ineffective </a:t>
            </a:r>
            <a:r>
              <a:rPr lang="en-US" altLang="zh-CN" sz="6000" dirty="0" smtClean="0"/>
              <a:t>!</a:t>
            </a:r>
          </a:p>
        </p:txBody>
      </p:sp>
      <p:sp>
        <p:nvSpPr>
          <p:cNvPr id="6" name="下箭头 5"/>
          <p:cNvSpPr/>
          <p:nvPr/>
        </p:nvSpPr>
        <p:spPr>
          <a:xfrm>
            <a:off x="5691735" y="2500255"/>
            <a:ext cx="519764" cy="2296831"/>
          </a:xfrm>
          <a:prstGeom prst="downArrow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94493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393" y="604937"/>
            <a:ext cx="7515225" cy="5667375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>
          <a:xfrm>
            <a:off x="4928134" y="4437246"/>
            <a:ext cx="2435192" cy="952901"/>
          </a:xfrm>
          <a:prstGeom prst="ellipse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2812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685" y="913269"/>
            <a:ext cx="7216211" cy="5944731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238922" y="0"/>
            <a:ext cx="85857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 smtClean="0">
                <a:solidFill>
                  <a:srgbClr val="FF9900"/>
                </a:solidFill>
              </a:rPr>
              <a:t>Benign  app</a:t>
            </a:r>
            <a:endParaRPr lang="zh-CN" altLang="en-US" sz="6000" b="1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0070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393" y="604937"/>
            <a:ext cx="7515225" cy="5667375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>
          <a:xfrm>
            <a:off x="2714323" y="4417995"/>
            <a:ext cx="2435192" cy="952901"/>
          </a:xfrm>
          <a:prstGeom prst="ellipse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70125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003081" y="184012"/>
            <a:ext cx="61890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/>
              <a:t>Object Identifying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567699" y="1886552"/>
            <a:ext cx="19323" cy="1375937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流程图: 决策 14"/>
          <p:cNvSpPr/>
          <p:nvPr/>
        </p:nvSpPr>
        <p:spPr>
          <a:xfrm>
            <a:off x="1893207" y="1578633"/>
            <a:ext cx="3325528" cy="2078344"/>
          </a:xfrm>
          <a:prstGeom prst="flowChartDecision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 smtClean="0">
                <a:solidFill>
                  <a:srgbClr val="FF9900"/>
                </a:solidFill>
              </a:rPr>
              <a:t>Clicking screen?</a:t>
            </a:r>
            <a:endParaRPr lang="zh-CN" altLang="en-US" sz="3600" b="1" dirty="0">
              <a:solidFill>
                <a:srgbClr val="FF9900"/>
              </a:solidFill>
            </a:endParaRPr>
          </a:p>
        </p:txBody>
      </p:sp>
      <p:cxnSp>
        <p:nvCxnSpPr>
          <p:cNvPr id="18" name="直接箭头连接符 17"/>
          <p:cNvCxnSpPr>
            <a:endCxn id="15" idx="1"/>
          </p:cNvCxnSpPr>
          <p:nvPr/>
        </p:nvCxnSpPr>
        <p:spPr>
          <a:xfrm>
            <a:off x="587022" y="2617152"/>
            <a:ext cx="1306185" cy="65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15" idx="3"/>
          </p:cNvCxnSpPr>
          <p:nvPr/>
        </p:nvCxnSpPr>
        <p:spPr>
          <a:xfrm flipV="1">
            <a:off x="5218735" y="2617152"/>
            <a:ext cx="1476229" cy="65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5455147" y="1894173"/>
            <a:ext cx="9130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 smtClean="0">
                <a:solidFill>
                  <a:srgbClr val="00CC66"/>
                </a:solidFill>
              </a:rPr>
              <a:t>Y</a:t>
            </a:r>
            <a:endParaRPr lang="zh-CN" altLang="en-US" sz="4400" b="1" dirty="0">
              <a:solidFill>
                <a:srgbClr val="00CC66"/>
              </a:solidFill>
            </a:endParaRPr>
          </a:p>
        </p:txBody>
      </p:sp>
      <p:cxnSp>
        <p:nvCxnSpPr>
          <p:cNvPr id="26" name="肘形连接符 25"/>
          <p:cNvCxnSpPr>
            <a:stCxn id="15" idx="2"/>
          </p:cNvCxnSpPr>
          <p:nvPr/>
        </p:nvCxnSpPr>
        <p:spPr>
          <a:xfrm rot="5400000">
            <a:off x="2219203" y="3504295"/>
            <a:ext cx="1184086" cy="1489451"/>
          </a:xfrm>
          <a:prstGeom prst="bentConnector2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2803909" y="3864299"/>
            <a:ext cx="9130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 smtClean="0">
                <a:solidFill>
                  <a:srgbClr val="FF0000"/>
                </a:solidFill>
              </a:rPr>
              <a:t>N</a:t>
            </a:r>
            <a:endParaRPr lang="zh-CN" altLang="en-US" sz="4400" b="1" dirty="0">
              <a:solidFill>
                <a:srgbClr val="FF0000"/>
              </a:solidFill>
            </a:endParaRPr>
          </a:p>
        </p:txBody>
      </p:sp>
      <p:sp>
        <p:nvSpPr>
          <p:cNvPr id="28" name="流程图: 决策 27"/>
          <p:cNvSpPr/>
          <p:nvPr/>
        </p:nvSpPr>
        <p:spPr>
          <a:xfrm>
            <a:off x="6604653" y="1560720"/>
            <a:ext cx="4006903" cy="2112863"/>
          </a:xfrm>
          <a:prstGeom prst="flowChartDecision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 smtClean="0">
                <a:solidFill>
                  <a:srgbClr val="FF9900"/>
                </a:solidFill>
              </a:rPr>
              <a:t>Activity switching?</a:t>
            </a:r>
            <a:endParaRPr lang="zh-CN" altLang="en-US" sz="3600" b="1" dirty="0">
              <a:solidFill>
                <a:srgbClr val="FF9900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769397" y="3864330"/>
            <a:ext cx="9130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 smtClean="0">
                <a:solidFill>
                  <a:srgbClr val="FF0000"/>
                </a:solidFill>
              </a:rPr>
              <a:t>N</a:t>
            </a:r>
            <a:endParaRPr lang="zh-CN" altLang="en-US" sz="4400" b="1" dirty="0">
              <a:solidFill>
                <a:srgbClr val="FF0000"/>
              </a:solidFill>
            </a:endParaRPr>
          </a:p>
        </p:txBody>
      </p:sp>
      <p:cxnSp>
        <p:nvCxnSpPr>
          <p:cNvPr id="31" name="肘形连接符 30"/>
          <p:cNvCxnSpPr/>
          <p:nvPr/>
        </p:nvCxnSpPr>
        <p:spPr>
          <a:xfrm rot="5400000">
            <a:off x="7271336" y="3520901"/>
            <a:ext cx="1184086" cy="1489451"/>
          </a:xfrm>
          <a:prstGeom prst="bentConnector2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10871526" y="1805079"/>
            <a:ext cx="9130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 smtClean="0">
                <a:solidFill>
                  <a:srgbClr val="00CC66"/>
                </a:solidFill>
              </a:rPr>
              <a:t>Y</a:t>
            </a:r>
            <a:endParaRPr lang="zh-CN" altLang="en-US" sz="4400" b="1" dirty="0">
              <a:solidFill>
                <a:srgbClr val="00CC66"/>
              </a:solidFill>
            </a:endParaRPr>
          </a:p>
        </p:txBody>
      </p:sp>
      <p:cxnSp>
        <p:nvCxnSpPr>
          <p:cNvPr id="33" name="直接箭头连接符 32"/>
          <p:cNvCxnSpPr/>
          <p:nvPr/>
        </p:nvCxnSpPr>
        <p:spPr>
          <a:xfrm flipV="1">
            <a:off x="10611556" y="2617151"/>
            <a:ext cx="1580444" cy="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14421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9644" y="1728338"/>
            <a:ext cx="34431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 smtClean="0"/>
              <a:t>Exclusion</a:t>
            </a:r>
            <a:endParaRPr lang="zh-CN" altLang="en-US" sz="60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1840088" y="2329262"/>
            <a:ext cx="933591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0" indent="-1143000">
              <a:lnSpc>
                <a:spcPct val="200000"/>
              </a:lnSpc>
              <a:buFont typeface="+mj-lt"/>
              <a:buAutoNum type="romanUcPeriod"/>
            </a:pPr>
            <a:r>
              <a:rPr lang="en-US" altLang="zh-CN" sz="6000" dirty="0" smtClean="0">
                <a:solidFill>
                  <a:schemeClr val="accent1">
                    <a:lumMod val="75000"/>
                  </a:schemeClr>
                </a:solidFill>
              </a:rPr>
              <a:t>Same Activities</a:t>
            </a:r>
          </a:p>
          <a:p>
            <a:pPr marL="1143000" indent="-1143000">
              <a:lnSpc>
                <a:spcPct val="200000"/>
              </a:lnSpc>
              <a:buFont typeface="+mj-lt"/>
              <a:buAutoNum type="romanUcPeriod"/>
            </a:pPr>
            <a:r>
              <a:rPr lang="en-US" altLang="zh-CN" sz="6000" dirty="0" smtClean="0">
                <a:solidFill>
                  <a:schemeClr val="accent1">
                    <a:lumMod val="75000"/>
                  </a:schemeClr>
                </a:solidFill>
              </a:rPr>
              <a:t>Input Method Editor</a:t>
            </a:r>
            <a:endParaRPr lang="zh-CN" altLang="en-US" sz="6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40266" y="351305"/>
            <a:ext cx="107357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 smtClean="0">
                <a:solidFill>
                  <a:srgbClr val="FF0000"/>
                </a:solidFill>
              </a:rPr>
              <a:t>LIGHTWEIGHT !!!</a:t>
            </a:r>
            <a:endParaRPr lang="zh-CN" altLang="en-US" sz="6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16954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689" y="1320800"/>
            <a:ext cx="8387644" cy="5131779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4673600" y="1693333"/>
            <a:ext cx="1038578" cy="337496"/>
          </a:xfrm>
          <a:prstGeom prst="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673600" y="4561384"/>
            <a:ext cx="807156" cy="281549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673600" y="3601333"/>
            <a:ext cx="807156" cy="327199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673600" y="2663681"/>
            <a:ext cx="756356" cy="3048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673599" y="5475785"/>
            <a:ext cx="1128889" cy="387622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4526845" y="158045"/>
            <a:ext cx="3217333" cy="1162755"/>
          </a:xfrm>
          <a:prstGeom prst="roundRect">
            <a:avLst>
              <a:gd name="adj" fmla="val 50000"/>
            </a:avLst>
          </a:prstGeom>
          <a:noFill/>
          <a:ln w="635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400" dirty="0" smtClean="0">
                <a:solidFill>
                  <a:schemeClr val="tx1"/>
                </a:solidFill>
              </a:rPr>
              <a:t>record</a:t>
            </a:r>
            <a:endParaRPr lang="zh-CN" altLang="en-US" sz="5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99710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37026" y="2244847"/>
            <a:ext cx="1080507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8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How to Detect </a:t>
            </a:r>
            <a:r>
              <a:rPr lang="en-US" altLang="zh-CN" sz="8000" b="0" cap="none" spc="0" dirty="0" smtClean="0">
                <a:ln w="0"/>
                <a:solidFill>
                  <a:srgbClr val="FF99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Hint Text </a:t>
            </a:r>
            <a:r>
              <a:rPr lang="en-US" altLang="zh-CN" sz="8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?</a:t>
            </a:r>
            <a:endParaRPr lang="zh-CN" altLang="en-US" sz="8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341053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699911" y="677332"/>
            <a:ext cx="4018844" cy="2325511"/>
          </a:xfrm>
          <a:prstGeom prst="roundRect">
            <a:avLst/>
          </a:prstGeom>
          <a:noFill/>
          <a:ln w="63500">
            <a:solidFill>
              <a:schemeClr val="accent1">
                <a:shade val="50000"/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b="1" dirty="0" smtClean="0">
                <a:solidFill>
                  <a:srgbClr val="00DE00"/>
                </a:solidFill>
              </a:rPr>
              <a:t>NLP </a:t>
            </a:r>
          </a:p>
          <a:p>
            <a:pPr algn="ctr"/>
            <a:r>
              <a:rPr lang="en-US" altLang="zh-CN" sz="4800" b="1" dirty="0" smtClean="0">
                <a:solidFill>
                  <a:srgbClr val="00DE00"/>
                </a:solidFill>
              </a:rPr>
              <a:t>Classifier</a:t>
            </a:r>
            <a:endParaRPr lang="zh-CN" altLang="en-US" sz="4800" b="1" dirty="0">
              <a:solidFill>
                <a:srgbClr val="00DE00"/>
              </a:solidFill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6863639" y="677332"/>
            <a:ext cx="4351867" cy="2325512"/>
          </a:xfrm>
          <a:prstGeom prst="roundRect">
            <a:avLst/>
          </a:prstGeom>
          <a:noFill/>
          <a:ln w="635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4800" b="1" dirty="0" smtClean="0">
                <a:solidFill>
                  <a:srgbClr val="00DE00"/>
                </a:solidFill>
              </a:rPr>
              <a:t>Regular Expression Matching</a:t>
            </a:r>
            <a:endParaRPr lang="zh-CN" altLang="en-US" sz="4800" b="1" dirty="0">
              <a:solidFill>
                <a:srgbClr val="00DE00"/>
              </a:solidFill>
            </a:endParaRPr>
          </a:p>
        </p:txBody>
      </p:sp>
      <p:sp>
        <p:nvSpPr>
          <p:cNvPr id="6" name="乘号 5"/>
          <p:cNvSpPr/>
          <p:nvPr/>
        </p:nvSpPr>
        <p:spPr>
          <a:xfrm>
            <a:off x="1286933" y="3104444"/>
            <a:ext cx="2844800" cy="2957689"/>
          </a:xfrm>
          <a:prstGeom prst="mathMultiply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916329" y="3104444"/>
            <a:ext cx="2246489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9900" b="1" dirty="0" smtClean="0">
                <a:solidFill>
                  <a:srgbClr val="FF9900"/>
                </a:solidFill>
                <a:sym typeface="Wingdings" panose="05000000000000000000" pitchFamily="2" charset="2"/>
              </a:rPr>
              <a:t></a:t>
            </a:r>
            <a:endParaRPr lang="zh-CN" altLang="en-US" sz="19900" b="1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08484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3381015" y="338666"/>
            <a:ext cx="5610584" cy="2246490"/>
          </a:xfrm>
          <a:prstGeom prst="roundRect">
            <a:avLst/>
          </a:prstGeom>
          <a:noFill/>
          <a:ln w="635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4800" b="1" dirty="0" smtClean="0">
                <a:solidFill>
                  <a:srgbClr val="00DE00"/>
                </a:solidFill>
              </a:rPr>
              <a:t>Regular Expression Matching</a:t>
            </a:r>
            <a:endParaRPr lang="zh-CN" altLang="en-US" sz="4800" b="1" dirty="0">
              <a:solidFill>
                <a:srgbClr val="00DE00"/>
              </a:solidFill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688618" y="3968044"/>
            <a:ext cx="10995377" cy="2246490"/>
          </a:xfrm>
          <a:prstGeom prst="roundRect">
            <a:avLst/>
          </a:prstGeom>
          <a:noFill/>
          <a:ln w="635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4800" b="1" dirty="0" smtClean="0">
                <a:solidFill>
                  <a:srgbClr val="99CC00"/>
                </a:solidFill>
              </a:rPr>
              <a:t>Compute similarity </a:t>
            </a:r>
          </a:p>
          <a:p>
            <a:pPr lvl="0" algn="ctr"/>
            <a:r>
              <a:rPr lang="en-US" altLang="zh-CN" sz="4800" b="1" dirty="0" smtClean="0">
                <a:solidFill>
                  <a:srgbClr val="99CC00"/>
                </a:solidFill>
              </a:rPr>
              <a:t>between extracted attributes</a:t>
            </a:r>
          </a:p>
          <a:p>
            <a:pPr lvl="0" algn="ctr"/>
            <a:r>
              <a:rPr lang="en-US" altLang="zh-CN" sz="4800" b="1" dirty="0" smtClean="0">
                <a:solidFill>
                  <a:srgbClr val="99CC00"/>
                </a:solidFill>
              </a:rPr>
              <a:t>and predefined database</a:t>
            </a:r>
            <a:endParaRPr lang="zh-CN" altLang="en-US" sz="4800" b="1" dirty="0">
              <a:solidFill>
                <a:srgbClr val="99CC00"/>
              </a:solidFill>
            </a:endParaRPr>
          </a:p>
        </p:txBody>
      </p:sp>
      <p:cxnSp>
        <p:nvCxnSpPr>
          <p:cNvPr id="7" name="直接箭头连接符 6"/>
          <p:cNvCxnSpPr>
            <a:stCxn id="4" idx="2"/>
            <a:endCxn id="5" idx="0"/>
          </p:cNvCxnSpPr>
          <p:nvPr/>
        </p:nvCxnSpPr>
        <p:spPr>
          <a:xfrm>
            <a:off x="6186307" y="2585156"/>
            <a:ext cx="0" cy="138288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40243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600" y="402591"/>
            <a:ext cx="9674624" cy="5919187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9064977" y="1862170"/>
            <a:ext cx="1061156" cy="553652"/>
          </a:xfrm>
          <a:prstGeom prst="ellipse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8957733" y="4091974"/>
            <a:ext cx="1484489" cy="553652"/>
          </a:xfrm>
          <a:prstGeom prst="ellipse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15977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393" y="604937"/>
            <a:ext cx="7515225" cy="5667375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>
          <a:xfrm>
            <a:off x="7365345" y="4429284"/>
            <a:ext cx="2435192" cy="952901"/>
          </a:xfrm>
          <a:prstGeom prst="ellipse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62349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003080" y="184012"/>
            <a:ext cx="63215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/>
              <a:t>Coordinate Matching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61361" y="1276675"/>
            <a:ext cx="1160497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200000"/>
              </a:lnSpc>
              <a:buClr>
                <a:schemeClr val="tx1"/>
              </a:buClr>
              <a:buFont typeface="+mj-lt"/>
              <a:buAutoNum type="alphaLcPeriod"/>
            </a:pPr>
            <a:r>
              <a:rPr lang="en-US" altLang="zh-CN" sz="3600" b="1" dirty="0" smtClean="0">
                <a:solidFill>
                  <a:srgbClr val="CC9900"/>
                </a:solidFill>
              </a:rPr>
              <a:t>Compute absolute coordinates (based on their parents containers)</a:t>
            </a:r>
          </a:p>
          <a:p>
            <a:pPr marL="514350" indent="-514350">
              <a:lnSpc>
                <a:spcPct val="200000"/>
              </a:lnSpc>
              <a:buClr>
                <a:schemeClr val="tx1"/>
              </a:buClr>
              <a:buFont typeface="+mj-lt"/>
              <a:buAutoNum type="alphaLcPeriod"/>
            </a:pPr>
            <a:r>
              <a:rPr lang="en-US" altLang="zh-CN" sz="3600" b="1" dirty="0" smtClean="0">
                <a:solidFill>
                  <a:srgbClr val="CC9900"/>
                </a:solidFill>
              </a:rPr>
              <a:t>Compare positions between click point and button scope</a:t>
            </a:r>
          </a:p>
          <a:p>
            <a:pPr marL="514350" indent="-514350">
              <a:lnSpc>
                <a:spcPct val="200000"/>
              </a:lnSpc>
              <a:buClr>
                <a:schemeClr val="tx1"/>
              </a:buClr>
              <a:buFont typeface="+mj-lt"/>
              <a:buAutoNum type="alphaLcPeriod"/>
            </a:pPr>
            <a:r>
              <a:rPr lang="en-US" altLang="zh-CN" sz="3600" b="1" dirty="0" smtClean="0">
                <a:solidFill>
                  <a:srgbClr val="CC9900"/>
                </a:solidFill>
              </a:rPr>
              <a:t>Button text justifying (similar to hint text indicator)</a:t>
            </a:r>
            <a:endParaRPr lang="zh-CN" altLang="en-US" sz="3600" b="1" dirty="0">
              <a:solidFill>
                <a:srgbClr val="CC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15449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393" y="604937"/>
            <a:ext cx="7515225" cy="5667375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>
          <a:xfrm>
            <a:off x="3391657" y="5441244"/>
            <a:ext cx="2185055" cy="831068"/>
          </a:xfrm>
          <a:prstGeom prst="ellipse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6738137" y="5441244"/>
            <a:ext cx="2185055" cy="831068"/>
          </a:xfrm>
          <a:prstGeom prst="ellipse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7244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72444" y="2314223"/>
            <a:ext cx="10001956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600" b="1" dirty="0">
                <a:solidFill>
                  <a:prstClr val="black"/>
                </a:solidFill>
                <a:latin typeface="Calibri Light" panose="020F0302020204030204"/>
              </a:rPr>
              <a:t>Evaluation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560880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766" y="474132"/>
            <a:ext cx="8795324" cy="541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0237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99910" y="485422"/>
            <a:ext cx="10261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 smtClean="0"/>
              <a:t>9</a:t>
            </a:r>
            <a:r>
              <a:rPr lang="en-US" altLang="zh-CN" sz="5400" b="1" dirty="0" smtClean="0">
                <a:solidFill>
                  <a:srgbClr val="FF0000"/>
                </a:solidFill>
              </a:rPr>
              <a:t>  </a:t>
            </a:r>
            <a:r>
              <a:rPr lang="en-US" altLang="zh-CN" sz="5400" dirty="0" smtClean="0">
                <a:solidFill>
                  <a:srgbClr val="FF0000"/>
                </a:solidFill>
              </a:rPr>
              <a:t>false positive samples!</a:t>
            </a:r>
            <a:endParaRPr lang="zh-CN" altLang="en-US" sz="5400" dirty="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99910" y="1862667"/>
            <a:ext cx="112437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 smtClean="0"/>
              <a:t>4: </a:t>
            </a:r>
            <a:r>
              <a:rPr lang="en-US" altLang="zh-CN" sz="6000" dirty="0" smtClean="0">
                <a:solidFill>
                  <a:srgbClr val="00B050"/>
                </a:solidFill>
              </a:rPr>
              <a:t>hint text </a:t>
            </a:r>
            <a:r>
              <a:rPr lang="en-US" altLang="zh-CN" sz="6000" dirty="0" smtClean="0"/>
              <a:t>or </a:t>
            </a:r>
            <a:r>
              <a:rPr lang="en-US" altLang="zh-CN" sz="6000" dirty="0" smtClean="0">
                <a:solidFill>
                  <a:srgbClr val="00B050"/>
                </a:solidFill>
              </a:rPr>
              <a:t>button</a:t>
            </a:r>
            <a:r>
              <a:rPr lang="en-US" altLang="zh-CN" sz="6000" dirty="0" smtClean="0"/>
              <a:t> displayed by </a:t>
            </a:r>
            <a:r>
              <a:rPr lang="en-US" altLang="zh-CN" sz="6000" dirty="0" smtClean="0">
                <a:solidFill>
                  <a:srgbClr val="FF0000"/>
                </a:solidFill>
              </a:rPr>
              <a:t>pictures</a:t>
            </a:r>
            <a:endParaRPr lang="zh-CN" altLang="en-US" sz="6000" dirty="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99910" y="4171246"/>
            <a:ext cx="112437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 smtClean="0"/>
              <a:t>5: </a:t>
            </a:r>
            <a:r>
              <a:rPr lang="en-US" altLang="zh-CN" sz="6000" dirty="0" smtClean="0">
                <a:solidFill>
                  <a:srgbClr val="00B050"/>
                </a:solidFill>
              </a:rPr>
              <a:t>can encrypt </a:t>
            </a:r>
            <a:r>
              <a:rPr lang="en-US" altLang="zh-CN" sz="6000" dirty="0" smtClean="0"/>
              <a:t>but ignored</a:t>
            </a:r>
            <a:endParaRPr lang="zh-CN" altLang="en-US" sz="6000" dirty="0" smtClean="0">
              <a:solidFill>
                <a:srgbClr val="00B050"/>
              </a:solidFill>
            </a:endParaRPr>
          </a:p>
          <a:p>
            <a:r>
              <a:rPr lang="en-US" altLang="zh-CN" sz="6000" dirty="0" smtClean="0">
                <a:solidFill>
                  <a:srgbClr val="FF0000"/>
                </a:solidFill>
              </a:rPr>
              <a:t>user-interaction</a:t>
            </a:r>
            <a:endParaRPr lang="zh-CN" altLang="en-US" sz="60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09894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829" y="1411112"/>
            <a:ext cx="9342634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7597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155031" y="2059806"/>
            <a:ext cx="1051078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600" dirty="0" smtClean="0"/>
              <a:t>They assume that </a:t>
            </a:r>
            <a:r>
              <a:rPr lang="en-US" altLang="zh-CN" sz="3600" dirty="0" err="1" smtClean="0"/>
              <a:t>ransomware</a:t>
            </a:r>
            <a:r>
              <a:rPr lang="en-US" altLang="zh-CN" sz="3600" dirty="0" smtClean="0"/>
              <a:t> does not elevate privileges</a:t>
            </a:r>
          </a:p>
          <a:p>
            <a:pPr>
              <a:lnSpc>
                <a:spcPct val="150000"/>
              </a:lnSpc>
            </a:pPr>
            <a:r>
              <a:rPr lang="en-US" altLang="zh-CN" sz="3600" dirty="0" smtClean="0"/>
              <a:t>         →Need to cooperate with other malware scanners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600" dirty="0" smtClean="0"/>
              <a:t>Still can not avoid some file losses or encryptions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endParaRPr lang="en-US" altLang="zh-CN" sz="3600" dirty="0" smtClean="0">
              <a:solidFill>
                <a:srgbClr val="FF0000"/>
              </a:solidFill>
            </a:endParaRPr>
          </a:p>
          <a:p>
            <a:endParaRPr lang="en-US" altLang="zh-CN" sz="3600" dirty="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6392" y="693019"/>
            <a:ext cx="35132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 smtClean="0"/>
              <a:t>limitations</a:t>
            </a:r>
            <a:endParaRPr lang="zh-CN" altLang="en-US" sz="6000" dirty="0"/>
          </a:p>
        </p:txBody>
      </p:sp>
    </p:spTree>
    <p:extLst>
      <p:ext uri="{BB962C8B-B14F-4D97-AF65-F5344CB8AC3E}">
        <p14:creationId xmlns:p14="http://schemas.microsoft.com/office/powerpoint/2010/main" val="34758516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16016" y="2098307"/>
            <a:ext cx="1050116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dirty="0" smtClean="0"/>
              <a:t>Other works</a:t>
            </a:r>
          </a:p>
        </p:txBody>
      </p:sp>
    </p:spTree>
    <p:extLst>
      <p:ext uri="{BB962C8B-B14F-4D97-AF65-F5344CB8AC3E}">
        <p14:creationId xmlns:p14="http://schemas.microsoft.com/office/powerpoint/2010/main" val="12836949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946313" y="1979480"/>
            <a:ext cx="995911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zh-CN" sz="4000" dirty="0"/>
              <a:t>A Novel Structural-Entropy-based </a:t>
            </a:r>
            <a:r>
              <a:rPr lang="en-AU" altLang="zh-CN" sz="4000" dirty="0" smtClean="0"/>
              <a:t>Classification Technique </a:t>
            </a:r>
            <a:r>
              <a:rPr lang="en-AU" altLang="zh-CN" sz="4000" dirty="0"/>
              <a:t>for Supporting Android </a:t>
            </a:r>
            <a:r>
              <a:rPr lang="en-AU" altLang="zh-CN" sz="4000" dirty="0" err="1" smtClean="0"/>
              <a:t>Ransomware</a:t>
            </a:r>
            <a:r>
              <a:rPr lang="en-AU" altLang="zh-CN" sz="4000" dirty="0" smtClean="0"/>
              <a:t> Detection </a:t>
            </a:r>
            <a:r>
              <a:rPr lang="en-AU" altLang="zh-CN" sz="4000" dirty="0"/>
              <a:t>and Analysis</a:t>
            </a:r>
            <a:endParaRPr lang="zh-CN" altLang="en-US" sz="4000" dirty="0"/>
          </a:p>
        </p:txBody>
      </p:sp>
      <p:sp>
        <p:nvSpPr>
          <p:cNvPr id="6" name="文本框 5"/>
          <p:cNvSpPr txBox="1"/>
          <p:nvPr/>
        </p:nvSpPr>
        <p:spPr>
          <a:xfrm>
            <a:off x="7467609" y="4481238"/>
            <a:ext cx="4302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600" dirty="0" smtClean="0"/>
              <a:t>2018 FUZZ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9952114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962" y="295687"/>
            <a:ext cx="8027829" cy="3814728"/>
          </a:xfrm>
          <a:prstGeom prst="rect">
            <a:avLst/>
          </a:prstGeom>
        </p:spPr>
      </p:pic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2119337"/>
              </p:ext>
            </p:extLst>
          </p:nvPr>
        </p:nvGraphicFramePr>
        <p:xfrm>
          <a:off x="753804" y="5293468"/>
          <a:ext cx="10892764" cy="1036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33186"/>
                <a:gridCol w="2013196"/>
                <a:gridCol w="2135292"/>
                <a:gridCol w="3311090"/>
              </a:tblGrid>
              <a:tr h="370840">
                <a:tc>
                  <a:txBody>
                    <a:bodyPr/>
                    <a:lstStyle/>
                    <a:p>
                      <a:r>
                        <a:rPr lang="en-AU" altLang="zh-CN" sz="2800" dirty="0" err="1" smtClean="0"/>
                        <a:t>DiscernibilityClassifier</a:t>
                      </a:r>
                      <a:endParaRPr lang="zh-CN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altLang="zh-CN" sz="2800" dirty="0" smtClean="0"/>
                        <a:t>FURIA</a:t>
                      </a:r>
                      <a:endParaRPr lang="zh-CN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altLang="zh-CN" sz="2800" dirty="0" err="1" smtClean="0"/>
                        <a:t>FuzzyNN</a:t>
                      </a:r>
                      <a:endParaRPr lang="zh-CN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altLang="zh-CN" sz="2800" dirty="0" err="1" smtClean="0"/>
                        <a:t>FuzzyOwnershipNN</a:t>
                      </a:r>
                      <a:endParaRPr lang="zh-CN" alt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altLang="zh-CN" sz="2800" dirty="0" err="1" smtClean="0"/>
                        <a:t>FuzzyRoughNN</a:t>
                      </a:r>
                      <a:endParaRPr lang="zh-CN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altLang="zh-CN" sz="2800" dirty="0" smtClean="0"/>
                        <a:t>NN</a:t>
                      </a:r>
                      <a:endParaRPr lang="zh-CN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altLang="zh-CN" sz="2800" dirty="0" smtClean="0"/>
                        <a:t>OWANN</a:t>
                      </a:r>
                      <a:endParaRPr lang="zh-CN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altLang="zh-CN" sz="2800" dirty="0" smtClean="0"/>
                        <a:t>VQNN</a:t>
                      </a:r>
                      <a:endParaRPr lang="zh-CN" altLang="en-US" sz="2800" dirty="0" smtClean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加号 6"/>
          <p:cNvSpPr/>
          <p:nvPr/>
        </p:nvSpPr>
        <p:spPr>
          <a:xfrm>
            <a:off x="5476775" y="4110415"/>
            <a:ext cx="1106905" cy="1000600"/>
          </a:xfrm>
          <a:prstGeom prst="mathPlus">
            <a:avLst>
              <a:gd name="adj1" fmla="val 10053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/>
          </a:p>
        </p:txBody>
      </p:sp>
    </p:spTree>
    <p:extLst>
      <p:ext uri="{BB962C8B-B14F-4D97-AF65-F5344CB8AC3E}">
        <p14:creationId xmlns:p14="http://schemas.microsoft.com/office/powerpoint/2010/main" val="26211391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549667" y="2415941"/>
            <a:ext cx="94808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altLang="zh-CN" sz="3600" dirty="0" smtClean="0"/>
              <a:t>Best true positive rate:  </a:t>
            </a:r>
            <a:r>
              <a:rPr lang="en-US" altLang="zh-CN" sz="3600" dirty="0" smtClean="0">
                <a:solidFill>
                  <a:srgbClr val="FF0000"/>
                </a:solidFill>
              </a:rPr>
              <a:t>0.841</a:t>
            </a:r>
          </a:p>
          <a:p>
            <a:endParaRPr lang="en-US" altLang="zh-CN" sz="3600" dirty="0">
              <a:solidFill>
                <a:srgbClr val="FF0000"/>
              </a:solidFill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altLang="zh-CN" sz="3600" dirty="0" smtClean="0"/>
              <a:t>Limited novelty</a:t>
            </a:r>
            <a:endParaRPr lang="zh-CN" altLang="en-US" sz="3600" dirty="0"/>
          </a:p>
        </p:txBody>
      </p:sp>
      <p:sp>
        <p:nvSpPr>
          <p:cNvPr id="5" name="文本框 4"/>
          <p:cNvSpPr txBox="1"/>
          <p:nvPr/>
        </p:nvSpPr>
        <p:spPr>
          <a:xfrm>
            <a:off x="606392" y="693019"/>
            <a:ext cx="35132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 smtClean="0"/>
              <a:t>limitations</a:t>
            </a:r>
            <a:endParaRPr lang="zh-CN" altLang="en-US" sz="6000" dirty="0"/>
          </a:p>
        </p:txBody>
      </p:sp>
    </p:spTree>
    <p:extLst>
      <p:ext uri="{BB962C8B-B14F-4D97-AF65-F5344CB8AC3E}">
        <p14:creationId xmlns:p14="http://schemas.microsoft.com/office/powerpoint/2010/main" val="35931411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946313" y="1979480"/>
            <a:ext cx="99591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zh-CN" sz="4000" dirty="0"/>
              <a:t>Hail to the Thief: Protecting Data from Mobile</a:t>
            </a:r>
          </a:p>
          <a:p>
            <a:r>
              <a:rPr lang="en-AU" altLang="zh-CN" sz="4000" dirty="0" err="1"/>
              <a:t>Ransomware</a:t>
            </a:r>
            <a:r>
              <a:rPr lang="en-AU" altLang="zh-CN" sz="4000" dirty="0"/>
              <a:t> with </a:t>
            </a:r>
            <a:r>
              <a:rPr lang="en-AU" altLang="zh-CN" sz="4000" dirty="0" err="1"/>
              <a:t>ransomSafeDroid</a:t>
            </a:r>
            <a:endParaRPr lang="zh-CN" altLang="en-US" sz="4000" dirty="0"/>
          </a:p>
        </p:txBody>
      </p:sp>
      <p:sp>
        <p:nvSpPr>
          <p:cNvPr id="6" name="文本框 5"/>
          <p:cNvSpPr txBox="1"/>
          <p:nvPr/>
        </p:nvSpPr>
        <p:spPr>
          <a:xfrm>
            <a:off x="7467609" y="4481238"/>
            <a:ext cx="4302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600" dirty="0" smtClean="0"/>
              <a:t>2017 NCA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4240394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926" y="914400"/>
            <a:ext cx="10806701" cy="4850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9847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549667" y="2415941"/>
            <a:ext cx="94808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altLang="zh-CN" sz="3600" dirty="0" smtClean="0"/>
              <a:t>Only focusing on </a:t>
            </a:r>
            <a:r>
              <a:rPr lang="en-US" altLang="zh-CN" sz="3600" b="1" dirty="0" smtClean="0">
                <a:solidFill>
                  <a:srgbClr val="FF0000"/>
                </a:solidFill>
              </a:rPr>
              <a:t>Backup</a:t>
            </a:r>
          </a:p>
          <a:p>
            <a:endParaRPr lang="en-US" altLang="zh-CN" sz="3600" dirty="0">
              <a:solidFill>
                <a:srgbClr val="FF0000"/>
              </a:solidFill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altLang="zh-CN" sz="3600" dirty="0" smtClean="0"/>
              <a:t>Limited novelty (heavily rely on ARM </a:t>
            </a:r>
            <a:r>
              <a:rPr lang="en-US" altLang="zh-CN" sz="3600" dirty="0" err="1" smtClean="0"/>
              <a:t>TrustZone</a:t>
            </a:r>
            <a:r>
              <a:rPr lang="en-US" altLang="zh-CN" sz="3600" dirty="0" smtClean="0"/>
              <a:t>)</a:t>
            </a:r>
            <a:endParaRPr lang="zh-CN" altLang="en-US" sz="3600" dirty="0"/>
          </a:p>
        </p:txBody>
      </p:sp>
      <p:sp>
        <p:nvSpPr>
          <p:cNvPr id="5" name="文本框 4"/>
          <p:cNvSpPr txBox="1"/>
          <p:nvPr/>
        </p:nvSpPr>
        <p:spPr>
          <a:xfrm>
            <a:off x="606392" y="693019"/>
            <a:ext cx="35132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 smtClean="0"/>
              <a:t>limitations</a:t>
            </a:r>
            <a:endParaRPr lang="zh-CN" altLang="en-US" sz="6000" dirty="0"/>
          </a:p>
        </p:txBody>
      </p:sp>
    </p:spTree>
    <p:extLst>
      <p:ext uri="{BB962C8B-B14F-4D97-AF65-F5344CB8AC3E}">
        <p14:creationId xmlns:p14="http://schemas.microsoft.com/office/powerpoint/2010/main" val="1868459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944</TotalTime>
  <Words>304</Words>
  <Application>Microsoft Office PowerPoint</Application>
  <PresentationFormat>宽屏</PresentationFormat>
  <Paragraphs>106</Paragraphs>
  <Slides>39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47" baseType="lpstr">
      <vt:lpstr>宋体</vt:lpstr>
      <vt:lpstr>Arial</vt:lpstr>
      <vt:lpstr>Calibri</vt:lpstr>
      <vt:lpstr>Calibri Light</vt:lpstr>
      <vt:lpstr>Cambria</vt:lpstr>
      <vt:lpstr>Cambria Math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用户</dc:creator>
  <cp:lastModifiedBy>Windows 用户</cp:lastModifiedBy>
  <cp:revision>36</cp:revision>
  <dcterms:created xsi:type="dcterms:W3CDTF">2019-04-25T12:43:19Z</dcterms:created>
  <dcterms:modified xsi:type="dcterms:W3CDTF">2019-04-26T04:36:54Z</dcterms:modified>
</cp:coreProperties>
</file>